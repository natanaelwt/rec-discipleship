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9" r:id="rId3"/>
    <p:sldId id="331" r:id="rId4"/>
    <p:sldId id="332" r:id="rId5"/>
    <p:sldId id="333" r:id="rId6"/>
    <p:sldId id="313" r:id="rId7"/>
    <p:sldId id="280" r:id="rId8"/>
    <p:sldId id="294" r:id="rId9"/>
    <p:sldId id="314" r:id="rId10"/>
    <p:sldId id="315" r:id="rId11"/>
    <p:sldId id="316" r:id="rId12"/>
    <p:sldId id="317" r:id="rId13"/>
    <p:sldId id="318" r:id="rId14"/>
    <p:sldId id="319" r:id="rId15"/>
    <p:sldId id="296" r:id="rId16"/>
    <p:sldId id="265" r:id="rId17"/>
    <p:sldId id="321" r:id="rId18"/>
    <p:sldId id="322" r:id="rId19"/>
    <p:sldId id="324" r:id="rId20"/>
    <p:sldId id="334" r:id="rId21"/>
    <p:sldId id="325" r:id="rId22"/>
    <p:sldId id="335" r:id="rId23"/>
    <p:sldId id="336" r:id="rId24"/>
    <p:sldId id="326" r:id="rId25"/>
    <p:sldId id="337" r:id="rId26"/>
    <p:sldId id="338" r:id="rId27"/>
    <p:sldId id="339" r:id="rId28"/>
    <p:sldId id="340" r:id="rId29"/>
    <p:sldId id="327" r:id="rId30"/>
    <p:sldId id="328" r:id="rId31"/>
    <p:sldId id="341" r:id="rId32"/>
    <p:sldId id="329" r:id="rId33"/>
    <p:sldId id="342" r:id="rId34"/>
    <p:sldId id="330" r:id="rId35"/>
    <p:sldId id="343" r:id="rId36"/>
    <p:sldId id="344" r:id="rId37"/>
    <p:sldId id="26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5" d="100"/>
          <a:sy n="65"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C3018-AD14-476C-9E1B-3BE0D36C52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3E470D-27E3-4CB7-9D14-4DB5A545CD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E6635F-23EB-4F44-B2DC-D25ED02704AA}"/>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5" name="Footer Placeholder 4">
            <a:extLst>
              <a:ext uri="{FF2B5EF4-FFF2-40B4-BE49-F238E27FC236}">
                <a16:creationId xmlns:a16="http://schemas.microsoft.com/office/drawing/2014/main" id="{B684ADD8-00A0-4460-B4D6-0D63A6BB80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D7E65-B64E-410E-82DA-1011FF7EABC8}"/>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2864303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09B95-C07A-4CA5-B6C5-AAD55D8D75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86080C-F5D6-4B7A-AA6C-6619CAA4C3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7387A-3C65-404A-A715-4EF057EE1480}"/>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5" name="Footer Placeholder 4">
            <a:extLst>
              <a:ext uri="{FF2B5EF4-FFF2-40B4-BE49-F238E27FC236}">
                <a16:creationId xmlns:a16="http://schemas.microsoft.com/office/drawing/2014/main" id="{893E183E-6299-4D4B-B5F4-F21C741298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CC5E1-C841-48CA-B229-BB7441C967BB}"/>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2904972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D72B-3DCC-4E66-8917-C266E31C03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550546-8D08-4A6D-AB7E-D6C309023E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1F0CC8-CF0E-43B3-A412-613E74185B2C}"/>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5" name="Footer Placeholder 4">
            <a:extLst>
              <a:ext uri="{FF2B5EF4-FFF2-40B4-BE49-F238E27FC236}">
                <a16:creationId xmlns:a16="http://schemas.microsoft.com/office/drawing/2014/main" id="{CF1B7EB1-23A9-4C16-ADD2-C166B447FB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9A945B-3351-40D4-AEB0-38D1720AB4AD}"/>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92811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B2DE-8CD2-4B06-ACC4-458FCB978C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4F2059-3649-4F93-9F10-202E44BF73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15D12C-8066-426E-9C20-A16A00D25A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470130-2151-48EA-B48D-C143C4084747}"/>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6" name="Footer Placeholder 5">
            <a:extLst>
              <a:ext uri="{FF2B5EF4-FFF2-40B4-BE49-F238E27FC236}">
                <a16:creationId xmlns:a16="http://schemas.microsoft.com/office/drawing/2014/main" id="{C2363A08-D6A6-47FD-8B76-B40939AB76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C0A956-5B61-4E96-81F9-46C167B5DCFE}"/>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443608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FB5DE-90A7-47E0-BF12-1BEC2603E9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46744A-6F64-4BC3-822E-5D1233E3EF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2052CC-3A8F-44AB-A758-5B8D22896E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F5BE17-7669-4E55-9F1C-F9CDFBE67B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1F0D54-E3F1-4372-B387-645678BFF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F0D603-85A8-4972-85FA-5758599D3DB8}"/>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8" name="Footer Placeholder 7">
            <a:extLst>
              <a:ext uri="{FF2B5EF4-FFF2-40B4-BE49-F238E27FC236}">
                <a16:creationId xmlns:a16="http://schemas.microsoft.com/office/drawing/2014/main" id="{F397AE85-1D5F-4401-8DD3-0D229D7FF8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E044A2-A2BE-45E9-AC8D-46B634FCDA7E}"/>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399921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A7B90-8B0B-4A70-90FC-FA80589B7C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1E337A-EE9E-4234-9143-CB7F49C6ABB6}"/>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4" name="Footer Placeholder 3">
            <a:extLst>
              <a:ext uri="{FF2B5EF4-FFF2-40B4-BE49-F238E27FC236}">
                <a16:creationId xmlns:a16="http://schemas.microsoft.com/office/drawing/2014/main" id="{7FB27CBB-E3EE-4C36-85E3-20F467AE07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A3109F-F261-48ED-881B-0A985DEDFCC6}"/>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1226717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C3A45-06D0-406D-8885-035578014EAF}"/>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3" name="Footer Placeholder 2">
            <a:extLst>
              <a:ext uri="{FF2B5EF4-FFF2-40B4-BE49-F238E27FC236}">
                <a16:creationId xmlns:a16="http://schemas.microsoft.com/office/drawing/2014/main" id="{ABAECC2C-EE67-4205-99B8-7E526B5A23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4C7272-97F1-4BEF-A268-4E718D82EB66}"/>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2232066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FA0DF-2840-4233-A4D9-282C76DAE9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10CC4D-A89C-4339-9EE1-BD0FC8A0C6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A5AD17-F7F0-459B-B979-EDEC6EC084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8FDBD6-865D-4D61-AA41-F29DC9FEBB1F}"/>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6" name="Footer Placeholder 5">
            <a:extLst>
              <a:ext uri="{FF2B5EF4-FFF2-40B4-BE49-F238E27FC236}">
                <a16:creationId xmlns:a16="http://schemas.microsoft.com/office/drawing/2014/main" id="{1D861AF7-E5CE-46BC-9340-E4265A9BDF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45284F-0B02-4BD9-A1DF-EE963F51EFE7}"/>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540751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EBFB3-3BC1-477E-842C-480ADECBDF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CB46B4-2DCB-4E4C-8D26-FCE8F4DD11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D62962-3E30-4997-87E1-7989197BA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F0EDB5-943A-4596-81D3-8844A3D6CD07}"/>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6" name="Footer Placeholder 5">
            <a:extLst>
              <a:ext uri="{FF2B5EF4-FFF2-40B4-BE49-F238E27FC236}">
                <a16:creationId xmlns:a16="http://schemas.microsoft.com/office/drawing/2014/main" id="{FC22D994-5CFB-48B4-AAFA-1DFF03D474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5E9FA3-2495-40F6-95E0-D92A7544DE90}"/>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3161462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2600E-863A-4271-AC58-35BF5F4A88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21D94A-BC9B-429C-8EBB-C8E05E509D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4CE02A-51F3-4D8A-B30F-4F19DE803794}"/>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5" name="Footer Placeholder 4">
            <a:extLst>
              <a:ext uri="{FF2B5EF4-FFF2-40B4-BE49-F238E27FC236}">
                <a16:creationId xmlns:a16="http://schemas.microsoft.com/office/drawing/2014/main" id="{09F1E58E-48AF-44F9-B051-A4ECE18BE1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67D26E-B58D-4C76-89AC-5452AA61DC54}"/>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180328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EC4257-3E16-4C83-8B7B-7C81144F75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D49AAE-653C-40EB-999E-3705369BC9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9F859F-0E74-48ED-917A-A73CD0CC4FD6}"/>
              </a:ext>
            </a:extLst>
          </p:cNvPr>
          <p:cNvSpPr>
            <a:spLocks noGrp="1"/>
          </p:cNvSpPr>
          <p:nvPr>
            <p:ph type="dt" sz="half" idx="10"/>
          </p:nvPr>
        </p:nvSpPr>
        <p:spPr/>
        <p:txBody>
          <a:bodyPr/>
          <a:lstStyle/>
          <a:p>
            <a:fld id="{B6724D84-4314-4CD7-85FC-C3F19D0EAECD}" type="datetimeFigureOut">
              <a:rPr lang="en-US" smtClean="0"/>
              <a:t>2/24/2026</a:t>
            </a:fld>
            <a:endParaRPr lang="en-US"/>
          </a:p>
        </p:txBody>
      </p:sp>
      <p:sp>
        <p:nvSpPr>
          <p:cNvPr id="5" name="Footer Placeholder 4">
            <a:extLst>
              <a:ext uri="{FF2B5EF4-FFF2-40B4-BE49-F238E27FC236}">
                <a16:creationId xmlns:a16="http://schemas.microsoft.com/office/drawing/2014/main" id="{C5EC144E-9CA3-4809-92A9-AA58488230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0913F-70C8-45B2-8582-830D55C824E2}"/>
              </a:ext>
            </a:extLst>
          </p:cNvPr>
          <p:cNvSpPr>
            <a:spLocks noGrp="1"/>
          </p:cNvSpPr>
          <p:nvPr>
            <p:ph type="sldNum" sz="quarter" idx="12"/>
          </p:nvPr>
        </p:nvSpPr>
        <p:spPr/>
        <p:txBody>
          <a:bodyPr/>
          <a:lstStyle/>
          <a:p>
            <a:fld id="{215550A4-D17B-46F8-BCB7-F3199356BB24}" type="slidenum">
              <a:rPr lang="en-US" smtClean="0"/>
              <a:t>‹#›</a:t>
            </a:fld>
            <a:endParaRPr lang="en-US"/>
          </a:p>
        </p:txBody>
      </p:sp>
    </p:spTree>
    <p:extLst>
      <p:ext uri="{BB962C8B-B14F-4D97-AF65-F5344CB8AC3E}">
        <p14:creationId xmlns:p14="http://schemas.microsoft.com/office/powerpoint/2010/main" val="3868978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E0ECF-7F92-4B27-B3E9-52AA08D73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DE9359-4852-44F2-8DB9-40172D7FB9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55B944-CC46-42E0-BF04-724BD0C1CE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724D84-4314-4CD7-85FC-C3F19D0EAECD}" type="datetimeFigureOut">
              <a:rPr lang="en-US" smtClean="0"/>
              <a:t>2/24/2026</a:t>
            </a:fld>
            <a:endParaRPr lang="en-US"/>
          </a:p>
        </p:txBody>
      </p:sp>
      <p:sp>
        <p:nvSpPr>
          <p:cNvPr id="5" name="Footer Placeholder 4">
            <a:extLst>
              <a:ext uri="{FF2B5EF4-FFF2-40B4-BE49-F238E27FC236}">
                <a16:creationId xmlns:a16="http://schemas.microsoft.com/office/drawing/2014/main" id="{717B0452-E556-4DE1-94D7-38B0C3B7B5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19471B-0D1D-467A-A659-3124D1DB2E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5550A4-D17B-46F8-BCB7-F3199356BB24}" type="slidenum">
              <a:rPr lang="en-US" smtClean="0"/>
              <a:t>‹#›</a:t>
            </a:fld>
            <a:endParaRPr lang="en-US"/>
          </a:p>
        </p:txBody>
      </p:sp>
    </p:spTree>
    <p:extLst>
      <p:ext uri="{BB962C8B-B14F-4D97-AF65-F5344CB8AC3E}">
        <p14:creationId xmlns:p14="http://schemas.microsoft.com/office/powerpoint/2010/main" val="3753368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B85C0B-BE45-4693-8730-E23D24F7BC26}"/>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ame 4">
            <a:extLst>
              <a:ext uri="{FF2B5EF4-FFF2-40B4-BE49-F238E27FC236}">
                <a16:creationId xmlns:a16="http://schemas.microsoft.com/office/drawing/2014/main" id="{32B5B99D-5243-458D-AB5D-DE53A9296351}"/>
              </a:ext>
            </a:extLst>
          </p:cNvPr>
          <p:cNvSpPr/>
          <p:nvPr/>
        </p:nvSpPr>
        <p:spPr>
          <a:xfrm>
            <a:off x="0" y="0"/>
            <a:ext cx="12192000" cy="6858000"/>
          </a:xfrm>
          <a:prstGeom prst="frame">
            <a:avLst>
              <a:gd name="adj1" fmla="val 148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408727A7-329F-4C51-A0F7-1D492907DCC1}"/>
              </a:ext>
            </a:extLst>
          </p:cNvPr>
          <p:cNvPicPr>
            <a:picLocks noChangeAspect="1"/>
          </p:cNvPicPr>
          <p:nvPr/>
        </p:nvPicPr>
        <p:blipFill rotWithShape="1">
          <a:blip r:embed="rId2"/>
          <a:srcRect l="47772"/>
          <a:stretch/>
        </p:blipFill>
        <p:spPr>
          <a:xfrm>
            <a:off x="5824330" y="1"/>
            <a:ext cx="6367670" cy="6857999"/>
          </a:xfrm>
          <a:prstGeom prst="rect">
            <a:avLst/>
          </a:prstGeom>
        </p:spPr>
      </p:pic>
      <p:sp>
        <p:nvSpPr>
          <p:cNvPr id="8" name="Rectangle: Rounded Corners 7">
            <a:extLst>
              <a:ext uri="{FF2B5EF4-FFF2-40B4-BE49-F238E27FC236}">
                <a16:creationId xmlns:a16="http://schemas.microsoft.com/office/drawing/2014/main" id="{0A7142E3-AC67-446F-B4F7-DCC1DACF98D3}"/>
              </a:ext>
            </a:extLst>
          </p:cNvPr>
          <p:cNvSpPr/>
          <p:nvPr/>
        </p:nvSpPr>
        <p:spPr>
          <a:xfrm>
            <a:off x="1616764" y="3364216"/>
            <a:ext cx="4982819" cy="649356"/>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AF4B0F0E-1740-428C-A728-F13045ABB4B3}"/>
              </a:ext>
            </a:extLst>
          </p:cNvPr>
          <p:cNvSpPr txBox="1"/>
          <p:nvPr/>
        </p:nvSpPr>
        <p:spPr>
          <a:xfrm>
            <a:off x="1979899" y="3458061"/>
            <a:ext cx="4291559" cy="461665"/>
          </a:xfrm>
          <a:prstGeom prst="rect">
            <a:avLst/>
          </a:prstGeom>
          <a:noFill/>
        </p:spPr>
        <p:txBody>
          <a:bodyPr wrap="none" rtlCol="0">
            <a:spAutoFit/>
          </a:bodyPr>
          <a:lstStyle/>
          <a:p>
            <a:r>
              <a:rPr lang="en-US" sz="2400" b="1" dirty="0" err="1">
                <a:solidFill>
                  <a:schemeClr val="bg1">
                    <a:lumMod val="95000"/>
                  </a:schemeClr>
                </a:solidFill>
                <a:latin typeface="Montserrat" panose="00000500000000000000" pitchFamily="50" charset="0"/>
              </a:rPr>
              <a:t>Mengapa</a:t>
            </a:r>
            <a:r>
              <a:rPr lang="en-US" sz="2400" b="1" dirty="0">
                <a:solidFill>
                  <a:schemeClr val="bg1">
                    <a:lumMod val="95000"/>
                  </a:schemeClr>
                </a:solidFill>
                <a:latin typeface="Montserrat" panose="00000500000000000000" pitchFamily="50" charset="0"/>
              </a:rPr>
              <a:t> Saya Kristen #7</a:t>
            </a:r>
          </a:p>
        </p:txBody>
      </p:sp>
      <p:sp>
        <p:nvSpPr>
          <p:cNvPr id="11" name="TextBox 10">
            <a:extLst>
              <a:ext uri="{FF2B5EF4-FFF2-40B4-BE49-F238E27FC236}">
                <a16:creationId xmlns:a16="http://schemas.microsoft.com/office/drawing/2014/main" id="{D0B4071D-6BEB-4C48-A902-B6627BDE6EE8}"/>
              </a:ext>
            </a:extLst>
          </p:cNvPr>
          <p:cNvSpPr txBox="1"/>
          <p:nvPr/>
        </p:nvSpPr>
        <p:spPr>
          <a:xfrm>
            <a:off x="1497496" y="4327904"/>
            <a:ext cx="9316278" cy="1014060"/>
          </a:xfrm>
          <a:prstGeom prst="rect">
            <a:avLst/>
          </a:prstGeom>
          <a:noFill/>
        </p:spPr>
        <p:txBody>
          <a:bodyPr wrap="square">
            <a:spAutoFit/>
          </a:bodyPr>
          <a:lstStyle/>
          <a:p>
            <a:pPr>
              <a:lnSpc>
                <a:spcPct val="107000"/>
              </a:lnSpc>
              <a:spcAft>
                <a:spcPts val="800"/>
              </a:spcAft>
            </a:pPr>
            <a:r>
              <a:rPr lang="en-US" sz="6000" dirty="0">
                <a:solidFill>
                  <a:schemeClr val="tx1">
                    <a:lumMod val="75000"/>
                    <a:lumOff val="25000"/>
                  </a:schemeClr>
                </a:solidFill>
                <a:latin typeface="Montserrat ExtraBold" panose="00000900000000000000" pitchFamily="50" charset="0"/>
                <a:ea typeface="Calibri" panose="020F0502020204030204" pitchFamily="34" charset="0"/>
                <a:cs typeface="Times New Roman" panose="02020603050405020304" pitchFamily="18" charset="0"/>
              </a:rPr>
              <a:t>ALLAH TRITUNGGAL</a:t>
            </a:r>
            <a:endParaRPr lang="en-US" sz="9600" dirty="0">
              <a:solidFill>
                <a:schemeClr val="tx1">
                  <a:lumMod val="75000"/>
                  <a:lumOff val="25000"/>
                </a:schemeClr>
              </a:solidFill>
              <a:effectLst/>
              <a:latin typeface="Montserrat ExtraBold" panose="00000900000000000000" pitchFamily="50"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7670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B85C0B-BE45-4693-8730-E23D24F7BC26}"/>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08727A7-329F-4C51-A0F7-1D492907DCC1}"/>
              </a:ext>
            </a:extLst>
          </p:cNvPr>
          <p:cNvPicPr>
            <a:picLocks noChangeAspect="1"/>
          </p:cNvPicPr>
          <p:nvPr/>
        </p:nvPicPr>
        <p:blipFill rotWithShape="1">
          <a:blip r:embed="rId2"/>
          <a:srcRect l="47772"/>
          <a:stretch/>
        </p:blipFill>
        <p:spPr>
          <a:xfrm>
            <a:off x="5824330" y="1"/>
            <a:ext cx="6367670" cy="6857999"/>
          </a:xfrm>
          <a:prstGeom prst="rect">
            <a:avLst/>
          </a:prstGeom>
        </p:spPr>
      </p:pic>
      <p:sp>
        <p:nvSpPr>
          <p:cNvPr id="5" name="Frame 4">
            <a:extLst>
              <a:ext uri="{FF2B5EF4-FFF2-40B4-BE49-F238E27FC236}">
                <a16:creationId xmlns:a16="http://schemas.microsoft.com/office/drawing/2014/main" id="{32B5B99D-5243-458D-AB5D-DE53A9296351}"/>
              </a:ext>
            </a:extLst>
          </p:cNvPr>
          <p:cNvSpPr/>
          <p:nvPr/>
        </p:nvSpPr>
        <p:spPr>
          <a:xfrm>
            <a:off x="0" y="0"/>
            <a:ext cx="12192000" cy="6858000"/>
          </a:xfrm>
          <a:prstGeom prst="frame">
            <a:avLst>
              <a:gd name="adj1" fmla="val 148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10">
            <a:extLst>
              <a:ext uri="{FF2B5EF4-FFF2-40B4-BE49-F238E27FC236}">
                <a16:creationId xmlns:a16="http://schemas.microsoft.com/office/drawing/2014/main" id="{507B15EE-4094-4EC6-BD86-BE40882B58C0}"/>
              </a:ext>
            </a:extLst>
          </p:cNvPr>
          <p:cNvPicPr>
            <a:picLocks noChangeAspect="1"/>
          </p:cNvPicPr>
          <p:nvPr/>
        </p:nvPicPr>
        <p:blipFill rotWithShape="1">
          <a:blip r:embed="rId2"/>
          <a:srcRect l="47772"/>
          <a:stretch/>
        </p:blipFill>
        <p:spPr>
          <a:xfrm>
            <a:off x="4386470" y="1"/>
            <a:ext cx="7805530" cy="6857999"/>
          </a:xfrm>
          <a:prstGeom prst="rect">
            <a:avLst/>
          </a:prstGeom>
        </p:spPr>
      </p:pic>
      <p:pic>
        <p:nvPicPr>
          <p:cNvPr id="1028" name="Picture 4" descr="Trinity (Stanford Encyclopedia of Philosophy)">
            <a:extLst>
              <a:ext uri="{FF2B5EF4-FFF2-40B4-BE49-F238E27FC236}">
                <a16:creationId xmlns:a16="http://schemas.microsoft.com/office/drawing/2014/main" id="{4E8483EE-B1D9-48FF-AB2B-F671DA1AC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7127" y="2030690"/>
            <a:ext cx="3761316" cy="337619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59BAF08-363D-4F39-80E7-1BB5C54B5D7B}"/>
              </a:ext>
            </a:extLst>
          </p:cNvPr>
          <p:cNvSpPr txBox="1"/>
          <p:nvPr/>
        </p:nvSpPr>
        <p:spPr>
          <a:xfrm>
            <a:off x="1497497" y="2505670"/>
            <a:ext cx="2991525" cy="923330"/>
          </a:xfrm>
          <a:prstGeom prst="rect">
            <a:avLst/>
          </a:prstGeom>
          <a:solidFill>
            <a:srgbClr val="C00000"/>
          </a:solidFill>
        </p:spPr>
        <p:txBody>
          <a:bodyPr wrap="none" rtlCol="0">
            <a:spAutoFit/>
          </a:bodyPr>
          <a:lstStyle/>
          <a:p>
            <a:r>
              <a:rPr lang="en-US" sz="5400" dirty="0" err="1">
                <a:solidFill>
                  <a:schemeClr val="bg1">
                    <a:lumMod val="95000"/>
                  </a:schemeClr>
                </a:solidFill>
                <a:latin typeface="Montserrat ExtraBold" panose="00000900000000000000" pitchFamily="50" charset="0"/>
              </a:rPr>
              <a:t>Definisi</a:t>
            </a:r>
            <a:endParaRPr lang="en-US" sz="5400" dirty="0">
              <a:solidFill>
                <a:schemeClr val="bg1">
                  <a:lumMod val="95000"/>
                </a:schemeClr>
              </a:solidFill>
              <a:latin typeface="Montserrat ExtraBold" panose="00000900000000000000" pitchFamily="50" charset="0"/>
            </a:endParaRPr>
          </a:p>
        </p:txBody>
      </p:sp>
      <p:sp>
        <p:nvSpPr>
          <p:cNvPr id="3" name="TextBox 2">
            <a:extLst>
              <a:ext uri="{FF2B5EF4-FFF2-40B4-BE49-F238E27FC236}">
                <a16:creationId xmlns:a16="http://schemas.microsoft.com/office/drawing/2014/main" id="{4077C1A4-77EC-4EFC-905B-0B43E80A0653}"/>
              </a:ext>
            </a:extLst>
          </p:cNvPr>
          <p:cNvSpPr txBox="1"/>
          <p:nvPr/>
        </p:nvSpPr>
        <p:spPr>
          <a:xfrm>
            <a:off x="1409004" y="3891067"/>
            <a:ext cx="6942516" cy="2246769"/>
          </a:xfrm>
          <a:prstGeom prst="rect">
            <a:avLst/>
          </a:prstGeom>
          <a:noFill/>
        </p:spPr>
        <p:txBody>
          <a:bodyPr wrap="square" rtlCol="0">
            <a:spAutoFit/>
          </a:bodyPr>
          <a:lstStyle/>
          <a:p>
            <a:r>
              <a:rPr lang="en-US" sz="2800" dirty="0">
                <a:latin typeface="Montserrat" panose="00000500000000000000" pitchFamily="50" charset="0"/>
              </a:rPr>
              <a:t>Satu </a:t>
            </a:r>
            <a:r>
              <a:rPr lang="en-US" sz="2800" b="1" dirty="0" err="1">
                <a:solidFill>
                  <a:srgbClr val="C00000"/>
                </a:solidFill>
                <a:latin typeface="Montserrat" panose="00000500000000000000" pitchFamily="50" charset="0"/>
              </a:rPr>
              <a:t>hakikat</a:t>
            </a:r>
            <a:r>
              <a:rPr lang="en-US" sz="2800" dirty="0">
                <a:latin typeface="Montserrat" panose="00000500000000000000" pitchFamily="50" charset="0"/>
              </a:rPr>
              <a:t> (Allah) yang </a:t>
            </a:r>
            <a:r>
              <a:rPr lang="en-US" sz="2800" dirty="0" err="1">
                <a:latin typeface="Montserrat" panose="00000500000000000000" pitchFamily="50" charset="0"/>
              </a:rPr>
              <a:t>menyatakan</a:t>
            </a:r>
            <a:r>
              <a:rPr lang="en-US" sz="2800" dirty="0">
                <a:latin typeface="Montserrat" panose="00000500000000000000" pitchFamily="50" charset="0"/>
              </a:rPr>
              <a:t> </a:t>
            </a:r>
            <a:r>
              <a:rPr lang="en-US" sz="2800" dirty="0" err="1">
                <a:latin typeface="Montserrat" panose="00000500000000000000" pitchFamily="50" charset="0"/>
              </a:rPr>
              <a:t>diri</a:t>
            </a:r>
            <a:r>
              <a:rPr lang="en-US" sz="2800" dirty="0">
                <a:latin typeface="Montserrat" panose="00000500000000000000" pitchFamily="50" charset="0"/>
              </a:rPr>
              <a:t> </a:t>
            </a:r>
            <a:r>
              <a:rPr lang="en-US" sz="2800" dirty="0" err="1">
                <a:latin typeface="Montserrat" panose="00000500000000000000" pitchFamily="50" charset="0"/>
              </a:rPr>
              <a:t>dalam</a:t>
            </a:r>
            <a:r>
              <a:rPr lang="en-US" sz="2800" dirty="0">
                <a:latin typeface="Montserrat" panose="00000500000000000000" pitchFamily="50" charset="0"/>
              </a:rPr>
              <a:t> </a:t>
            </a:r>
            <a:r>
              <a:rPr lang="en-US" sz="2800" dirty="0" err="1">
                <a:latin typeface="Montserrat" panose="00000500000000000000" pitchFamily="50" charset="0"/>
              </a:rPr>
              <a:t>tiga</a:t>
            </a:r>
            <a:r>
              <a:rPr lang="en-US" sz="2800" dirty="0">
                <a:latin typeface="Montserrat" panose="00000500000000000000" pitchFamily="50" charset="0"/>
              </a:rPr>
              <a:t> </a:t>
            </a:r>
            <a:r>
              <a:rPr lang="en-US" sz="2800" b="1" dirty="0" err="1">
                <a:solidFill>
                  <a:srgbClr val="C00000"/>
                </a:solidFill>
                <a:latin typeface="Montserrat" panose="00000500000000000000" pitchFamily="50" charset="0"/>
              </a:rPr>
              <a:t>pribadi</a:t>
            </a:r>
            <a:r>
              <a:rPr lang="en-US" sz="2800" dirty="0">
                <a:latin typeface="Montserrat" panose="00000500000000000000" pitchFamily="50" charset="0"/>
              </a:rPr>
              <a:t> (</a:t>
            </a:r>
            <a:r>
              <a:rPr lang="en-US" sz="2800" dirty="0" err="1">
                <a:latin typeface="Montserrat" panose="00000500000000000000" pitchFamily="50" charset="0"/>
              </a:rPr>
              <a:t>Bapa</a:t>
            </a:r>
            <a:r>
              <a:rPr lang="en-US" sz="2800" dirty="0">
                <a:latin typeface="Montserrat" panose="00000500000000000000" pitchFamily="50" charset="0"/>
              </a:rPr>
              <a:t>, Anak &amp; </a:t>
            </a:r>
            <a:r>
              <a:rPr lang="en-US" sz="2800" dirty="0" err="1">
                <a:latin typeface="Montserrat" panose="00000500000000000000" pitchFamily="50" charset="0"/>
              </a:rPr>
              <a:t>Roh</a:t>
            </a:r>
            <a:r>
              <a:rPr lang="en-US" sz="2800" dirty="0">
                <a:latin typeface="Montserrat" panose="00000500000000000000" pitchFamily="50" charset="0"/>
              </a:rPr>
              <a:t> Kudus). </a:t>
            </a:r>
            <a:r>
              <a:rPr lang="en-US" sz="2800" dirty="0" err="1">
                <a:latin typeface="Montserrat" panose="00000500000000000000" pitchFamily="50" charset="0"/>
              </a:rPr>
              <a:t>Hakikat</a:t>
            </a:r>
            <a:r>
              <a:rPr lang="en-US" sz="2800" dirty="0">
                <a:latin typeface="Montserrat" panose="00000500000000000000" pitchFamily="50" charset="0"/>
              </a:rPr>
              <a:t>-Nya </a:t>
            </a:r>
            <a:r>
              <a:rPr lang="en-US" sz="2800" dirty="0" err="1">
                <a:latin typeface="Montserrat" panose="00000500000000000000" pitchFamily="50" charset="0"/>
              </a:rPr>
              <a:t>bukan</a:t>
            </a:r>
            <a:r>
              <a:rPr lang="en-US" sz="2800" dirty="0">
                <a:latin typeface="Montserrat" panose="00000500000000000000" pitchFamily="50" charset="0"/>
              </a:rPr>
              <a:t> </a:t>
            </a:r>
            <a:r>
              <a:rPr lang="en-US" sz="2800" dirty="0" err="1">
                <a:latin typeface="Montserrat" panose="00000500000000000000" pitchFamily="50" charset="0"/>
              </a:rPr>
              <a:t>hanya</a:t>
            </a:r>
            <a:r>
              <a:rPr lang="en-US" sz="2800" dirty="0">
                <a:latin typeface="Montserrat" panose="00000500000000000000" pitchFamily="50" charset="0"/>
              </a:rPr>
              <a:t> </a:t>
            </a:r>
            <a:r>
              <a:rPr lang="en-US" sz="2800" b="1" dirty="0" err="1">
                <a:solidFill>
                  <a:srgbClr val="C00000"/>
                </a:solidFill>
                <a:latin typeface="Montserrat" panose="00000500000000000000" pitchFamily="50" charset="0"/>
              </a:rPr>
              <a:t>sama</a:t>
            </a:r>
            <a:r>
              <a:rPr lang="en-US" sz="2800" b="1" dirty="0">
                <a:solidFill>
                  <a:srgbClr val="C00000"/>
                </a:solidFill>
                <a:latin typeface="Montserrat" panose="00000500000000000000" pitchFamily="50" charset="0"/>
              </a:rPr>
              <a:t>,</a:t>
            </a:r>
            <a:r>
              <a:rPr lang="en-US" sz="2800" dirty="0">
                <a:latin typeface="Montserrat" panose="00000500000000000000" pitchFamily="50" charset="0"/>
              </a:rPr>
              <a:t> </a:t>
            </a:r>
            <a:r>
              <a:rPr lang="en-US" sz="2800" dirty="0" err="1">
                <a:latin typeface="Montserrat" panose="00000500000000000000" pitchFamily="50" charset="0"/>
              </a:rPr>
              <a:t>tetapi</a:t>
            </a:r>
            <a:r>
              <a:rPr lang="en-US" sz="2800" dirty="0">
                <a:latin typeface="Montserrat" panose="00000500000000000000" pitchFamily="50" charset="0"/>
              </a:rPr>
              <a:t> </a:t>
            </a:r>
            <a:r>
              <a:rPr lang="en-US" sz="2800" b="1" dirty="0" err="1">
                <a:solidFill>
                  <a:srgbClr val="C00000"/>
                </a:solidFill>
                <a:latin typeface="Montserrat" panose="00000500000000000000" pitchFamily="50" charset="0"/>
              </a:rPr>
              <a:t>satu</a:t>
            </a:r>
            <a:r>
              <a:rPr lang="en-US" sz="2800" b="1" dirty="0">
                <a:solidFill>
                  <a:srgbClr val="C00000"/>
                </a:solidFill>
                <a:latin typeface="Montserrat" panose="00000500000000000000" pitchFamily="50" charset="0"/>
              </a:rPr>
              <a:t>.</a:t>
            </a:r>
            <a:r>
              <a:rPr lang="en-US" sz="2800" dirty="0">
                <a:latin typeface="Montserrat" panose="00000500000000000000" pitchFamily="50" charset="0"/>
              </a:rPr>
              <a:t> Karena </a:t>
            </a:r>
            <a:r>
              <a:rPr lang="en-US" sz="2800" dirty="0" err="1">
                <a:latin typeface="Montserrat" panose="00000500000000000000" pitchFamily="50" charset="0"/>
              </a:rPr>
              <a:t>satu</a:t>
            </a:r>
            <a:r>
              <a:rPr lang="en-US" sz="2800" dirty="0">
                <a:latin typeface="Montserrat" panose="00000500000000000000" pitchFamily="50" charset="0"/>
              </a:rPr>
              <a:t>, </a:t>
            </a:r>
            <a:r>
              <a:rPr lang="en-US" sz="2800" dirty="0" err="1">
                <a:latin typeface="Montserrat" panose="00000500000000000000" pitchFamily="50" charset="0"/>
              </a:rPr>
              <a:t>maka</a:t>
            </a:r>
            <a:r>
              <a:rPr lang="en-US" sz="2800" dirty="0">
                <a:latin typeface="Montserrat" panose="00000500000000000000" pitchFamily="50" charset="0"/>
              </a:rPr>
              <a:t> </a:t>
            </a:r>
            <a:r>
              <a:rPr lang="en-US" sz="2800" dirty="0" err="1">
                <a:latin typeface="Montserrat" panose="00000500000000000000" pitchFamily="50" charset="0"/>
              </a:rPr>
              <a:t>sama</a:t>
            </a:r>
            <a:r>
              <a:rPr lang="en-US" sz="2800" dirty="0">
                <a:latin typeface="Montserrat" panose="00000500000000000000" pitchFamily="50" charset="0"/>
              </a:rPr>
              <a:t>.</a:t>
            </a:r>
          </a:p>
        </p:txBody>
      </p:sp>
    </p:spTree>
    <p:extLst>
      <p:ext uri="{BB962C8B-B14F-4D97-AF65-F5344CB8AC3E}">
        <p14:creationId xmlns:p14="http://schemas.microsoft.com/office/powerpoint/2010/main" val="678746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B85C0B-BE45-4693-8730-E23D24F7BC26}"/>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08727A7-329F-4C51-A0F7-1D492907DCC1}"/>
              </a:ext>
            </a:extLst>
          </p:cNvPr>
          <p:cNvPicPr>
            <a:picLocks noChangeAspect="1"/>
          </p:cNvPicPr>
          <p:nvPr/>
        </p:nvPicPr>
        <p:blipFill rotWithShape="1">
          <a:blip r:embed="rId2"/>
          <a:srcRect l="47772"/>
          <a:stretch/>
        </p:blipFill>
        <p:spPr>
          <a:xfrm>
            <a:off x="5824330" y="1"/>
            <a:ext cx="6367670" cy="6857999"/>
          </a:xfrm>
          <a:prstGeom prst="rect">
            <a:avLst/>
          </a:prstGeom>
        </p:spPr>
      </p:pic>
      <p:sp>
        <p:nvSpPr>
          <p:cNvPr id="5" name="Frame 4">
            <a:extLst>
              <a:ext uri="{FF2B5EF4-FFF2-40B4-BE49-F238E27FC236}">
                <a16:creationId xmlns:a16="http://schemas.microsoft.com/office/drawing/2014/main" id="{32B5B99D-5243-458D-AB5D-DE53A9296351}"/>
              </a:ext>
            </a:extLst>
          </p:cNvPr>
          <p:cNvSpPr/>
          <p:nvPr/>
        </p:nvSpPr>
        <p:spPr>
          <a:xfrm>
            <a:off x="0" y="0"/>
            <a:ext cx="12192000" cy="6858000"/>
          </a:xfrm>
          <a:prstGeom prst="frame">
            <a:avLst>
              <a:gd name="adj1" fmla="val 148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10">
            <a:extLst>
              <a:ext uri="{FF2B5EF4-FFF2-40B4-BE49-F238E27FC236}">
                <a16:creationId xmlns:a16="http://schemas.microsoft.com/office/drawing/2014/main" id="{507B15EE-4094-4EC6-BD86-BE40882B58C0}"/>
              </a:ext>
            </a:extLst>
          </p:cNvPr>
          <p:cNvPicPr>
            <a:picLocks noChangeAspect="1"/>
          </p:cNvPicPr>
          <p:nvPr/>
        </p:nvPicPr>
        <p:blipFill rotWithShape="1">
          <a:blip r:embed="rId2"/>
          <a:srcRect l="47772"/>
          <a:stretch/>
        </p:blipFill>
        <p:spPr>
          <a:xfrm>
            <a:off x="4386470" y="1"/>
            <a:ext cx="7805530" cy="6857999"/>
          </a:xfrm>
          <a:prstGeom prst="rect">
            <a:avLst/>
          </a:prstGeom>
        </p:spPr>
      </p:pic>
      <p:pic>
        <p:nvPicPr>
          <p:cNvPr id="1026" name="Picture 2" descr="Understanding the Trinity: Part One — Immanuel Church">
            <a:extLst>
              <a:ext uri="{FF2B5EF4-FFF2-40B4-BE49-F238E27FC236}">
                <a16:creationId xmlns:a16="http://schemas.microsoft.com/office/drawing/2014/main" id="{09D9C8CB-1297-4081-8B3D-D5C2465E2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130" y="1116496"/>
            <a:ext cx="3962400" cy="3962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AA0A1E8-F5C1-4B89-80BF-C5C6ED3610BF}"/>
              </a:ext>
            </a:extLst>
          </p:cNvPr>
          <p:cNvSpPr txBox="1"/>
          <p:nvPr/>
        </p:nvSpPr>
        <p:spPr>
          <a:xfrm>
            <a:off x="3018645" y="5487505"/>
            <a:ext cx="5862502" cy="707886"/>
          </a:xfrm>
          <a:prstGeom prst="rect">
            <a:avLst/>
          </a:prstGeom>
          <a:noFill/>
        </p:spPr>
        <p:txBody>
          <a:bodyPr wrap="none" rtlCol="0">
            <a:spAutoFit/>
          </a:bodyPr>
          <a:lstStyle/>
          <a:p>
            <a:pPr algn="ctr"/>
            <a:r>
              <a:rPr lang="en-US" sz="4000" dirty="0">
                <a:latin typeface="Montserrat ExtraBold" panose="00000900000000000000" pitchFamily="50" charset="0"/>
              </a:rPr>
              <a:t>TRITUNGGAL </a:t>
            </a:r>
            <a:r>
              <a:rPr lang="en-US" sz="4000" dirty="0">
                <a:solidFill>
                  <a:srgbClr val="C00000"/>
                </a:solidFill>
                <a:latin typeface="Montserrat ExtraBold" panose="00000900000000000000" pitchFamily="50" charset="0"/>
              </a:rPr>
              <a:t>BUKAN</a:t>
            </a:r>
          </a:p>
        </p:txBody>
      </p:sp>
      <p:sp>
        <p:nvSpPr>
          <p:cNvPr id="3" name="Rectangle 2">
            <a:extLst>
              <a:ext uri="{FF2B5EF4-FFF2-40B4-BE49-F238E27FC236}">
                <a16:creationId xmlns:a16="http://schemas.microsoft.com/office/drawing/2014/main" id="{01446751-B18E-4AE9-B016-07C45689ED6D}"/>
              </a:ext>
            </a:extLst>
          </p:cNvPr>
          <p:cNvSpPr/>
          <p:nvPr/>
        </p:nvSpPr>
        <p:spPr>
          <a:xfrm>
            <a:off x="649357" y="1948070"/>
            <a:ext cx="2676939" cy="9144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Monoteisme</a:t>
            </a:r>
            <a:r>
              <a:rPr lang="en-US" sz="2000" dirty="0">
                <a:solidFill>
                  <a:schemeClr val="bg1"/>
                </a:solidFill>
                <a:latin typeface="Montserrat ExtraBold" panose="00000900000000000000" pitchFamily="50" charset="0"/>
              </a:rPr>
              <a:t> Tauhid</a:t>
            </a:r>
          </a:p>
        </p:txBody>
      </p:sp>
    </p:spTree>
    <p:extLst>
      <p:ext uri="{BB962C8B-B14F-4D97-AF65-F5344CB8AC3E}">
        <p14:creationId xmlns:p14="http://schemas.microsoft.com/office/powerpoint/2010/main" val="371898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B85C0B-BE45-4693-8730-E23D24F7BC26}"/>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08727A7-329F-4C51-A0F7-1D492907DCC1}"/>
              </a:ext>
            </a:extLst>
          </p:cNvPr>
          <p:cNvPicPr>
            <a:picLocks noChangeAspect="1"/>
          </p:cNvPicPr>
          <p:nvPr/>
        </p:nvPicPr>
        <p:blipFill rotWithShape="1">
          <a:blip r:embed="rId2"/>
          <a:srcRect l="47772"/>
          <a:stretch/>
        </p:blipFill>
        <p:spPr>
          <a:xfrm>
            <a:off x="5824330" y="1"/>
            <a:ext cx="6367670" cy="6857999"/>
          </a:xfrm>
          <a:prstGeom prst="rect">
            <a:avLst/>
          </a:prstGeom>
        </p:spPr>
      </p:pic>
      <p:sp>
        <p:nvSpPr>
          <p:cNvPr id="5" name="Frame 4">
            <a:extLst>
              <a:ext uri="{FF2B5EF4-FFF2-40B4-BE49-F238E27FC236}">
                <a16:creationId xmlns:a16="http://schemas.microsoft.com/office/drawing/2014/main" id="{32B5B99D-5243-458D-AB5D-DE53A9296351}"/>
              </a:ext>
            </a:extLst>
          </p:cNvPr>
          <p:cNvSpPr/>
          <p:nvPr/>
        </p:nvSpPr>
        <p:spPr>
          <a:xfrm>
            <a:off x="0" y="0"/>
            <a:ext cx="12192000" cy="6858000"/>
          </a:xfrm>
          <a:prstGeom prst="frame">
            <a:avLst>
              <a:gd name="adj1" fmla="val 148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10">
            <a:extLst>
              <a:ext uri="{FF2B5EF4-FFF2-40B4-BE49-F238E27FC236}">
                <a16:creationId xmlns:a16="http://schemas.microsoft.com/office/drawing/2014/main" id="{507B15EE-4094-4EC6-BD86-BE40882B58C0}"/>
              </a:ext>
            </a:extLst>
          </p:cNvPr>
          <p:cNvPicPr>
            <a:picLocks noChangeAspect="1"/>
          </p:cNvPicPr>
          <p:nvPr/>
        </p:nvPicPr>
        <p:blipFill rotWithShape="1">
          <a:blip r:embed="rId2"/>
          <a:srcRect l="47772"/>
          <a:stretch/>
        </p:blipFill>
        <p:spPr>
          <a:xfrm>
            <a:off x="4386470" y="1"/>
            <a:ext cx="7805530" cy="6857999"/>
          </a:xfrm>
          <a:prstGeom prst="rect">
            <a:avLst/>
          </a:prstGeom>
        </p:spPr>
      </p:pic>
      <p:pic>
        <p:nvPicPr>
          <p:cNvPr id="1026" name="Picture 2" descr="Understanding the Trinity: Part One — Immanuel Church">
            <a:extLst>
              <a:ext uri="{FF2B5EF4-FFF2-40B4-BE49-F238E27FC236}">
                <a16:creationId xmlns:a16="http://schemas.microsoft.com/office/drawing/2014/main" id="{09D9C8CB-1297-4081-8B3D-D5C2465E2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130" y="1116496"/>
            <a:ext cx="3962400" cy="3962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AA0A1E8-F5C1-4B89-80BF-C5C6ED3610BF}"/>
              </a:ext>
            </a:extLst>
          </p:cNvPr>
          <p:cNvSpPr txBox="1"/>
          <p:nvPr/>
        </p:nvSpPr>
        <p:spPr>
          <a:xfrm>
            <a:off x="3018645" y="5487505"/>
            <a:ext cx="5862502" cy="707886"/>
          </a:xfrm>
          <a:prstGeom prst="rect">
            <a:avLst/>
          </a:prstGeom>
          <a:noFill/>
        </p:spPr>
        <p:txBody>
          <a:bodyPr wrap="none" rtlCol="0">
            <a:spAutoFit/>
          </a:bodyPr>
          <a:lstStyle/>
          <a:p>
            <a:pPr algn="ctr"/>
            <a:r>
              <a:rPr lang="en-US" sz="4000" dirty="0">
                <a:latin typeface="Montserrat ExtraBold" panose="00000900000000000000" pitchFamily="50" charset="0"/>
              </a:rPr>
              <a:t>TRITUNGGAL </a:t>
            </a:r>
            <a:r>
              <a:rPr lang="en-US" sz="4000" dirty="0">
                <a:solidFill>
                  <a:srgbClr val="C00000"/>
                </a:solidFill>
                <a:latin typeface="Montserrat ExtraBold" panose="00000900000000000000" pitchFamily="50" charset="0"/>
              </a:rPr>
              <a:t>BUKAN</a:t>
            </a:r>
          </a:p>
        </p:txBody>
      </p:sp>
      <p:sp>
        <p:nvSpPr>
          <p:cNvPr id="3" name="Rectangle 2">
            <a:extLst>
              <a:ext uri="{FF2B5EF4-FFF2-40B4-BE49-F238E27FC236}">
                <a16:creationId xmlns:a16="http://schemas.microsoft.com/office/drawing/2014/main" id="{01446751-B18E-4AE9-B016-07C45689ED6D}"/>
              </a:ext>
            </a:extLst>
          </p:cNvPr>
          <p:cNvSpPr/>
          <p:nvPr/>
        </p:nvSpPr>
        <p:spPr>
          <a:xfrm>
            <a:off x="649357" y="1948070"/>
            <a:ext cx="2676939"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Monoteisme</a:t>
            </a:r>
            <a:r>
              <a:rPr lang="en-US" sz="2000" dirty="0">
                <a:solidFill>
                  <a:schemeClr val="bg1"/>
                </a:solidFill>
                <a:latin typeface="Montserrat ExtraBold" panose="00000900000000000000" pitchFamily="50" charset="0"/>
              </a:rPr>
              <a:t> Tauhid</a:t>
            </a:r>
          </a:p>
        </p:txBody>
      </p:sp>
      <p:sp>
        <p:nvSpPr>
          <p:cNvPr id="10" name="Rectangle 9">
            <a:extLst>
              <a:ext uri="{FF2B5EF4-FFF2-40B4-BE49-F238E27FC236}">
                <a16:creationId xmlns:a16="http://schemas.microsoft.com/office/drawing/2014/main" id="{FEC1F4D4-8941-4CE9-BA33-86EBE11278F6}"/>
              </a:ext>
            </a:extLst>
          </p:cNvPr>
          <p:cNvSpPr/>
          <p:nvPr/>
        </p:nvSpPr>
        <p:spPr>
          <a:xfrm>
            <a:off x="8660295" y="1948070"/>
            <a:ext cx="2676939" cy="9144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Politeisme</a:t>
            </a:r>
            <a:endParaRPr lang="en-US" sz="2000" dirty="0">
              <a:solidFill>
                <a:schemeClr val="bg1"/>
              </a:solidFill>
              <a:latin typeface="Montserrat ExtraBold" panose="00000900000000000000" pitchFamily="50" charset="0"/>
            </a:endParaRPr>
          </a:p>
        </p:txBody>
      </p:sp>
    </p:spTree>
    <p:extLst>
      <p:ext uri="{BB962C8B-B14F-4D97-AF65-F5344CB8AC3E}">
        <p14:creationId xmlns:p14="http://schemas.microsoft.com/office/powerpoint/2010/main" val="28905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B85C0B-BE45-4693-8730-E23D24F7BC26}"/>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08727A7-329F-4C51-A0F7-1D492907DCC1}"/>
              </a:ext>
            </a:extLst>
          </p:cNvPr>
          <p:cNvPicPr>
            <a:picLocks noChangeAspect="1"/>
          </p:cNvPicPr>
          <p:nvPr/>
        </p:nvPicPr>
        <p:blipFill rotWithShape="1">
          <a:blip r:embed="rId2"/>
          <a:srcRect l="47772"/>
          <a:stretch/>
        </p:blipFill>
        <p:spPr>
          <a:xfrm>
            <a:off x="5824330" y="1"/>
            <a:ext cx="6367670" cy="6857999"/>
          </a:xfrm>
          <a:prstGeom prst="rect">
            <a:avLst/>
          </a:prstGeom>
        </p:spPr>
      </p:pic>
      <p:sp>
        <p:nvSpPr>
          <p:cNvPr id="5" name="Frame 4">
            <a:extLst>
              <a:ext uri="{FF2B5EF4-FFF2-40B4-BE49-F238E27FC236}">
                <a16:creationId xmlns:a16="http://schemas.microsoft.com/office/drawing/2014/main" id="{32B5B99D-5243-458D-AB5D-DE53A9296351}"/>
              </a:ext>
            </a:extLst>
          </p:cNvPr>
          <p:cNvSpPr/>
          <p:nvPr/>
        </p:nvSpPr>
        <p:spPr>
          <a:xfrm>
            <a:off x="0" y="0"/>
            <a:ext cx="12192000" cy="6858000"/>
          </a:xfrm>
          <a:prstGeom prst="frame">
            <a:avLst>
              <a:gd name="adj1" fmla="val 148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10">
            <a:extLst>
              <a:ext uri="{FF2B5EF4-FFF2-40B4-BE49-F238E27FC236}">
                <a16:creationId xmlns:a16="http://schemas.microsoft.com/office/drawing/2014/main" id="{507B15EE-4094-4EC6-BD86-BE40882B58C0}"/>
              </a:ext>
            </a:extLst>
          </p:cNvPr>
          <p:cNvPicPr>
            <a:picLocks noChangeAspect="1"/>
          </p:cNvPicPr>
          <p:nvPr/>
        </p:nvPicPr>
        <p:blipFill rotWithShape="1">
          <a:blip r:embed="rId2"/>
          <a:srcRect l="47772"/>
          <a:stretch/>
        </p:blipFill>
        <p:spPr>
          <a:xfrm>
            <a:off x="4386470" y="1"/>
            <a:ext cx="7805530" cy="6857999"/>
          </a:xfrm>
          <a:prstGeom prst="rect">
            <a:avLst/>
          </a:prstGeom>
        </p:spPr>
      </p:pic>
      <p:pic>
        <p:nvPicPr>
          <p:cNvPr id="1026" name="Picture 2" descr="Understanding the Trinity: Part One — Immanuel Church">
            <a:extLst>
              <a:ext uri="{FF2B5EF4-FFF2-40B4-BE49-F238E27FC236}">
                <a16:creationId xmlns:a16="http://schemas.microsoft.com/office/drawing/2014/main" id="{09D9C8CB-1297-4081-8B3D-D5C2465E2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130" y="1116496"/>
            <a:ext cx="3962400" cy="3962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AA0A1E8-F5C1-4B89-80BF-C5C6ED3610BF}"/>
              </a:ext>
            </a:extLst>
          </p:cNvPr>
          <p:cNvSpPr txBox="1"/>
          <p:nvPr/>
        </p:nvSpPr>
        <p:spPr>
          <a:xfrm>
            <a:off x="3018645" y="5487505"/>
            <a:ext cx="5862502" cy="707886"/>
          </a:xfrm>
          <a:prstGeom prst="rect">
            <a:avLst/>
          </a:prstGeom>
          <a:noFill/>
        </p:spPr>
        <p:txBody>
          <a:bodyPr wrap="none" rtlCol="0">
            <a:spAutoFit/>
          </a:bodyPr>
          <a:lstStyle/>
          <a:p>
            <a:pPr algn="ctr"/>
            <a:r>
              <a:rPr lang="en-US" sz="4000" dirty="0">
                <a:latin typeface="Montserrat ExtraBold" panose="00000900000000000000" pitchFamily="50" charset="0"/>
              </a:rPr>
              <a:t>TRITUNGGAL </a:t>
            </a:r>
            <a:r>
              <a:rPr lang="en-US" sz="4000" dirty="0">
                <a:solidFill>
                  <a:srgbClr val="C00000"/>
                </a:solidFill>
                <a:latin typeface="Montserrat ExtraBold" panose="00000900000000000000" pitchFamily="50" charset="0"/>
              </a:rPr>
              <a:t>BUKAN</a:t>
            </a:r>
          </a:p>
        </p:txBody>
      </p:sp>
      <p:sp>
        <p:nvSpPr>
          <p:cNvPr id="3" name="Rectangle 2">
            <a:extLst>
              <a:ext uri="{FF2B5EF4-FFF2-40B4-BE49-F238E27FC236}">
                <a16:creationId xmlns:a16="http://schemas.microsoft.com/office/drawing/2014/main" id="{01446751-B18E-4AE9-B016-07C45689ED6D}"/>
              </a:ext>
            </a:extLst>
          </p:cNvPr>
          <p:cNvSpPr/>
          <p:nvPr/>
        </p:nvSpPr>
        <p:spPr>
          <a:xfrm>
            <a:off x="649357" y="1948070"/>
            <a:ext cx="2676939"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Monoteisme</a:t>
            </a:r>
            <a:r>
              <a:rPr lang="en-US" sz="2000" dirty="0">
                <a:solidFill>
                  <a:schemeClr val="bg1"/>
                </a:solidFill>
                <a:latin typeface="Montserrat ExtraBold" panose="00000900000000000000" pitchFamily="50" charset="0"/>
              </a:rPr>
              <a:t> Tauhid</a:t>
            </a:r>
          </a:p>
        </p:txBody>
      </p:sp>
      <p:sp>
        <p:nvSpPr>
          <p:cNvPr id="9" name="Rectangle 8">
            <a:extLst>
              <a:ext uri="{FF2B5EF4-FFF2-40B4-BE49-F238E27FC236}">
                <a16:creationId xmlns:a16="http://schemas.microsoft.com/office/drawing/2014/main" id="{8DF49B87-A411-47BF-B6DF-96CBC8596E4F}"/>
              </a:ext>
            </a:extLst>
          </p:cNvPr>
          <p:cNvSpPr/>
          <p:nvPr/>
        </p:nvSpPr>
        <p:spPr>
          <a:xfrm>
            <a:off x="649357" y="3538331"/>
            <a:ext cx="2676939" cy="9144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Triteisme</a:t>
            </a:r>
            <a:endParaRPr lang="en-US" sz="2000" dirty="0">
              <a:solidFill>
                <a:schemeClr val="bg1"/>
              </a:solidFill>
              <a:latin typeface="Montserrat ExtraBold" panose="00000900000000000000" pitchFamily="50" charset="0"/>
            </a:endParaRPr>
          </a:p>
        </p:txBody>
      </p:sp>
      <p:sp>
        <p:nvSpPr>
          <p:cNvPr id="10" name="Rectangle 9">
            <a:extLst>
              <a:ext uri="{FF2B5EF4-FFF2-40B4-BE49-F238E27FC236}">
                <a16:creationId xmlns:a16="http://schemas.microsoft.com/office/drawing/2014/main" id="{FEC1F4D4-8941-4CE9-BA33-86EBE11278F6}"/>
              </a:ext>
            </a:extLst>
          </p:cNvPr>
          <p:cNvSpPr/>
          <p:nvPr/>
        </p:nvSpPr>
        <p:spPr>
          <a:xfrm>
            <a:off x="8660295" y="1948070"/>
            <a:ext cx="2676939"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Politeisme</a:t>
            </a:r>
            <a:endParaRPr lang="en-US" sz="2000" dirty="0">
              <a:solidFill>
                <a:schemeClr val="bg1"/>
              </a:solidFill>
              <a:latin typeface="Montserrat ExtraBold" panose="00000900000000000000" pitchFamily="50" charset="0"/>
            </a:endParaRPr>
          </a:p>
        </p:txBody>
      </p:sp>
    </p:spTree>
    <p:extLst>
      <p:ext uri="{BB962C8B-B14F-4D97-AF65-F5344CB8AC3E}">
        <p14:creationId xmlns:p14="http://schemas.microsoft.com/office/powerpoint/2010/main" val="675696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B85C0B-BE45-4693-8730-E23D24F7BC26}"/>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08727A7-329F-4C51-A0F7-1D492907DCC1}"/>
              </a:ext>
            </a:extLst>
          </p:cNvPr>
          <p:cNvPicPr>
            <a:picLocks noChangeAspect="1"/>
          </p:cNvPicPr>
          <p:nvPr/>
        </p:nvPicPr>
        <p:blipFill rotWithShape="1">
          <a:blip r:embed="rId2"/>
          <a:srcRect l="47772"/>
          <a:stretch/>
        </p:blipFill>
        <p:spPr>
          <a:xfrm>
            <a:off x="5824330" y="1"/>
            <a:ext cx="6367670" cy="6857999"/>
          </a:xfrm>
          <a:prstGeom prst="rect">
            <a:avLst/>
          </a:prstGeom>
        </p:spPr>
      </p:pic>
      <p:sp>
        <p:nvSpPr>
          <p:cNvPr id="5" name="Frame 4">
            <a:extLst>
              <a:ext uri="{FF2B5EF4-FFF2-40B4-BE49-F238E27FC236}">
                <a16:creationId xmlns:a16="http://schemas.microsoft.com/office/drawing/2014/main" id="{32B5B99D-5243-458D-AB5D-DE53A9296351}"/>
              </a:ext>
            </a:extLst>
          </p:cNvPr>
          <p:cNvSpPr/>
          <p:nvPr/>
        </p:nvSpPr>
        <p:spPr>
          <a:xfrm>
            <a:off x="0" y="0"/>
            <a:ext cx="12192000" cy="6858000"/>
          </a:xfrm>
          <a:prstGeom prst="frame">
            <a:avLst>
              <a:gd name="adj1" fmla="val 148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10">
            <a:extLst>
              <a:ext uri="{FF2B5EF4-FFF2-40B4-BE49-F238E27FC236}">
                <a16:creationId xmlns:a16="http://schemas.microsoft.com/office/drawing/2014/main" id="{507B15EE-4094-4EC6-BD86-BE40882B58C0}"/>
              </a:ext>
            </a:extLst>
          </p:cNvPr>
          <p:cNvPicPr>
            <a:picLocks noChangeAspect="1"/>
          </p:cNvPicPr>
          <p:nvPr/>
        </p:nvPicPr>
        <p:blipFill rotWithShape="1">
          <a:blip r:embed="rId2"/>
          <a:srcRect l="47772"/>
          <a:stretch/>
        </p:blipFill>
        <p:spPr>
          <a:xfrm>
            <a:off x="4386470" y="1"/>
            <a:ext cx="7805530" cy="6857999"/>
          </a:xfrm>
          <a:prstGeom prst="rect">
            <a:avLst/>
          </a:prstGeom>
        </p:spPr>
      </p:pic>
      <p:pic>
        <p:nvPicPr>
          <p:cNvPr id="1026" name="Picture 2" descr="Understanding the Trinity: Part One — Immanuel Church">
            <a:extLst>
              <a:ext uri="{FF2B5EF4-FFF2-40B4-BE49-F238E27FC236}">
                <a16:creationId xmlns:a16="http://schemas.microsoft.com/office/drawing/2014/main" id="{09D9C8CB-1297-4081-8B3D-D5C2465E2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130" y="1116496"/>
            <a:ext cx="3962400" cy="3962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AA0A1E8-F5C1-4B89-80BF-C5C6ED3610BF}"/>
              </a:ext>
            </a:extLst>
          </p:cNvPr>
          <p:cNvSpPr txBox="1"/>
          <p:nvPr/>
        </p:nvSpPr>
        <p:spPr>
          <a:xfrm>
            <a:off x="3018645" y="5487505"/>
            <a:ext cx="5862502" cy="707886"/>
          </a:xfrm>
          <a:prstGeom prst="rect">
            <a:avLst/>
          </a:prstGeom>
          <a:noFill/>
        </p:spPr>
        <p:txBody>
          <a:bodyPr wrap="none" rtlCol="0">
            <a:spAutoFit/>
          </a:bodyPr>
          <a:lstStyle/>
          <a:p>
            <a:pPr algn="ctr"/>
            <a:r>
              <a:rPr lang="en-US" sz="4000" dirty="0">
                <a:latin typeface="Montserrat ExtraBold" panose="00000900000000000000" pitchFamily="50" charset="0"/>
              </a:rPr>
              <a:t>TRITUNGGAL </a:t>
            </a:r>
            <a:r>
              <a:rPr lang="en-US" sz="4000" dirty="0">
                <a:solidFill>
                  <a:srgbClr val="C00000"/>
                </a:solidFill>
                <a:latin typeface="Montserrat ExtraBold" panose="00000900000000000000" pitchFamily="50" charset="0"/>
              </a:rPr>
              <a:t>BUKAN</a:t>
            </a:r>
          </a:p>
        </p:txBody>
      </p:sp>
      <p:sp>
        <p:nvSpPr>
          <p:cNvPr id="3" name="Rectangle 2">
            <a:extLst>
              <a:ext uri="{FF2B5EF4-FFF2-40B4-BE49-F238E27FC236}">
                <a16:creationId xmlns:a16="http://schemas.microsoft.com/office/drawing/2014/main" id="{01446751-B18E-4AE9-B016-07C45689ED6D}"/>
              </a:ext>
            </a:extLst>
          </p:cNvPr>
          <p:cNvSpPr/>
          <p:nvPr/>
        </p:nvSpPr>
        <p:spPr>
          <a:xfrm>
            <a:off x="649357" y="1948070"/>
            <a:ext cx="2676939"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Monoteisme</a:t>
            </a:r>
            <a:r>
              <a:rPr lang="en-US" sz="2000" dirty="0">
                <a:solidFill>
                  <a:schemeClr val="bg1"/>
                </a:solidFill>
                <a:latin typeface="Montserrat ExtraBold" panose="00000900000000000000" pitchFamily="50" charset="0"/>
              </a:rPr>
              <a:t> Tauhid</a:t>
            </a:r>
          </a:p>
        </p:txBody>
      </p:sp>
      <p:sp>
        <p:nvSpPr>
          <p:cNvPr id="9" name="Rectangle 8">
            <a:extLst>
              <a:ext uri="{FF2B5EF4-FFF2-40B4-BE49-F238E27FC236}">
                <a16:creationId xmlns:a16="http://schemas.microsoft.com/office/drawing/2014/main" id="{8DF49B87-A411-47BF-B6DF-96CBC8596E4F}"/>
              </a:ext>
            </a:extLst>
          </p:cNvPr>
          <p:cNvSpPr/>
          <p:nvPr/>
        </p:nvSpPr>
        <p:spPr>
          <a:xfrm>
            <a:off x="649357" y="3538331"/>
            <a:ext cx="2676939"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Triteisme</a:t>
            </a:r>
            <a:endParaRPr lang="en-US" sz="2000" dirty="0">
              <a:solidFill>
                <a:schemeClr val="bg1"/>
              </a:solidFill>
              <a:latin typeface="Montserrat ExtraBold" panose="00000900000000000000" pitchFamily="50" charset="0"/>
            </a:endParaRPr>
          </a:p>
        </p:txBody>
      </p:sp>
      <p:sp>
        <p:nvSpPr>
          <p:cNvPr id="10" name="Rectangle 9">
            <a:extLst>
              <a:ext uri="{FF2B5EF4-FFF2-40B4-BE49-F238E27FC236}">
                <a16:creationId xmlns:a16="http://schemas.microsoft.com/office/drawing/2014/main" id="{FEC1F4D4-8941-4CE9-BA33-86EBE11278F6}"/>
              </a:ext>
            </a:extLst>
          </p:cNvPr>
          <p:cNvSpPr/>
          <p:nvPr/>
        </p:nvSpPr>
        <p:spPr>
          <a:xfrm>
            <a:off x="8660295" y="1948070"/>
            <a:ext cx="2676939"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Politeisme</a:t>
            </a:r>
            <a:endParaRPr lang="en-US" sz="2000" dirty="0">
              <a:solidFill>
                <a:schemeClr val="bg1"/>
              </a:solidFill>
              <a:latin typeface="Montserrat ExtraBold" panose="00000900000000000000" pitchFamily="50" charset="0"/>
            </a:endParaRPr>
          </a:p>
        </p:txBody>
      </p:sp>
      <p:sp>
        <p:nvSpPr>
          <p:cNvPr id="12" name="Rectangle 11">
            <a:extLst>
              <a:ext uri="{FF2B5EF4-FFF2-40B4-BE49-F238E27FC236}">
                <a16:creationId xmlns:a16="http://schemas.microsoft.com/office/drawing/2014/main" id="{02067191-5734-4B6A-B288-F3F17E468C9A}"/>
              </a:ext>
            </a:extLst>
          </p:cNvPr>
          <p:cNvSpPr/>
          <p:nvPr/>
        </p:nvSpPr>
        <p:spPr>
          <a:xfrm>
            <a:off x="8660295" y="3538331"/>
            <a:ext cx="2676939" cy="9144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latin typeface="Montserrat ExtraBold" panose="00000900000000000000" pitchFamily="50" charset="0"/>
              </a:rPr>
              <a:t>Henoteisme</a:t>
            </a:r>
            <a:endParaRPr lang="en-US" sz="2000" dirty="0">
              <a:solidFill>
                <a:schemeClr val="bg1"/>
              </a:solidFill>
              <a:latin typeface="Montserrat ExtraBold" panose="00000900000000000000" pitchFamily="50" charset="0"/>
            </a:endParaRPr>
          </a:p>
        </p:txBody>
      </p:sp>
    </p:spTree>
    <p:extLst>
      <p:ext uri="{BB962C8B-B14F-4D97-AF65-F5344CB8AC3E}">
        <p14:creationId xmlns:p14="http://schemas.microsoft.com/office/powerpoint/2010/main" val="2328900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4E24FF-7B28-4C3D-B59A-0B49B3886B39}"/>
              </a:ext>
            </a:extLst>
          </p:cNvPr>
          <p:cNvSpPr/>
          <p:nvPr/>
        </p:nvSpPr>
        <p:spPr>
          <a:xfrm>
            <a:off x="0" y="0"/>
            <a:ext cx="5469746"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03A1314-C905-4206-9335-D04321A71FA8}"/>
              </a:ext>
            </a:extLst>
          </p:cNvPr>
          <p:cNvSpPr/>
          <p:nvPr/>
        </p:nvSpPr>
        <p:spPr>
          <a:xfrm>
            <a:off x="5486401" y="0"/>
            <a:ext cx="6705598"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Education People Reading Books Study Concept,University Students Open Books  in Home Stock Photo - Image of cheerful, novel: 141063064">
            <a:extLst>
              <a:ext uri="{FF2B5EF4-FFF2-40B4-BE49-F238E27FC236}">
                <a16:creationId xmlns:a16="http://schemas.microsoft.com/office/drawing/2014/main" id="{A3214DC5-5ABD-4E4B-85E0-DDEDCB1BDB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174"/>
          <a:stretch/>
        </p:blipFill>
        <p:spPr bwMode="auto">
          <a:xfrm>
            <a:off x="0" y="1501723"/>
            <a:ext cx="5996290" cy="435064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A4087D9-C208-4896-ADB5-79DA2E906126}"/>
              </a:ext>
            </a:extLst>
          </p:cNvPr>
          <p:cNvSpPr/>
          <p:nvPr/>
        </p:nvSpPr>
        <p:spPr>
          <a:xfrm>
            <a:off x="331305" y="0"/>
            <a:ext cx="927652" cy="19613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C1DA25-4D4F-4FE9-9ADE-9205472E2730}"/>
              </a:ext>
            </a:extLst>
          </p:cNvPr>
          <p:cNvSpPr/>
          <p:nvPr/>
        </p:nvSpPr>
        <p:spPr>
          <a:xfrm>
            <a:off x="4707675" y="4896677"/>
            <a:ext cx="927652" cy="196132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CFAAA8C-92B0-45EC-A6F9-4D8E2C37F8A2}"/>
              </a:ext>
            </a:extLst>
          </p:cNvPr>
          <p:cNvSpPr txBox="1"/>
          <p:nvPr/>
        </p:nvSpPr>
        <p:spPr>
          <a:xfrm>
            <a:off x="6828540" y="-492320"/>
            <a:ext cx="4382931" cy="8063746"/>
          </a:xfrm>
          <a:prstGeom prst="rect">
            <a:avLst/>
          </a:prstGeom>
          <a:noFill/>
        </p:spPr>
        <p:txBody>
          <a:bodyPr wrap="none" rtlCol="0">
            <a:spAutoFit/>
          </a:bodyPr>
          <a:lstStyle/>
          <a:p>
            <a:pPr algn="ctr"/>
            <a:r>
              <a:rPr lang="en-US" sz="51800" dirty="0">
                <a:solidFill>
                  <a:srgbClr val="C00000"/>
                </a:solidFill>
                <a:latin typeface="Montserrat ExtraBold" panose="00000900000000000000" pitchFamily="50" charset="0"/>
              </a:rPr>
              <a:t>7</a:t>
            </a:r>
          </a:p>
        </p:txBody>
      </p:sp>
      <p:sp>
        <p:nvSpPr>
          <p:cNvPr id="4" name="TextBox 3">
            <a:extLst>
              <a:ext uri="{FF2B5EF4-FFF2-40B4-BE49-F238E27FC236}">
                <a16:creationId xmlns:a16="http://schemas.microsoft.com/office/drawing/2014/main" id="{37D89654-9A1C-48A4-B0C4-C501E6078B7A}"/>
              </a:ext>
            </a:extLst>
          </p:cNvPr>
          <p:cNvSpPr txBox="1"/>
          <p:nvPr/>
        </p:nvSpPr>
        <p:spPr>
          <a:xfrm>
            <a:off x="6775016" y="2822713"/>
            <a:ext cx="4419800" cy="2308324"/>
          </a:xfrm>
          <a:prstGeom prst="rect">
            <a:avLst/>
          </a:prstGeom>
          <a:noFill/>
        </p:spPr>
        <p:txBody>
          <a:bodyPr wrap="none" rtlCol="0">
            <a:spAutoFit/>
          </a:bodyPr>
          <a:lstStyle/>
          <a:p>
            <a:pPr algn="ctr"/>
            <a:r>
              <a:rPr lang="en-US" sz="4800" dirty="0">
                <a:solidFill>
                  <a:schemeClr val="bg1"/>
                </a:solidFill>
                <a:latin typeface="Montserrat ExtraBold" panose="00000900000000000000" pitchFamily="50" charset="0"/>
              </a:rPr>
              <a:t>ALASAN</a:t>
            </a:r>
          </a:p>
          <a:p>
            <a:pPr algn="ctr"/>
            <a:r>
              <a:rPr lang="en-US" sz="4800" dirty="0">
                <a:solidFill>
                  <a:schemeClr val="bg1"/>
                </a:solidFill>
                <a:latin typeface="Montserrat ExtraBold" panose="00000900000000000000" pitchFamily="50" charset="0"/>
              </a:rPr>
              <a:t>BELAJAR</a:t>
            </a:r>
          </a:p>
          <a:p>
            <a:pPr algn="ctr"/>
            <a:r>
              <a:rPr lang="en-US" sz="4800" dirty="0">
                <a:solidFill>
                  <a:schemeClr val="bg1"/>
                </a:solidFill>
                <a:latin typeface="Montserrat ExtraBold" panose="00000900000000000000" pitchFamily="50" charset="0"/>
              </a:rPr>
              <a:t>TRITUNGGAL</a:t>
            </a:r>
          </a:p>
        </p:txBody>
      </p:sp>
      <p:pic>
        <p:nvPicPr>
          <p:cNvPr id="15" name="Picture 14">
            <a:extLst>
              <a:ext uri="{FF2B5EF4-FFF2-40B4-BE49-F238E27FC236}">
                <a16:creationId xmlns:a16="http://schemas.microsoft.com/office/drawing/2014/main" id="{7F0D9E0D-8142-47A0-9853-24BA88D2BB84}"/>
              </a:ext>
            </a:extLst>
          </p:cNvPr>
          <p:cNvPicPr>
            <a:picLocks noChangeAspect="1"/>
          </p:cNvPicPr>
          <p:nvPr/>
        </p:nvPicPr>
        <p:blipFill rotWithShape="1">
          <a:blip r:embed="rId3"/>
          <a:srcRect l="47772"/>
          <a:stretch/>
        </p:blipFill>
        <p:spPr>
          <a:xfrm>
            <a:off x="5486401" y="1"/>
            <a:ext cx="6705599" cy="6857999"/>
          </a:xfrm>
          <a:prstGeom prst="rect">
            <a:avLst/>
          </a:prstGeom>
        </p:spPr>
      </p:pic>
    </p:spTree>
    <p:extLst>
      <p:ext uri="{BB962C8B-B14F-4D97-AF65-F5344CB8AC3E}">
        <p14:creationId xmlns:p14="http://schemas.microsoft.com/office/powerpoint/2010/main" val="3412286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30EA89-CB17-423F-AE5C-498540E8AFCC}"/>
              </a:ext>
            </a:extLst>
          </p:cNvPr>
          <p:cNvSpPr/>
          <p:nvPr/>
        </p:nvSpPr>
        <p:spPr>
          <a:xfrm>
            <a:off x="0" y="-1208806"/>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3094996-5EBF-48AE-B67C-8062A87EAC1A}"/>
              </a:ext>
            </a:extLst>
          </p:cNvPr>
          <p:cNvSpPr/>
          <p:nvPr/>
        </p:nvSpPr>
        <p:spPr>
          <a:xfrm>
            <a:off x="1897036" y="0"/>
            <a:ext cx="996287" cy="234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A2A3B32-C786-4C4B-BBA8-DDCAB028E486}"/>
              </a:ext>
            </a:extLst>
          </p:cNvPr>
          <p:cNvSpPr/>
          <p:nvPr/>
        </p:nvSpPr>
        <p:spPr>
          <a:xfrm>
            <a:off x="8620265" y="1797422"/>
            <a:ext cx="2372139" cy="119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B1A68C8-F354-42A6-87D7-254B56672CA6}"/>
              </a:ext>
            </a:extLst>
          </p:cNvPr>
          <p:cNvSpPr txBox="1"/>
          <p:nvPr/>
        </p:nvSpPr>
        <p:spPr>
          <a:xfrm>
            <a:off x="6069317" y="382998"/>
            <a:ext cx="5101896" cy="954107"/>
          </a:xfrm>
          <a:prstGeom prst="rect">
            <a:avLst/>
          </a:prstGeom>
          <a:noFill/>
        </p:spPr>
        <p:txBody>
          <a:bodyPr wrap="square">
            <a:spAutoFit/>
          </a:bodyPr>
          <a:lstStyle/>
          <a:p>
            <a:pPr algn="r"/>
            <a:r>
              <a:rPr lang="en-US" sz="2800" dirty="0">
                <a:solidFill>
                  <a:schemeClr val="tx1">
                    <a:lumMod val="75000"/>
                    <a:lumOff val="25000"/>
                  </a:schemeClr>
                </a:solidFill>
                <a:latin typeface="Montserrat ExtraBold" panose="00000900000000000000" pitchFamily="50" charset="0"/>
              </a:rPr>
              <a:t>Banyak orang Kristen yang </a:t>
            </a:r>
            <a:r>
              <a:rPr lang="en-US" sz="2800" dirty="0" err="1">
                <a:solidFill>
                  <a:srgbClr val="C00000"/>
                </a:solidFill>
                <a:latin typeface="Montserrat ExtraBold" panose="00000900000000000000" pitchFamily="50" charset="0"/>
              </a:rPr>
              <a:t>tidak</a:t>
            </a:r>
            <a:r>
              <a:rPr lang="en-US" sz="2800" dirty="0">
                <a:solidFill>
                  <a:srgbClr val="C00000"/>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tahu</a:t>
            </a:r>
            <a:r>
              <a:rPr lang="en-US" sz="2800" dirty="0">
                <a:solidFill>
                  <a:srgbClr val="C00000"/>
                </a:solidFill>
                <a:latin typeface="Montserrat ExtraBold" panose="00000900000000000000" pitchFamily="50" charset="0"/>
              </a:rPr>
              <a:t>. </a:t>
            </a:r>
          </a:p>
        </p:txBody>
      </p:sp>
      <p:pic>
        <p:nvPicPr>
          <p:cNvPr id="8" name="Picture 2" descr="Education People Reading Books Study Concept,University Students Open Books  in Home Stock Photo - Image of cheerful, novel: 141063064">
            <a:extLst>
              <a:ext uri="{FF2B5EF4-FFF2-40B4-BE49-F238E27FC236}">
                <a16:creationId xmlns:a16="http://schemas.microsoft.com/office/drawing/2014/main" id="{1C36B4CD-D436-4F4C-8053-27337970BCA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59797"/>
          <a:stretch/>
        </p:blipFill>
        <p:spPr bwMode="auto">
          <a:xfrm>
            <a:off x="1082534" y="2035051"/>
            <a:ext cx="2625293" cy="4350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F0E4E-9C76-471B-B703-D776A736129C}"/>
              </a:ext>
            </a:extLst>
          </p:cNvPr>
          <p:cNvSpPr txBox="1"/>
          <p:nvPr/>
        </p:nvSpPr>
        <p:spPr>
          <a:xfrm>
            <a:off x="1999126" y="1208806"/>
            <a:ext cx="744114" cy="707886"/>
          </a:xfrm>
          <a:prstGeom prst="rect">
            <a:avLst/>
          </a:prstGeom>
          <a:noFill/>
        </p:spPr>
        <p:txBody>
          <a:bodyPr wrap="none" rtlCol="0">
            <a:spAutoFit/>
          </a:bodyPr>
          <a:lstStyle/>
          <a:p>
            <a:pPr algn="ctr"/>
            <a:r>
              <a:rPr lang="en-US" sz="4000" dirty="0">
                <a:solidFill>
                  <a:schemeClr val="bg1">
                    <a:lumMod val="95000"/>
                  </a:schemeClr>
                </a:solidFill>
                <a:latin typeface="Montserrat ExtraBold" panose="00000900000000000000" pitchFamily="50" charset="0"/>
              </a:rPr>
              <a:t>01</a:t>
            </a:r>
          </a:p>
        </p:txBody>
      </p:sp>
      <p:sp>
        <p:nvSpPr>
          <p:cNvPr id="11" name="TextBox 10">
            <a:extLst>
              <a:ext uri="{FF2B5EF4-FFF2-40B4-BE49-F238E27FC236}">
                <a16:creationId xmlns:a16="http://schemas.microsoft.com/office/drawing/2014/main" id="{B260CD29-C0FF-46E5-9357-2F03653983AD}"/>
              </a:ext>
            </a:extLst>
          </p:cNvPr>
          <p:cNvSpPr txBox="1"/>
          <p:nvPr/>
        </p:nvSpPr>
        <p:spPr>
          <a:xfrm>
            <a:off x="3876152" y="2220194"/>
            <a:ext cx="7233314" cy="4524315"/>
          </a:xfrm>
          <a:prstGeom prst="rect">
            <a:avLst/>
          </a:prstGeom>
          <a:noFill/>
        </p:spPr>
        <p:txBody>
          <a:bodyPr wrap="square">
            <a:spAutoFit/>
          </a:bodyPr>
          <a:lstStyle/>
          <a:p>
            <a:pPr algn="r"/>
            <a:r>
              <a:rPr lang="en-US" sz="1800" b="1" dirty="0">
                <a:solidFill>
                  <a:srgbClr val="C00000"/>
                </a:solidFill>
                <a:latin typeface="Montserrat" panose="00000500000000000000" pitchFamily="50" charset="0"/>
              </a:rPr>
              <a:t>Karl </a:t>
            </a:r>
            <a:r>
              <a:rPr lang="en-US" sz="1800" b="1" dirty="0" err="1">
                <a:solidFill>
                  <a:srgbClr val="C00000"/>
                </a:solidFill>
                <a:latin typeface="Montserrat" panose="00000500000000000000" pitchFamily="50" charset="0"/>
              </a:rPr>
              <a:t>Rahner</a:t>
            </a:r>
            <a:endParaRPr lang="en-US" sz="1800" b="1" dirty="0">
              <a:solidFill>
                <a:srgbClr val="C00000"/>
              </a:solidFill>
              <a:latin typeface="Montserrat" panose="00000500000000000000" pitchFamily="50" charset="0"/>
            </a:endParaRPr>
          </a:p>
          <a:p>
            <a:pPr algn="r"/>
            <a:r>
              <a:rPr lang="en-US" sz="2400" dirty="0">
                <a:latin typeface="Montserrat" panose="00000500000000000000" pitchFamily="50" charset="0"/>
              </a:rPr>
              <a:t>"Despite their orthodox confession of the Trinity, Christians are, in their practical life, almost mere monotheists“ (</a:t>
            </a:r>
            <a:r>
              <a:rPr lang="en-US" sz="2400" i="1" dirty="0">
                <a:latin typeface="Montserrat" panose="00000500000000000000" pitchFamily="50" charset="0"/>
              </a:rPr>
              <a:t>The Trinity</a:t>
            </a:r>
            <a:r>
              <a:rPr lang="en-US" sz="2400" dirty="0">
                <a:latin typeface="Montserrat" panose="00000500000000000000" pitchFamily="50" charset="0"/>
              </a:rPr>
              <a:t>, 10)</a:t>
            </a:r>
          </a:p>
          <a:p>
            <a:pPr algn="r"/>
            <a:endParaRPr lang="en-US" dirty="0">
              <a:latin typeface="Montserrat" panose="00000500000000000000" pitchFamily="50" charset="0"/>
            </a:endParaRPr>
          </a:p>
          <a:p>
            <a:pPr algn="r"/>
            <a:r>
              <a:rPr lang="en-US" sz="1800" b="1" dirty="0">
                <a:solidFill>
                  <a:srgbClr val="C00000"/>
                </a:solidFill>
                <a:latin typeface="Montserrat" panose="00000500000000000000" pitchFamily="50" charset="0"/>
              </a:rPr>
              <a:t>Roderick T. </a:t>
            </a:r>
            <a:r>
              <a:rPr lang="en-US" sz="1800" b="1" dirty="0" err="1">
                <a:solidFill>
                  <a:srgbClr val="C00000"/>
                </a:solidFill>
                <a:latin typeface="Montserrat" panose="00000500000000000000" pitchFamily="50" charset="0"/>
              </a:rPr>
              <a:t>Leupp</a:t>
            </a:r>
            <a:r>
              <a:rPr lang="en-US" sz="1800" b="1" dirty="0">
                <a:solidFill>
                  <a:srgbClr val="C00000"/>
                </a:solidFill>
                <a:latin typeface="Montserrat" panose="00000500000000000000" pitchFamily="50" charset="0"/>
              </a:rPr>
              <a:t>:</a:t>
            </a:r>
          </a:p>
          <a:p>
            <a:pPr algn="r"/>
            <a:r>
              <a:rPr lang="en-US" sz="2400" dirty="0">
                <a:latin typeface="Montserrat" panose="00000500000000000000" pitchFamily="50" charset="0"/>
              </a:rPr>
              <a:t>“For most people and, sadly, for most Christians also, the Trinity is </a:t>
            </a:r>
            <a:r>
              <a:rPr lang="en-US" sz="2400" b="1" dirty="0">
                <a:latin typeface="Montserrat" panose="00000500000000000000" pitchFamily="50" charset="0"/>
              </a:rPr>
              <a:t>the great unknown</a:t>
            </a:r>
            <a:r>
              <a:rPr lang="en-US" sz="2400" dirty="0">
                <a:latin typeface="Montserrat" panose="00000500000000000000" pitchFamily="50" charset="0"/>
              </a:rPr>
              <a:t>. The Trinity, to use a familiar equation, is viewed as a </a:t>
            </a:r>
            <a:r>
              <a:rPr lang="en-US" sz="2400" b="1" dirty="0">
                <a:latin typeface="Montserrat" panose="00000500000000000000" pitchFamily="50" charset="0"/>
              </a:rPr>
              <a:t>riddle</a:t>
            </a:r>
            <a:r>
              <a:rPr lang="en-US" sz="2400" dirty="0">
                <a:latin typeface="Montserrat" panose="00000500000000000000" pitchFamily="50" charset="0"/>
              </a:rPr>
              <a:t> wrapped up inside a </a:t>
            </a:r>
            <a:r>
              <a:rPr lang="en-US" sz="2400" b="1" dirty="0">
                <a:latin typeface="Montserrat" panose="00000500000000000000" pitchFamily="50" charset="0"/>
              </a:rPr>
              <a:t>puzzle</a:t>
            </a:r>
            <a:r>
              <a:rPr lang="en-US" sz="2400" dirty="0">
                <a:latin typeface="Montserrat" panose="00000500000000000000" pitchFamily="50" charset="0"/>
              </a:rPr>
              <a:t> and buried in an </a:t>
            </a:r>
            <a:r>
              <a:rPr lang="en-US" sz="2400" b="1" dirty="0">
                <a:latin typeface="Montserrat" panose="00000500000000000000" pitchFamily="50" charset="0"/>
              </a:rPr>
              <a:t>enigma</a:t>
            </a:r>
            <a:r>
              <a:rPr lang="en-US" sz="2400" dirty="0">
                <a:latin typeface="Montserrat" panose="00000500000000000000" pitchFamily="50" charset="0"/>
              </a:rPr>
              <a:t>” (</a:t>
            </a:r>
            <a:r>
              <a:rPr lang="en-US" sz="2400" i="1" dirty="0">
                <a:latin typeface="Montserrat" panose="00000500000000000000" pitchFamily="50" charset="0"/>
              </a:rPr>
              <a:t>Knowing the Name of God, </a:t>
            </a:r>
            <a:r>
              <a:rPr lang="en-US" sz="2400" dirty="0">
                <a:latin typeface="Montserrat" panose="00000500000000000000" pitchFamily="50" charset="0"/>
              </a:rPr>
              <a:t>29)</a:t>
            </a:r>
            <a:endParaRPr lang="id-ID" sz="2400" dirty="0">
              <a:latin typeface="Montserrat" panose="00000500000000000000" pitchFamily="50" charset="0"/>
            </a:endParaRPr>
          </a:p>
          <a:p>
            <a:pPr algn="r"/>
            <a:endParaRPr lang="id-ID" sz="1800" dirty="0">
              <a:latin typeface="Montserrat" panose="00000500000000000000" pitchFamily="50" charset="0"/>
            </a:endParaRPr>
          </a:p>
        </p:txBody>
      </p:sp>
    </p:spTree>
    <p:extLst>
      <p:ext uri="{BB962C8B-B14F-4D97-AF65-F5344CB8AC3E}">
        <p14:creationId xmlns:p14="http://schemas.microsoft.com/office/powerpoint/2010/main" val="1042838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30EA89-CB17-423F-AE5C-498540E8AFCC}"/>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3094996-5EBF-48AE-B67C-8062A87EAC1A}"/>
              </a:ext>
            </a:extLst>
          </p:cNvPr>
          <p:cNvSpPr/>
          <p:nvPr/>
        </p:nvSpPr>
        <p:spPr>
          <a:xfrm>
            <a:off x="1897036" y="0"/>
            <a:ext cx="996287" cy="234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A2A3B32-C786-4C4B-BBA8-DDCAB028E486}"/>
              </a:ext>
            </a:extLst>
          </p:cNvPr>
          <p:cNvSpPr/>
          <p:nvPr/>
        </p:nvSpPr>
        <p:spPr>
          <a:xfrm>
            <a:off x="8490611" y="3124971"/>
            <a:ext cx="2372139" cy="119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B1A68C8-F354-42A6-87D7-254B56672CA6}"/>
              </a:ext>
            </a:extLst>
          </p:cNvPr>
          <p:cNvSpPr txBox="1"/>
          <p:nvPr/>
        </p:nvSpPr>
        <p:spPr>
          <a:xfrm>
            <a:off x="5812653" y="1916692"/>
            <a:ext cx="5101896" cy="954107"/>
          </a:xfrm>
          <a:prstGeom prst="rect">
            <a:avLst/>
          </a:prstGeom>
          <a:noFill/>
        </p:spPr>
        <p:txBody>
          <a:bodyPr wrap="square">
            <a:spAutoFit/>
          </a:bodyPr>
          <a:lstStyle/>
          <a:p>
            <a:pPr algn="r"/>
            <a:r>
              <a:rPr lang="en-US" sz="2800" dirty="0">
                <a:solidFill>
                  <a:schemeClr val="tx1">
                    <a:lumMod val="75000"/>
                    <a:lumOff val="25000"/>
                  </a:schemeClr>
                </a:solidFill>
                <a:latin typeface="Montserrat ExtraBold" panose="00000900000000000000" pitchFamily="50" charset="0"/>
              </a:rPr>
              <a:t>Banyak orang Kristen yang </a:t>
            </a:r>
            <a:r>
              <a:rPr lang="en-US" sz="2800" dirty="0">
                <a:solidFill>
                  <a:srgbClr val="C00000"/>
                </a:solidFill>
                <a:latin typeface="Montserrat ExtraBold" panose="00000900000000000000" pitchFamily="50" charset="0"/>
              </a:rPr>
              <a:t>salah </a:t>
            </a:r>
            <a:r>
              <a:rPr lang="en-US" sz="2800" dirty="0" err="1">
                <a:solidFill>
                  <a:srgbClr val="C00000"/>
                </a:solidFill>
                <a:latin typeface="Montserrat ExtraBold" panose="00000900000000000000" pitchFamily="50" charset="0"/>
              </a:rPr>
              <a:t>paham</a:t>
            </a:r>
            <a:r>
              <a:rPr lang="en-US" sz="2800" dirty="0">
                <a:solidFill>
                  <a:srgbClr val="C00000"/>
                </a:solidFill>
                <a:latin typeface="Montserrat ExtraBold" panose="00000900000000000000" pitchFamily="50" charset="0"/>
              </a:rPr>
              <a:t>. </a:t>
            </a:r>
          </a:p>
        </p:txBody>
      </p:sp>
      <p:pic>
        <p:nvPicPr>
          <p:cNvPr id="8" name="Picture 2" descr="Education People Reading Books Study Concept,University Students Open Books  in Home Stock Photo - Image of cheerful, novel: 141063064">
            <a:extLst>
              <a:ext uri="{FF2B5EF4-FFF2-40B4-BE49-F238E27FC236}">
                <a16:creationId xmlns:a16="http://schemas.microsoft.com/office/drawing/2014/main" id="{1C36B4CD-D436-4F4C-8053-27337970BCA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59797"/>
          <a:stretch/>
        </p:blipFill>
        <p:spPr bwMode="auto">
          <a:xfrm>
            <a:off x="1082534" y="2035051"/>
            <a:ext cx="2625293" cy="4350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F0E4E-9C76-471B-B703-D776A736129C}"/>
              </a:ext>
            </a:extLst>
          </p:cNvPr>
          <p:cNvSpPr txBox="1"/>
          <p:nvPr/>
        </p:nvSpPr>
        <p:spPr>
          <a:xfrm>
            <a:off x="1949433" y="1208806"/>
            <a:ext cx="843501" cy="707886"/>
          </a:xfrm>
          <a:prstGeom prst="rect">
            <a:avLst/>
          </a:prstGeom>
          <a:noFill/>
        </p:spPr>
        <p:txBody>
          <a:bodyPr wrap="none" rtlCol="0">
            <a:spAutoFit/>
          </a:bodyPr>
          <a:lstStyle/>
          <a:p>
            <a:pPr algn="ctr"/>
            <a:r>
              <a:rPr lang="en-US" sz="4000" dirty="0">
                <a:solidFill>
                  <a:schemeClr val="bg1">
                    <a:lumMod val="95000"/>
                  </a:schemeClr>
                </a:solidFill>
                <a:latin typeface="Montserrat ExtraBold" panose="00000900000000000000" pitchFamily="50" charset="0"/>
              </a:rPr>
              <a:t>02</a:t>
            </a:r>
          </a:p>
        </p:txBody>
      </p:sp>
      <p:sp>
        <p:nvSpPr>
          <p:cNvPr id="11" name="TextBox 10">
            <a:extLst>
              <a:ext uri="{FF2B5EF4-FFF2-40B4-BE49-F238E27FC236}">
                <a16:creationId xmlns:a16="http://schemas.microsoft.com/office/drawing/2014/main" id="{B260CD29-C0FF-46E5-9357-2F03653983AD}"/>
              </a:ext>
            </a:extLst>
          </p:cNvPr>
          <p:cNvSpPr txBox="1"/>
          <p:nvPr/>
        </p:nvSpPr>
        <p:spPr>
          <a:xfrm>
            <a:off x="4170773" y="3719987"/>
            <a:ext cx="6743776" cy="2954655"/>
          </a:xfrm>
          <a:prstGeom prst="rect">
            <a:avLst/>
          </a:prstGeom>
          <a:noFill/>
        </p:spPr>
        <p:txBody>
          <a:bodyPr wrap="square">
            <a:spAutoFit/>
          </a:bodyPr>
          <a:lstStyle/>
          <a:p>
            <a:pPr algn="r"/>
            <a:r>
              <a:rPr lang="en-US" sz="2400" dirty="0">
                <a:latin typeface="Montserrat" panose="00000500000000000000" pitchFamily="50" charset="0"/>
              </a:rPr>
              <a:t>Abba, </a:t>
            </a:r>
            <a:r>
              <a:rPr lang="en-US" sz="2400" dirty="0" err="1">
                <a:latin typeface="Montserrat" panose="00000500000000000000" pitchFamily="50" charset="0"/>
              </a:rPr>
              <a:t>kupanggil</a:t>
            </a:r>
            <a:r>
              <a:rPr lang="en-US" sz="2400" dirty="0">
                <a:latin typeface="Montserrat" panose="00000500000000000000" pitchFamily="50" charset="0"/>
              </a:rPr>
              <a:t> </a:t>
            </a:r>
            <a:r>
              <a:rPr lang="en-US" sz="2400" dirty="0" err="1">
                <a:latin typeface="Montserrat" panose="00000500000000000000" pitchFamily="50" charset="0"/>
              </a:rPr>
              <a:t>Engkau</a:t>
            </a:r>
            <a:r>
              <a:rPr lang="en-US" sz="2400" dirty="0">
                <a:latin typeface="Montserrat" panose="00000500000000000000" pitchFamily="50" charset="0"/>
              </a:rPr>
              <a:t> </a:t>
            </a:r>
            <a:r>
              <a:rPr lang="en-US" sz="2400" dirty="0" err="1">
                <a:latin typeface="Montserrat" panose="00000500000000000000" pitchFamily="50" charset="0"/>
              </a:rPr>
              <a:t>ya</a:t>
            </a:r>
            <a:r>
              <a:rPr lang="en-US" sz="2400" dirty="0">
                <a:latin typeface="Montserrat" panose="00000500000000000000" pitchFamily="50" charset="0"/>
              </a:rPr>
              <a:t> </a:t>
            </a:r>
            <a:r>
              <a:rPr lang="en-US" sz="2400" dirty="0" err="1">
                <a:latin typeface="Montserrat" panose="00000500000000000000" pitchFamily="50" charset="0"/>
              </a:rPr>
              <a:t>Bapa</a:t>
            </a:r>
            <a:r>
              <a:rPr lang="en-US" sz="2400" dirty="0">
                <a:latin typeface="Montserrat" panose="00000500000000000000" pitchFamily="50" charset="0"/>
              </a:rPr>
              <a:t>,</a:t>
            </a:r>
          </a:p>
          <a:p>
            <a:pPr algn="r"/>
            <a:r>
              <a:rPr lang="en-US" sz="2400" dirty="0">
                <a:latin typeface="Montserrat" panose="00000500000000000000" pitchFamily="50" charset="0"/>
              </a:rPr>
              <a:t>…</a:t>
            </a:r>
            <a:r>
              <a:rPr lang="en-US" sz="2400" b="1" dirty="0" err="1">
                <a:solidFill>
                  <a:schemeClr val="tx2">
                    <a:lumMod val="75000"/>
                  </a:schemeClr>
                </a:solidFill>
                <a:latin typeface="Montserrat" panose="00000500000000000000" pitchFamily="50" charset="0"/>
              </a:rPr>
              <a:t>Memanggil</a:t>
            </a:r>
            <a:r>
              <a:rPr lang="en-US" sz="2400" b="1" dirty="0">
                <a:solidFill>
                  <a:schemeClr val="tx2">
                    <a:lumMod val="75000"/>
                  </a:schemeClr>
                </a:solidFill>
                <a:latin typeface="Montserrat" panose="00000500000000000000" pitchFamily="50" charset="0"/>
              </a:rPr>
              <a:t>-Mu </a:t>
            </a:r>
            <a:r>
              <a:rPr lang="en-US" sz="2400" b="1" dirty="0" err="1">
                <a:solidFill>
                  <a:schemeClr val="tx2">
                    <a:lumMod val="75000"/>
                  </a:schemeClr>
                </a:solidFill>
                <a:latin typeface="Montserrat" panose="00000500000000000000" pitchFamily="50" charset="0"/>
              </a:rPr>
              <a:t>Yesus</a:t>
            </a:r>
            <a:endParaRPr lang="id-ID" sz="2400" b="1" dirty="0">
              <a:solidFill>
                <a:schemeClr val="tx2">
                  <a:lumMod val="75000"/>
                </a:schemeClr>
              </a:solidFill>
              <a:latin typeface="Montserrat" panose="00000500000000000000" pitchFamily="50" charset="0"/>
            </a:endParaRPr>
          </a:p>
          <a:p>
            <a:pPr algn="r"/>
            <a:endParaRPr lang="en-US" sz="2400" dirty="0">
              <a:latin typeface="Montserrat" panose="00000500000000000000" pitchFamily="50" charset="0"/>
            </a:endParaRPr>
          </a:p>
          <a:p>
            <a:pPr algn="r"/>
            <a:endParaRPr lang="en-US" sz="2400" dirty="0">
              <a:latin typeface="Montserrat" panose="00000500000000000000" pitchFamily="50" charset="0"/>
            </a:endParaRPr>
          </a:p>
          <a:p>
            <a:pPr algn="r"/>
            <a:r>
              <a:rPr lang="en-US" sz="2400" dirty="0" err="1">
                <a:latin typeface="Montserrat" panose="00000500000000000000" pitchFamily="50" charset="0"/>
              </a:rPr>
              <a:t>Dalamnya</a:t>
            </a:r>
            <a:r>
              <a:rPr lang="en-US" sz="2400" dirty="0">
                <a:latin typeface="Montserrat" panose="00000500000000000000" pitchFamily="50" charset="0"/>
              </a:rPr>
              <a:t> </a:t>
            </a:r>
            <a:r>
              <a:rPr lang="en-US" sz="2400" dirty="0" err="1">
                <a:latin typeface="Montserrat" panose="00000500000000000000" pitchFamily="50" charset="0"/>
              </a:rPr>
              <a:t>kasih</a:t>
            </a:r>
            <a:r>
              <a:rPr lang="en-US" sz="2400" dirty="0">
                <a:latin typeface="Montserrat" panose="00000500000000000000" pitchFamily="50" charset="0"/>
              </a:rPr>
              <a:t>-Mu </a:t>
            </a:r>
            <a:r>
              <a:rPr lang="en-US" sz="2400" dirty="0" err="1">
                <a:latin typeface="Montserrat" panose="00000500000000000000" pitchFamily="50" charset="0"/>
              </a:rPr>
              <a:t>Bapa</a:t>
            </a:r>
            <a:endParaRPr lang="en-US" sz="2400" dirty="0">
              <a:latin typeface="Montserrat" panose="00000500000000000000" pitchFamily="50" charset="0"/>
            </a:endParaRPr>
          </a:p>
          <a:p>
            <a:pPr algn="r"/>
            <a:r>
              <a:rPr lang="en-US" sz="2400" dirty="0" err="1">
                <a:latin typeface="Montserrat" panose="00000500000000000000" pitchFamily="50" charset="0"/>
              </a:rPr>
              <a:t>Engkau</a:t>
            </a:r>
            <a:r>
              <a:rPr lang="en-US" sz="2400" dirty="0">
                <a:latin typeface="Montserrat" panose="00000500000000000000" pitchFamily="50" charset="0"/>
              </a:rPr>
              <a:t> </a:t>
            </a:r>
            <a:r>
              <a:rPr lang="en-US" sz="2400" dirty="0" err="1">
                <a:latin typeface="Montserrat" panose="00000500000000000000" pitchFamily="50" charset="0"/>
              </a:rPr>
              <a:t>kusembah</a:t>
            </a:r>
            <a:r>
              <a:rPr lang="en-US" sz="2400" dirty="0">
                <a:latin typeface="Montserrat" panose="00000500000000000000" pitchFamily="50" charset="0"/>
              </a:rPr>
              <a:t>, </a:t>
            </a:r>
            <a:r>
              <a:rPr lang="en-US" sz="2400" dirty="0" err="1">
                <a:latin typeface="Montserrat" panose="00000500000000000000" pitchFamily="50" charset="0"/>
              </a:rPr>
              <a:t>Bapa</a:t>
            </a:r>
            <a:r>
              <a:rPr lang="en-US" sz="2400" dirty="0">
                <a:latin typeface="Montserrat" panose="00000500000000000000" pitchFamily="50" charset="0"/>
              </a:rPr>
              <a:t> </a:t>
            </a:r>
            <a:r>
              <a:rPr lang="en-US" sz="2400" dirty="0" err="1">
                <a:latin typeface="Montserrat" panose="00000500000000000000" pitchFamily="50" charset="0"/>
              </a:rPr>
              <a:t>Mulia</a:t>
            </a:r>
            <a:endParaRPr lang="en-US" sz="2400" dirty="0">
              <a:latin typeface="Montserrat" panose="00000500000000000000" pitchFamily="50" charset="0"/>
            </a:endParaRPr>
          </a:p>
          <a:p>
            <a:pPr algn="r"/>
            <a:r>
              <a:rPr lang="en-US" sz="2400" b="1" dirty="0" err="1">
                <a:solidFill>
                  <a:schemeClr val="tx2">
                    <a:lumMod val="75000"/>
                  </a:schemeClr>
                </a:solidFill>
                <a:latin typeface="Montserrat" panose="00000500000000000000" pitchFamily="50" charset="0"/>
              </a:rPr>
              <a:t>Pulihkanku</a:t>
            </a:r>
            <a:r>
              <a:rPr lang="en-US" sz="2400" b="1" dirty="0">
                <a:solidFill>
                  <a:schemeClr val="tx2">
                    <a:lumMod val="75000"/>
                  </a:schemeClr>
                </a:solidFill>
                <a:latin typeface="Montserrat" panose="00000500000000000000" pitchFamily="50" charset="0"/>
              </a:rPr>
              <a:t> </a:t>
            </a:r>
            <a:r>
              <a:rPr lang="en-US" sz="2400" b="1" dirty="0" err="1">
                <a:solidFill>
                  <a:schemeClr val="tx2">
                    <a:lumMod val="75000"/>
                  </a:schemeClr>
                </a:solidFill>
                <a:latin typeface="Montserrat" panose="00000500000000000000" pitchFamily="50" charset="0"/>
              </a:rPr>
              <a:t>dengan</a:t>
            </a:r>
            <a:r>
              <a:rPr lang="en-US" sz="2400" b="1" dirty="0">
                <a:solidFill>
                  <a:schemeClr val="tx2">
                    <a:lumMod val="75000"/>
                  </a:schemeClr>
                </a:solidFill>
                <a:latin typeface="Montserrat" panose="00000500000000000000" pitchFamily="50" charset="0"/>
              </a:rPr>
              <a:t> </a:t>
            </a:r>
            <a:r>
              <a:rPr lang="en-US" sz="2400" b="1" dirty="0" err="1">
                <a:solidFill>
                  <a:schemeClr val="tx2">
                    <a:lumMod val="75000"/>
                  </a:schemeClr>
                </a:solidFill>
                <a:latin typeface="Montserrat" panose="00000500000000000000" pitchFamily="50" charset="0"/>
              </a:rPr>
              <a:t>darah</a:t>
            </a:r>
            <a:r>
              <a:rPr lang="en-US" sz="2400" b="1" dirty="0">
                <a:solidFill>
                  <a:schemeClr val="tx2">
                    <a:lumMod val="75000"/>
                  </a:schemeClr>
                </a:solidFill>
                <a:latin typeface="Montserrat" panose="00000500000000000000" pitchFamily="50" charset="0"/>
              </a:rPr>
              <a:t>-Mu</a:t>
            </a:r>
          </a:p>
          <a:p>
            <a:pPr algn="r"/>
            <a:endParaRPr lang="id-ID" sz="1800" dirty="0">
              <a:latin typeface="Montserrat" panose="00000500000000000000" pitchFamily="50" charset="0"/>
            </a:endParaRPr>
          </a:p>
        </p:txBody>
      </p:sp>
    </p:spTree>
    <p:extLst>
      <p:ext uri="{BB962C8B-B14F-4D97-AF65-F5344CB8AC3E}">
        <p14:creationId xmlns:p14="http://schemas.microsoft.com/office/powerpoint/2010/main" val="1108962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30EA89-CB17-423F-AE5C-498540E8AFCC}"/>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3094996-5EBF-48AE-B67C-8062A87EAC1A}"/>
              </a:ext>
            </a:extLst>
          </p:cNvPr>
          <p:cNvSpPr/>
          <p:nvPr/>
        </p:nvSpPr>
        <p:spPr>
          <a:xfrm>
            <a:off x="1897036" y="0"/>
            <a:ext cx="996287" cy="234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A2A3B32-C786-4C4B-BBA8-DDCAB028E486}"/>
              </a:ext>
            </a:extLst>
          </p:cNvPr>
          <p:cNvSpPr/>
          <p:nvPr/>
        </p:nvSpPr>
        <p:spPr>
          <a:xfrm>
            <a:off x="8409331" y="2034327"/>
            <a:ext cx="2372139" cy="119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B1A68C8-F354-42A6-87D7-254B56672CA6}"/>
              </a:ext>
            </a:extLst>
          </p:cNvPr>
          <p:cNvSpPr txBox="1"/>
          <p:nvPr/>
        </p:nvSpPr>
        <p:spPr>
          <a:xfrm>
            <a:off x="5760854" y="324666"/>
            <a:ext cx="5101896" cy="1384995"/>
          </a:xfrm>
          <a:prstGeom prst="rect">
            <a:avLst/>
          </a:prstGeom>
          <a:noFill/>
        </p:spPr>
        <p:txBody>
          <a:bodyPr wrap="square">
            <a:spAutoFit/>
          </a:bodyPr>
          <a:lstStyle/>
          <a:p>
            <a:pPr algn="r"/>
            <a:r>
              <a:rPr lang="en-US" sz="2800" dirty="0" err="1">
                <a:solidFill>
                  <a:schemeClr val="tx1">
                    <a:lumMod val="75000"/>
                    <a:lumOff val="25000"/>
                  </a:schemeClr>
                </a:solidFill>
                <a:latin typeface="Montserrat ExtraBold" panose="00000900000000000000" pitchFamily="50" charset="0"/>
              </a:rPr>
              <a:t>Doktrin</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ini</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sering</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dianggap</a:t>
            </a:r>
            <a:r>
              <a:rPr lang="en-US" sz="2800" dirty="0">
                <a:solidFill>
                  <a:schemeClr val="tx1">
                    <a:lumMod val="75000"/>
                    <a:lumOff val="25000"/>
                  </a:schemeClr>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tidak</a:t>
            </a:r>
            <a:r>
              <a:rPr lang="en-US" sz="2800" dirty="0">
                <a:solidFill>
                  <a:srgbClr val="C00000"/>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berfaedah</a:t>
            </a:r>
            <a:r>
              <a:rPr lang="en-US" sz="2800" dirty="0">
                <a:solidFill>
                  <a:srgbClr val="C00000"/>
                </a:solidFill>
                <a:latin typeface="Montserrat ExtraBold" panose="00000900000000000000" pitchFamily="50" charset="0"/>
              </a:rPr>
              <a:t>.</a:t>
            </a:r>
          </a:p>
        </p:txBody>
      </p:sp>
      <p:pic>
        <p:nvPicPr>
          <p:cNvPr id="8" name="Picture 2" descr="Education People Reading Books Study Concept,University Students Open Books  in Home Stock Photo - Image of cheerful, novel: 141063064">
            <a:extLst>
              <a:ext uri="{FF2B5EF4-FFF2-40B4-BE49-F238E27FC236}">
                <a16:creationId xmlns:a16="http://schemas.microsoft.com/office/drawing/2014/main" id="{1C36B4CD-D436-4F4C-8053-27337970BCA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59797"/>
          <a:stretch/>
        </p:blipFill>
        <p:spPr bwMode="auto">
          <a:xfrm>
            <a:off x="1082534" y="2035051"/>
            <a:ext cx="2625293" cy="4350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F0E4E-9C76-471B-B703-D776A736129C}"/>
              </a:ext>
            </a:extLst>
          </p:cNvPr>
          <p:cNvSpPr txBox="1"/>
          <p:nvPr/>
        </p:nvSpPr>
        <p:spPr>
          <a:xfrm>
            <a:off x="1948631" y="1208806"/>
            <a:ext cx="845104" cy="707886"/>
          </a:xfrm>
          <a:prstGeom prst="rect">
            <a:avLst/>
          </a:prstGeom>
          <a:noFill/>
        </p:spPr>
        <p:txBody>
          <a:bodyPr wrap="none" rtlCol="0">
            <a:spAutoFit/>
          </a:bodyPr>
          <a:lstStyle/>
          <a:p>
            <a:pPr algn="ctr"/>
            <a:r>
              <a:rPr lang="en-US" sz="4000" dirty="0">
                <a:solidFill>
                  <a:schemeClr val="bg1">
                    <a:lumMod val="95000"/>
                  </a:schemeClr>
                </a:solidFill>
                <a:latin typeface="Montserrat ExtraBold" panose="00000900000000000000" pitchFamily="50" charset="0"/>
              </a:rPr>
              <a:t>03</a:t>
            </a:r>
          </a:p>
        </p:txBody>
      </p:sp>
      <p:sp>
        <p:nvSpPr>
          <p:cNvPr id="11" name="TextBox 10">
            <a:extLst>
              <a:ext uri="{FF2B5EF4-FFF2-40B4-BE49-F238E27FC236}">
                <a16:creationId xmlns:a16="http://schemas.microsoft.com/office/drawing/2014/main" id="{B260CD29-C0FF-46E5-9357-2F03653983AD}"/>
              </a:ext>
            </a:extLst>
          </p:cNvPr>
          <p:cNvSpPr txBox="1"/>
          <p:nvPr/>
        </p:nvSpPr>
        <p:spPr>
          <a:xfrm>
            <a:off x="4170773" y="2243641"/>
            <a:ext cx="6743776" cy="4524315"/>
          </a:xfrm>
          <a:prstGeom prst="rect">
            <a:avLst/>
          </a:prstGeom>
          <a:noFill/>
        </p:spPr>
        <p:txBody>
          <a:bodyPr wrap="square">
            <a:spAutoFit/>
          </a:bodyPr>
          <a:lstStyle/>
          <a:p>
            <a:pPr algn="r"/>
            <a:r>
              <a:rPr lang="en-US" sz="2400" b="1" dirty="0">
                <a:solidFill>
                  <a:srgbClr val="C00000"/>
                </a:solidFill>
                <a:latin typeface="Montserrat" panose="00000500000000000000" pitchFamily="50" charset="0"/>
              </a:rPr>
              <a:t>Immanuel Kant</a:t>
            </a:r>
          </a:p>
          <a:p>
            <a:pPr algn="r"/>
            <a:r>
              <a:rPr lang="en-US" sz="2400" dirty="0">
                <a:latin typeface="Montserrat" panose="00000500000000000000" pitchFamily="50" charset="0"/>
              </a:rPr>
              <a:t>"The doctrine of the Trinity provides </a:t>
            </a:r>
            <a:r>
              <a:rPr lang="en-US" sz="2400" b="1" dirty="0">
                <a:latin typeface="Montserrat" panose="00000500000000000000" pitchFamily="50" charset="0"/>
              </a:rPr>
              <a:t>nothing, absolutely nothing, of practical value</a:t>
            </a:r>
            <a:r>
              <a:rPr lang="en-US" sz="2400" dirty="0">
                <a:latin typeface="Montserrat" panose="00000500000000000000" pitchFamily="50" charset="0"/>
              </a:rPr>
              <a:t>, even if one claims to understand it; still less when one is convinced that it far surpasses our understanding. </a:t>
            </a:r>
            <a:r>
              <a:rPr lang="en-US" sz="2400" b="1" dirty="0">
                <a:latin typeface="Montserrat" panose="00000500000000000000" pitchFamily="50" charset="0"/>
              </a:rPr>
              <a:t>It costs the student nothing to accept that we adore three or ten persons in the divinity</a:t>
            </a:r>
            <a:r>
              <a:rPr lang="en-US" sz="2400" dirty="0">
                <a:latin typeface="Montserrat" panose="00000500000000000000" pitchFamily="50" charset="0"/>
              </a:rPr>
              <a:t>. … Furthermore, this distinction offers </a:t>
            </a:r>
            <a:r>
              <a:rPr lang="en-US" sz="2400" b="1" dirty="0">
                <a:latin typeface="Montserrat" panose="00000500000000000000" pitchFamily="50" charset="0"/>
              </a:rPr>
              <a:t>absolutely no guidance for his conduct</a:t>
            </a:r>
            <a:r>
              <a:rPr lang="en-US" sz="2400" dirty="0">
                <a:latin typeface="Montserrat" panose="00000500000000000000" pitchFamily="50" charset="0"/>
              </a:rPr>
              <a:t>“ (</a:t>
            </a:r>
            <a:r>
              <a:rPr lang="en-US" sz="2400" dirty="0" err="1">
                <a:latin typeface="Montserrat" panose="00000500000000000000" pitchFamily="50" charset="0"/>
              </a:rPr>
              <a:t>dikutip</a:t>
            </a:r>
            <a:r>
              <a:rPr lang="en-US" sz="2400" dirty="0">
                <a:latin typeface="Montserrat" panose="00000500000000000000" pitchFamily="50" charset="0"/>
              </a:rPr>
              <a:t> </a:t>
            </a:r>
            <a:r>
              <a:rPr lang="en-US" sz="2400" dirty="0" err="1">
                <a:latin typeface="Montserrat" panose="00000500000000000000" pitchFamily="50" charset="0"/>
              </a:rPr>
              <a:t>dari</a:t>
            </a:r>
            <a:r>
              <a:rPr lang="en-US" sz="2400" dirty="0">
                <a:latin typeface="Montserrat" panose="00000500000000000000" pitchFamily="50" charset="0"/>
              </a:rPr>
              <a:t> C. Hall, “Adding up the Trinity,” 26).</a:t>
            </a:r>
            <a:endParaRPr lang="id-ID" sz="2400" dirty="0">
              <a:latin typeface="Montserrat" panose="00000500000000000000" pitchFamily="50" charset="0"/>
            </a:endParaRPr>
          </a:p>
        </p:txBody>
      </p:sp>
    </p:spTree>
    <p:extLst>
      <p:ext uri="{BB962C8B-B14F-4D97-AF65-F5344CB8AC3E}">
        <p14:creationId xmlns:p14="http://schemas.microsoft.com/office/powerpoint/2010/main" val="1067006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30EA89-CB17-423F-AE5C-498540E8AFCC}"/>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3094996-5EBF-48AE-B67C-8062A87EAC1A}"/>
              </a:ext>
            </a:extLst>
          </p:cNvPr>
          <p:cNvSpPr/>
          <p:nvPr/>
        </p:nvSpPr>
        <p:spPr>
          <a:xfrm>
            <a:off x="1897036" y="0"/>
            <a:ext cx="996287" cy="234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A2A3B32-C786-4C4B-BBA8-DDCAB028E486}"/>
              </a:ext>
            </a:extLst>
          </p:cNvPr>
          <p:cNvSpPr/>
          <p:nvPr/>
        </p:nvSpPr>
        <p:spPr>
          <a:xfrm>
            <a:off x="8484175" y="1432582"/>
            <a:ext cx="2372139" cy="119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B1A68C8-F354-42A6-87D7-254B56672CA6}"/>
              </a:ext>
            </a:extLst>
          </p:cNvPr>
          <p:cNvSpPr txBox="1"/>
          <p:nvPr/>
        </p:nvSpPr>
        <p:spPr>
          <a:xfrm>
            <a:off x="5933227" y="180326"/>
            <a:ext cx="5101896" cy="954107"/>
          </a:xfrm>
          <a:prstGeom prst="rect">
            <a:avLst/>
          </a:prstGeom>
          <a:noFill/>
        </p:spPr>
        <p:txBody>
          <a:bodyPr wrap="square">
            <a:spAutoFit/>
          </a:bodyPr>
          <a:lstStyle/>
          <a:p>
            <a:pPr algn="r"/>
            <a:r>
              <a:rPr lang="en-US" sz="2800" dirty="0" err="1">
                <a:solidFill>
                  <a:schemeClr val="tx1">
                    <a:lumMod val="75000"/>
                    <a:lumOff val="25000"/>
                  </a:schemeClr>
                </a:solidFill>
                <a:latin typeface="Montserrat ExtraBold" panose="00000900000000000000" pitchFamily="50" charset="0"/>
              </a:rPr>
              <a:t>Doktrin</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ini</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sering</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dianggap</a:t>
            </a:r>
            <a:r>
              <a:rPr lang="en-US" sz="2800" dirty="0">
                <a:solidFill>
                  <a:schemeClr val="tx1">
                    <a:lumMod val="75000"/>
                    <a:lumOff val="25000"/>
                  </a:schemeClr>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tidak</a:t>
            </a:r>
            <a:r>
              <a:rPr lang="en-US" sz="2800" dirty="0">
                <a:solidFill>
                  <a:srgbClr val="C00000"/>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rasional</a:t>
            </a:r>
            <a:r>
              <a:rPr lang="en-US" sz="2800" dirty="0">
                <a:solidFill>
                  <a:srgbClr val="C00000"/>
                </a:solidFill>
                <a:latin typeface="Montserrat ExtraBold" panose="00000900000000000000" pitchFamily="50" charset="0"/>
              </a:rPr>
              <a:t>.</a:t>
            </a:r>
          </a:p>
        </p:txBody>
      </p:sp>
      <p:pic>
        <p:nvPicPr>
          <p:cNvPr id="8" name="Picture 2" descr="Education People Reading Books Study Concept,University Students Open Books  in Home Stock Photo - Image of cheerful, novel: 141063064">
            <a:extLst>
              <a:ext uri="{FF2B5EF4-FFF2-40B4-BE49-F238E27FC236}">
                <a16:creationId xmlns:a16="http://schemas.microsoft.com/office/drawing/2014/main" id="{1C36B4CD-D436-4F4C-8053-27337970BCA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59797"/>
          <a:stretch/>
        </p:blipFill>
        <p:spPr bwMode="auto">
          <a:xfrm>
            <a:off x="1082534" y="2035051"/>
            <a:ext cx="2625293" cy="4350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F0E4E-9C76-471B-B703-D776A736129C}"/>
              </a:ext>
            </a:extLst>
          </p:cNvPr>
          <p:cNvSpPr txBox="1"/>
          <p:nvPr/>
        </p:nvSpPr>
        <p:spPr>
          <a:xfrm>
            <a:off x="1923784" y="1208806"/>
            <a:ext cx="894797" cy="707886"/>
          </a:xfrm>
          <a:prstGeom prst="rect">
            <a:avLst/>
          </a:prstGeom>
          <a:noFill/>
        </p:spPr>
        <p:txBody>
          <a:bodyPr wrap="none" rtlCol="0">
            <a:spAutoFit/>
          </a:bodyPr>
          <a:lstStyle/>
          <a:p>
            <a:pPr algn="ctr"/>
            <a:r>
              <a:rPr lang="en-US" sz="4000" dirty="0">
                <a:solidFill>
                  <a:schemeClr val="bg1">
                    <a:lumMod val="95000"/>
                  </a:schemeClr>
                </a:solidFill>
                <a:latin typeface="Montserrat ExtraBold" panose="00000900000000000000" pitchFamily="50" charset="0"/>
              </a:rPr>
              <a:t>04</a:t>
            </a:r>
          </a:p>
        </p:txBody>
      </p:sp>
      <p:sp>
        <p:nvSpPr>
          <p:cNvPr id="11" name="TextBox 10">
            <a:extLst>
              <a:ext uri="{FF2B5EF4-FFF2-40B4-BE49-F238E27FC236}">
                <a16:creationId xmlns:a16="http://schemas.microsoft.com/office/drawing/2014/main" id="{B260CD29-C0FF-46E5-9357-2F03653983AD}"/>
              </a:ext>
            </a:extLst>
          </p:cNvPr>
          <p:cNvSpPr txBox="1"/>
          <p:nvPr/>
        </p:nvSpPr>
        <p:spPr>
          <a:xfrm>
            <a:off x="4170773" y="1916692"/>
            <a:ext cx="6743776" cy="4801314"/>
          </a:xfrm>
          <a:prstGeom prst="rect">
            <a:avLst/>
          </a:prstGeom>
          <a:noFill/>
        </p:spPr>
        <p:txBody>
          <a:bodyPr wrap="square">
            <a:spAutoFit/>
          </a:bodyPr>
          <a:lstStyle/>
          <a:p>
            <a:pPr algn="r"/>
            <a:r>
              <a:rPr lang="en-US" sz="2400" b="1" dirty="0">
                <a:solidFill>
                  <a:srgbClr val="C00000"/>
                </a:solidFill>
                <a:latin typeface="Montserrat" panose="00000500000000000000" pitchFamily="50" charset="0"/>
              </a:rPr>
              <a:t>Thomas Jefferson:</a:t>
            </a:r>
          </a:p>
          <a:p>
            <a:pPr algn="r"/>
            <a:r>
              <a:rPr lang="en-US" sz="2400" dirty="0">
                <a:latin typeface="Montserrat" panose="00000500000000000000" pitchFamily="50" charset="0"/>
              </a:rPr>
              <a:t>When we shall </a:t>
            </a:r>
            <a:r>
              <a:rPr lang="en-US" sz="2400" b="1" dirty="0">
                <a:latin typeface="Montserrat" panose="00000500000000000000" pitchFamily="50" charset="0"/>
              </a:rPr>
              <a:t>have done away</a:t>
            </a:r>
            <a:r>
              <a:rPr lang="en-US" sz="2400" dirty="0">
                <a:latin typeface="Montserrat" panose="00000500000000000000" pitchFamily="50" charset="0"/>
              </a:rPr>
              <a:t> with the </a:t>
            </a:r>
            <a:r>
              <a:rPr lang="en-US" sz="2400" b="1" dirty="0">
                <a:latin typeface="Montserrat" panose="00000500000000000000" pitchFamily="50" charset="0"/>
              </a:rPr>
              <a:t>incomprehensible</a:t>
            </a:r>
            <a:r>
              <a:rPr lang="en-US" sz="2400" dirty="0">
                <a:latin typeface="Montserrat" panose="00000500000000000000" pitchFamily="50" charset="0"/>
              </a:rPr>
              <a:t> jargon of the Trinitarian arithmetic, that three are one, and one is three… we shall then be </a:t>
            </a:r>
            <a:r>
              <a:rPr lang="en-US" sz="2400" b="1" dirty="0">
                <a:latin typeface="Montserrat" panose="00000500000000000000" pitchFamily="50" charset="0"/>
              </a:rPr>
              <a:t>truly and worthily his disciples.</a:t>
            </a:r>
            <a:endParaRPr lang="id-ID" sz="2400" b="1" dirty="0">
              <a:latin typeface="Montserrat" panose="00000500000000000000" pitchFamily="50" charset="0"/>
            </a:endParaRPr>
          </a:p>
          <a:p>
            <a:pPr algn="r"/>
            <a:endParaRPr lang="en-US" sz="2400" dirty="0">
              <a:latin typeface="Montserrat" panose="00000500000000000000" pitchFamily="50" charset="0"/>
            </a:endParaRPr>
          </a:p>
          <a:p>
            <a:pPr algn="r"/>
            <a:r>
              <a:rPr lang="en-US" altLang="en-US" sz="2400" b="1" dirty="0">
                <a:solidFill>
                  <a:srgbClr val="C00000"/>
                </a:solidFill>
                <a:latin typeface="Montserrat" panose="00000500000000000000" pitchFamily="50" charset="0"/>
              </a:rPr>
              <a:t>Alister McGrath:</a:t>
            </a:r>
          </a:p>
          <a:p>
            <a:pPr algn="r"/>
            <a:r>
              <a:rPr lang="id-ID" altLang="en-US" sz="2400" dirty="0">
                <a:latin typeface="Montserrat" panose="00000500000000000000" pitchFamily="50" charset="0"/>
              </a:rPr>
              <a:t>“</a:t>
            </a:r>
            <a:r>
              <a:rPr lang="en-US" altLang="en-US" sz="2400" dirty="0">
                <a:latin typeface="Montserrat" panose="00000500000000000000" pitchFamily="50" charset="0"/>
              </a:rPr>
              <a:t>I</a:t>
            </a:r>
            <a:r>
              <a:rPr lang="id-ID" altLang="en-US" sz="2400" dirty="0">
                <a:latin typeface="Montserrat" panose="00000500000000000000" pitchFamily="50" charset="0"/>
              </a:rPr>
              <a:t>n the relatively recent past, it was customary to excoriate the doctrine of the Trinity as </a:t>
            </a:r>
            <a:r>
              <a:rPr lang="id-ID" altLang="en-US" sz="2400" b="1" dirty="0">
                <a:latin typeface="Montserrat" panose="00000500000000000000" pitchFamily="50" charset="0"/>
              </a:rPr>
              <a:t>irrational nonsense</a:t>
            </a:r>
            <a:r>
              <a:rPr lang="en-US" altLang="en-US" sz="2400" dirty="0">
                <a:latin typeface="Montserrat" panose="00000500000000000000" pitchFamily="50" charset="0"/>
              </a:rPr>
              <a:t>” (“The Doctrine of the Trinity, 19).</a:t>
            </a:r>
            <a:endParaRPr lang="id-ID" sz="2400" dirty="0">
              <a:latin typeface="Montserrat" panose="00000500000000000000" pitchFamily="50" charset="0"/>
            </a:endParaRPr>
          </a:p>
          <a:p>
            <a:pPr algn="r"/>
            <a:endParaRPr lang="id-ID" sz="1800" dirty="0">
              <a:latin typeface="Montserrat" panose="00000500000000000000" pitchFamily="50" charset="0"/>
            </a:endParaRPr>
          </a:p>
        </p:txBody>
      </p:sp>
    </p:spTree>
    <p:extLst>
      <p:ext uri="{BB962C8B-B14F-4D97-AF65-F5344CB8AC3E}">
        <p14:creationId xmlns:p14="http://schemas.microsoft.com/office/powerpoint/2010/main" val="3752017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30EA89-CB17-423F-AE5C-498540E8AFCC}"/>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23094996-5EBF-48AE-B67C-8062A87EAC1A}"/>
              </a:ext>
            </a:extLst>
          </p:cNvPr>
          <p:cNvSpPr/>
          <p:nvPr/>
        </p:nvSpPr>
        <p:spPr>
          <a:xfrm>
            <a:off x="1897036" y="0"/>
            <a:ext cx="996287" cy="234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A2A3B32-C786-4C4B-BBA8-DDCAB028E486}"/>
              </a:ext>
            </a:extLst>
          </p:cNvPr>
          <p:cNvSpPr/>
          <p:nvPr/>
        </p:nvSpPr>
        <p:spPr>
          <a:xfrm>
            <a:off x="8382575" y="1877881"/>
            <a:ext cx="2372139" cy="119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EB1A68C8-F354-42A6-87D7-254B56672CA6}"/>
              </a:ext>
            </a:extLst>
          </p:cNvPr>
          <p:cNvSpPr txBox="1"/>
          <p:nvPr/>
        </p:nvSpPr>
        <p:spPr>
          <a:xfrm>
            <a:off x="5754418" y="177754"/>
            <a:ext cx="5101896" cy="1384995"/>
          </a:xfrm>
          <a:prstGeom prst="rect">
            <a:avLst/>
          </a:prstGeom>
          <a:noFill/>
        </p:spPr>
        <p:txBody>
          <a:bodyPr wrap="square">
            <a:spAutoFit/>
          </a:bodyPr>
          <a:lstStyle/>
          <a:p>
            <a:pPr algn="r"/>
            <a:r>
              <a:rPr lang="en-US" sz="2800" dirty="0">
                <a:solidFill>
                  <a:schemeClr val="tx1">
                    <a:lumMod val="75000"/>
                    <a:lumOff val="25000"/>
                  </a:schemeClr>
                </a:solidFill>
                <a:latin typeface="Montserrat ExtraBold" panose="00000900000000000000" pitchFamily="50" charset="0"/>
              </a:rPr>
              <a:t>Doktrin </a:t>
            </a:r>
            <a:r>
              <a:rPr lang="en-US" sz="2800" dirty="0" err="1">
                <a:solidFill>
                  <a:schemeClr val="tx1">
                    <a:lumMod val="75000"/>
                    <a:lumOff val="25000"/>
                  </a:schemeClr>
                </a:solidFill>
                <a:latin typeface="Montserrat ExtraBold" panose="00000900000000000000" pitchFamily="50" charset="0"/>
              </a:rPr>
              <a:t>ini</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sering</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dianggap</a:t>
            </a:r>
            <a:r>
              <a:rPr lang="en-US" sz="2800" dirty="0">
                <a:solidFill>
                  <a:schemeClr val="tx1">
                    <a:lumMod val="75000"/>
                    <a:lumOff val="25000"/>
                  </a:schemeClr>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tidak</a:t>
            </a:r>
            <a:r>
              <a:rPr lang="en-US" sz="2800" dirty="0">
                <a:solidFill>
                  <a:srgbClr val="C00000"/>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Alkitabiah</a:t>
            </a:r>
            <a:r>
              <a:rPr lang="en-US" sz="2800" dirty="0">
                <a:solidFill>
                  <a:srgbClr val="C00000"/>
                </a:solidFill>
                <a:latin typeface="Montserrat ExtraBold" panose="00000900000000000000" pitchFamily="50" charset="0"/>
              </a:rPr>
              <a:t>.</a:t>
            </a:r>
          </a:p>
        </p:txBody>
      </p:sp>
      <p:pic>
        <p:nvPicPr>
          <p:cNvPr id="8" name="Picture 2" descr="Education People Reading Books Study Concept,University Students Open Books  in Home Stock Photo - Image of cheerful, novel: 141063064">
            <a:extLst>
              <a:ext uri="{FF2B5EF4-FFF2-40B4-BE49-F238E27FC236}">
                <a16:creationId xmlns:a16="http://schemas.microsoft.com/office/drawing/2014/main" id="{1C36B4CD-D436-4F4C-8053-27337970BCA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59797"/>
          <a:stretch/>
        </p:blipFill>
        <p:spPr bwMode="auto">
          <a:xfrm>
            <a:off x="1082534" y="2035051"/>
            <a:ext cx="2625293" cy="4350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F0E4E-9C76-471B-B703-D776A736129C}"/>
              </a:ext>
            </a:extLst>
          </p:cNvPr>
          <p:cNvSpPr txBox="1"/>
          <p:nvPr/>
        </p:nvSpPr>
        <p:spPr>
          <a:xfrm>
            <a:off x="1947829" y="1208806"/>
            <a:ext cx="846706" cy="707886"/>
          </a:xfrm>
          <a:prstGeom prst="rect">
            <a:avLst/>
          </a:prstGeom>
          <a:noFill/>
        </p:spPr>
        <p:txBody>
          <a:bodyPr wrap="none" rtlCol="0">
            <a:spAutoFit/>
          </a:bodyPr>
          <a:lstStyle/>
          <a:p>
            <a:pPr algn="ctr"/>
            <a:r>
              <a:rPr lang="en-US" sz="4000" dirty="0">
                <a:solidFill>
                  <a:schemeClr val="bg1">
                    <a:lumMod val="95000"/>
                  </a:schemeClr>
                </a:solidFill>
                <a:latin typeface="Montserrat ExtraBold" panose="00000900000000000000" pitchFamily="50" charset="0"/>
              </a:rPr>
              <a:t>05</a:t>
            </a:r>
          </a:p>
        </p:txBody>
      </p:sp>
      <p:sp>
        <p:nvSpPr>
          <p:cNvPr id="11" name="TextBox 10">
            <a:extLst>
              <a:ext uri="{FF2B5EF4-FFF2-40B4-BE49-F238E27FC236}">
                <a16:creationId xmlns:a16="http://schemas.microsoft.com/office/drawing/2014/main" id="{B260CD29-C0FF-46E5-9357-2F03653983AD}"/>
              </a:ext>
            </a:extLst>
          </p:cNvPr>
          <p:cNvSpPr txBox="1"/>
          <p:nvPr/>
        </p:nvSpPr>
        <p:spPr>
          <a:xfrm>
            <a:off x="4112538" y="2431191"/>
            <a:ext cx="6743776" cy="3693319"/>
          </a:xfrm>
          <a:prstGeom prst="rect">
            <a:avLst/>
          </a:prstGeom>
          <a:noFill/>
        </p:spPr>
        <p:txBody>
          <a:bodyPr wrap="square">
            <a:spAutoFit/>
          </a:bodyPr>
          <a:lstStyle/>
          <a:p>
            <a:pPr algn="r"/>
            <a:r>
              <a:rPr lang="en-US" sz="2400" b="1" dirty="0">
                <a:solidFill>
                  <a:srgbClr val="C00000"/>
                </a:solidFill>
                <a:latin typeface="Montserrat" panose="00000500000000000000" pitchFamily="50" charset="0"/>
              </a:rPr>
              <a:t>Thomas Jefferson</a:t>
            </a:r>
          </a:p>
          <a:p>
            <a:pPr algn="r"/>
            <a:r>
              <a:rPr lang="en-US" sz="2400" dirty="0">
                <a:latin typeface="Montserrat" panose="00000500000000000000" pitchFamily="50" charset="0"/>
              </a:rPr>
              <a:t>“It is too late in the day for men of sincerity to pretend they believe in the Platonic mysticism that three are one, and one is three; yet that the one is not three, and the three are not one;….” </a:t>
            </a:r>
          </a:p>
          <a:p>
            <a:pPr algn="r"/>
            <a:endParaRPr lang="en-US" sz="2400" dirty="0">
              <a:latin typeface="Montserrat" panose="00000500000000000000" pitchFamily="50" charset="0"/>
            </a:endParaRPr>
          </a:p>
          <a:p>
            <a:pPr algn="r"/>
            <a:r>
              <a:rPr lang="en-US" sz="2400" dirty="0">
                <a:latin typeface="Montserrat" panose="00000500000000000000" pitchFamily="50" charset="0"/>
              </a:rPr>
              <a:t>(H.A. Washington, </a:t>
            </a:r>
            <a:r>
              <a:rPr lang="en-US" sz="2400" i="1" dirty="0">
                <a:latin typeface="Montserrat" panose="00000500000000000000" pitchFamily="50" charset="0"/>
              </a:rPr>
              <a:t>Jefferson’s Works</a:t>
            </a:r>
            <a:r>
              <a:rPr lang="en-US" sz="2400" dirty="0">
                <a:latin typeface="Montserrat" panose="00000500000000000000" pitchFamily="50" charset="0"/>
              </a:rPr>
              <a:t>, Vol. 6, 192)</a:t>
            </a:r>
            <a:endParaRPr lang="id-ID" sz="2400" dirty="0">
              <a:latin typeface="Montserrat" panose="00000500000000000000" pitchFamily="50" charset="0"/>
            </a:endParaRPr>
          </a:p>
          <a:p>
            <a:pPr algn="r"/>
            <a:endParaRPr lang="id-ID" sz="1800" dirty="0">
              <a:latin typeface="Montserrat" panose="00000500000000000000" pitchFamily="50" charset="0"/>
            </a:endParaRPr>
          </a:p>
        </p:txBody>
      </p:sp>
    </p:spTree>
    <p:extLst>
      <p:ext uri="{BB962C8B-B14F-4D97-AF65-F5344CB8AC3E}">
        <p14:creationId xmlns:p14="http://schemas.microsoft.com/office/powerpoint/2010/main" val="481158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30EA89-CB17-423F-AE5C-498540E8AFCC}"/>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3094996-5EBF-48AE-B67C-8062A87EAC1A}"/>
              </a:ext>
            </a:extLst>
          </p:cNvPr>
          <p:cNvSpPr/>
          <p:nvPr/>
        </p:nvSpPr>
        <p:spPr>
          <a:xfrm>
            <a:off x="1897036" y="0"/>
            <a:ext cx="996287" cy="234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A2A3B32-C786-4C4B-BBA8-DDCAB028E486}"/>
              </a:ext>
            </a:extLst>
          </p:cNvPr>
          <p:cNvSpPr/>
          <p:nvPr/>
        </p:nvSpPr>
        <p:spPr>
          <a:xfrm>
            <a:off x="8490611" y="1836519"/>
            <a:ext cx="2372139" cy="119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B1A68C8-F354-42A6-87D7-254B56672CA6}"/>
              </a:ext>
            </a:extLst>
          </p:cNvPr>
          <p:cNvSpPr txBox="1"/>
          <p:nvPr/>
        </p:nvSpPr>
        <p:spPr>
          <a:xfrm>
            <a:off x="5939663" y="329413"/>
            <a:ext cx="5101896" cy="1384995"/>
          </a:xfrm>
          <a:prstGeom prst="rect">
            <a:avLst/>
          </a:prstGeom>
          <a:noFill/>
        </p:spPr>
        <p:txBody>
          <a:bodyPr wrap="square">
            <a:spAutoFit/>
          </a:bodyPr>
          <a:lstStyle/>
          <a:p>
            <a:pPr algn="r"/>
            <a:r>
              <a:rPr lang="en-US" sz="2800" dirty="0">
                <a:solidFill>
                  <a:schemeClr val="tx1">
                    <a:lumMod val="75000"/>
                    <a:lumOff val="25000"/>
                  </a:schemeClr>
                </a:solidFill>
                <a:latin typeface="Montserrat ExtraBold" panose="00000900000000000000" pitchFamily="50" charset="0"/>
              </a:rPr>
              <a:t>Banyak </a:t>
            </a:r>
            <a:r>
              <a:rPr lang="en-US" sz="2800" dirty="0" err="1">
                <a:solidFill>
                  <a:schemeClr val="tx1">
                    <a:lumMod val="75000"/>
                    <a:lumOff val="25000"/>
                  </a:schemeClr>
                </a:solidFill>
                <a:latin typeface="Montserrat ExtraBold" panose="00000900000000000000" pitchFamily="50" charset="0"/>
              </a:rPr>
              <a:t>ajaran</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sesat</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bidat</a:t>
            </a:r>
            <a:r>
              <a:rPr lang="en-US" sz="2800" dirty="0">
                <a:solidFill>
                  <a:schemeClr val="tx1">
                    <a:lumMod val="75000"/>
                    <a:lumOff val="25000"/>
                  </a:schemeClr>
                </a:solidFill>
                <a:latin typeface="Montserrat ExtraBold" panose="00000900000000000000" pitchFamily="50" charset="0"/>
              </a:rPr>
              <a:t>) yang </a:t>
            </a:r>
            <a:r>
              <a:rPr lang="en-US" sz="2800" dirty="0">
                <a:solidFill>
                  <a:srgbClr val="C00000"/>
                </a:solidFill>
                <a:latin typeface="Montserrat ExtraBold" panose="00000900000000000000" pitchFamily="50" charset="0"/>
              </a:rPr>
              <a:t>non-Trinitarian.</a:t>
            </a:r>
          </a:p>
        </p:txBody>
      </p:sp>
      <p:pic>
        <p:nvPicPr>
          <p:cNvPr id="8" name="Picture 2" descr="Education People Reading Books Study Concept,University Students Open Books  in Home Stock Photo - Image of cheerful, novel: 141063064">
            <a:extLst>
              <a:ext uri="{FF2B5EF4-FFF2-40B4-BE49-F238E27FC236}">
                <a16:creationId xmlns:a16="http://schemas.microsoft.com/office/drawing/2014/main" id="{1C36B4CD-D436-4F4C-8053-27337970BCA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59797"/>
          <a:stretch/>
        </p:blipFill>
        <p:spPr bwMode="auto">
          <a:xfrm>
            <a:off x="1082534" y="2035051"/>
            <a:ext cx="2625293" cy="4350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F0E4E-9C76-471B-B703-D776A736129C}"/>
              </a:ext>
            </a:extLst>
          </p:cNvPr>
          <p:cNvSpPr txBox="1"/>
          <p:nvPr/>
        </p:nvSpPr>
        <p:spPr>
          <a:xfrm>
            <a:off x="1936607" y="1208806"/>
            <a:ext cx="869149" cy="707886"/>
          </a:xfrm>
          <a:prstGeom prst="rect">
            <a:avLst/>
          </a:prstGeom>
          <a:noFill/>
        </p:spPr>
        <p:txBody>
          <a:bodyPr wrap="none" rtlCol="0">
            <a:spAutoFit/>
          </a:bodyPr>
          <a:lstStyle/>
          <a:p>
            <a:pPr algn="ctr"/>
            <a:r>
              <a:rPr lang="en-US" sz="4000" dirty="0">
                <a:solidFill>
                  <a:schemeClr val="bg1">
                    <a:lumMod val="95000"/>
                  </a:schemeClr>
                </a:solidFill>
                <a:latin typeface="Montserrat ExtraBold" panose="00000900000000000000" pitchFamily="50" charset="0"/>
              </a:rPr>
              <a:t>06</a:t>
            </a:r>
          </a:p>
        </p:txBody>
      </p:sp>
      <p:sp>
        <p:nvSpPr>
          <p:cNvPr id="11" name="TextBox 10">
            <a:extLst>
              <a:ext uri="{FF2B5EF4-FFF2-40B4-BE49-F238E27FC236}">
                <a16:creationId xmlns:a16="http://schemas.microsoft.com/office/drawing/2014/main" id="{B260CD29-C0FF-46E5-9357-2F03653983AD}"/>
              </a:ext>
            </a:extLst>
          </p:cNvPr>
          <p:cNvSpPr txBox="1"/>
          <p:nvPr/>
        </p:nvSpPr>
        <p:spPr>
          <a:xfrm>
            <a:off x="4297783" y="2671055"/>
            <a:ext cx="6743776" cy="2185214"/>
          </a:xfrm>
          <a:prstGeom prst="rect">
            <a:avLst/>
          </a:prstGeom>
          <a:noFill/>
        </p:spPr>
        <p:txBody>
          <a:bodyPr wrap="square">
            <a:spAutoFit/>
          </a:bodyPr>
          <a:lstStyle/>
          <a:p>
            <a:pPr marL="342900" indent="-342900" algn="r">
              <a:buFont typeface="Arial" panose="020B0604020202020204" pitchFamily="34" charset="0"/>
              <a:buChar char="•"/>
            </a:pPr>
            <a:r>
              <a:rPr lang="en-US" sz="2400" b="1" dirty="0" err="1">
                <a:latin typeface="Montserrat" panose="00000500000000000000" pitchFamily="50" charset="0"/>
              </a:rPr>
              <a:t>Bidat</a:t>
            </a:r>
            <a:r>
              <a:rPr lang="en-US" sz="2400" b="1" dirty="0">
                <a:latin typeface="Montserrat" panose="00000500000000000000" pitchFamily="50" charset="0"/>
              </a:rPr>
              <a:t> masa </a:t>
            </a:r>
            <a:r>
              <a:rPr lang="en-US" sz="2400" b="1" dirty="0" err="1">
                <a:latin typeface="Montserrat" panose="00000500000000000000" pitchFamily="50" charset="0"/>
              </a:rPr>
              <a:t>lalu</a:t>
            </a:r>
            <a:r>
              <a:rPr lang="en-US" sz="2400" dirty="0">
                <a:latin typeface="Montserrat" panose="00000500000000000000" pitchFamily="50" charset="0"/>
              </a:rPr>
              <a:t>: </a:t>
            </a:r>
            <a:r>
              <a:rPr lang="en-US" sz="2400" dirty="0" err="1">
                <a:latin typeface="Montserrat" panose="00000500000000000000" pitchFamily="50" charset="0"/>
              </a:rPr>
              <a:t>Arianisme</a:t>
            </a:r>
            <a:r>
              <a:rPr lang="en-US" sz="2400" dirty="0">
                <a:latin typeface="Montserrat" panose="00000500000000000000" pitchFamily="50" charset="0"/>
              </a:rPr>
              <a:t>, </a:t>
            </a:r>
            <a:r>
              <a:rPr lang="en-US" sz="2400" dirty="0" err="1">
                <a:latin typeface="Montserrat" panose="00000500000000000000" pitchFamily="50" charset="0"/>
              </a:rPr>
              <a:t>Modalisme</a:t>
            </a:r>
            <a:r>
              <a:rPr lang="en-US" sz="2400" dirty="0">
                <a:latin typeface="Montserrat" panose="00000500000000000000" pitchFamily="50" charset="0"/>
              </a:rPr>
              <a:t> (</a:t>
            </a:r>
            <a:r>
              <a:rPr lang="en-US" sz="2400" dirty="0" err="1">
                <a:latin typeface="Montserrat" panose="00000500000000000000" pitchFamily="50" charset="0"/>
              </a:rPr>
              <a:t>Sabelianisme</a:t>
            </a:r>
            <a:r>
              <a:rPr lang="en-US" sz="2400" dirty="0">
                <a:latin typeface="Montserrat" panose="00000500000000000000" pitchFamily="50" charset="0"/>
              </a:rPr>
              <a:t>), </a:t>
            </a:r>
            <a:r>
              <a:rPr lang="en-US" sz="2400" dirty="0" err="1">
                <a:latin typeface="Montserrat" panose="00000500000000000000" pitchFamily="50" charset="0"/>
              </a:rPr>
              <a:t>Adopsionisme</a:t>
            </a:r>
            <a:r>
              <a:rPr lang="en-US" sz="2400" dirty="0">
                <a:latin typeface="Montserrat" panose="00000500000000000000" pitchFamily="50" charset="0"/>
              </a:rPr>
              <a:t>, </a:t>
            </a:r>
            <a:r>
              <a:rPr lang="en-US" sz="2400" dirty="0" err="1">
                <a:latin typeface="Montserrat" panose="00000500000000000000" pitchFamily="50" charset="0"/>
              </a:rPr>
              <a:t>dsb</a:t>
            </a:r>
            <a:r>
              <a:rPr lang="en-US" sz="2400" dirty="0">
                <a:latin typeface="Montserrat" panose="00000500000000000000" pitchFamily="50" charset="0"/>
              </a:rPr>
              <a:t>. </a:t>
            </a:r>
          </a:p>
          <a:p>
            <a:pPr marL="342900" indent="-342900" algn="r">
              <a:buFont typeface="Arial" panose="020B0604020202020204" pitchFamily="34" charset="0"/>
              <a:buChar char="•"/>
            </a:pPr>
            <a:r>
              <a:rPr lang="en-US" sz="2400" b="1" dirty="0" err="1">
                <a:latin typeface="Montserrat" panose="00000500000000000000" pitchFamily="50" charset="0"/>
              </a:rPr>
              <a:t>Bidat</a:t>
            </a:r>
            <a:r>
              <a:rPr lang="en-US" sz="2400" b="1" dirty="0">
                <a:latin typeface="Montserrat" panose="00000500000000000000" pitchFamily="50" charset="0"/>
              </a:rPr>
              <a:t> masa </a:t>
            </a:r>
            <a:r>
              <a:rPr lang="en-US" sz="2400" b="1" dirty="0" err="1">
                <a:latin typeface="Montserrat" panose="00000500000000000000" pitchFamily="50" charset="0"/>
              </a:rPr>
              <a:t>kini</a:t>
            </a:r>
            <a:r>
              <a:rPr lang="en-US" sz="2400" dirty="0">
                <a:latin typeface="Montserrat" panose="00000500000000000000" pitchFamily="50" charset="0"/>
              </a:rPr>
              <a:t>: </a:t>
            </a:r>
            <a:r>
              <a:rPr lang="en-US" sz="2400" dirty="0" err="1">
                <a:latin typeface="Montserrat" panose="00000500000000000000" pitchFamily="50" charset="0"/>
              </a:rPr>
              <a:t>Saksi</a:t>
            </a:r>
            <a:r>
              <a:rPr lang="en-US" sz="2400" dirty="0">
                <a:latin typeface="Montserrat" panose="00000500000000000000" pitchFamily="50" charset="0"/>
              </a:rPr>
              <a:t> </a:t>
            </a:r>
            <a:r>
              <a:rPr lang="en-US" sz="2400" dirty="0" err="1">
                <a:latin typeface="Montserrat" panose="00000500000000000000" pitchFamily="50" charset="0"/>
              </a:rPr>
              <a:t>Yehuwah</a:t>
            </a:r>
            <a:r>
              <a:rPr lang="en-US" sz="2400" dirty="0">
                <a:latin typeface="Montserrat" panose="00000500000000000000" pitchFamily="50" charset="0"/>
              </a:rPr>
              <a:t>, </a:t>
            </a:r>
            <a:r>
              <a:rPr lang="en-US" sz="2400" dirty="0" err="1">
                <a:latin typeface="Montserrat" panose="00000500000000000000" pitchFamily="50" charset="0"/>
              </a:rPr>
              <a:t>Mormonisme</a:t>
            </a:r>
            <a:r>
              <a:rPr lang="en-US" sz="2400" dirty="0">
                <a:latin typeface="Montserrat" panose="00000500000000000000" pitchFamily="50" charset="0"/>
              </a:rPr>
              <a:t>, </a:t>
            </a:r>
            <a:r>
              <a:rPr lang="en-US" sz="2400" dirty="0" err="1">
                <a:latin typeface="Montserrat" panose="00000500000000000000" pitchFamily="50" charset="0"/>
              </a:rPr>
              <a:t>Unitarianisme</a:t>
            </a:r>
            <a:r>
              <a:rPr lang="en-US" sz="2400" dirty="0">
                <a:latin typeface="Montserrat" panose="00000500000000000000" pitchFamily="50" charset="0"/>
              </a:rPr>
              <a:t>, </a:t>
            </a:r>
            <a:r>
              <a:rPr lang="en-US" sz="2400" dirty="0" err="1">
                <a:latin typeface="Montserrat" panose="00000500000000000000" pitchFamily="50" charset="0"/>
              </a:rPr>
              <a:t>dsb</a:t>
            </a:r>
            <a:r>
              <a:rPr lang="en-US" sz="2000" dirty="0">
                <a:latin typeface="Montserrat" panose="00000500000000000000" pitchFamily="50" charset="0"/>
              </a:rPr>
              <a:t>.</a:t>
            </a:r>
          </a:p>
          <a:p>
            <a:pPr marL="342900" indent="-342900" algn="r">
              <a:buFont typeface="Arial" panose="020B0604020202020204" pitchFamily="34" charset="0"/>
              <a:buChar char="•"/>
            </a:pPr>
            <a:endParaRPr lang="id-ID" sz="2000" dirty="0">
              <a:latin typeface="Montserrat" panose="00000500000000000000" pitchFamily="50" charset="0"/>
            </a:endParaRPr>
          </a:p>
          <a:p>
            <a:pPr algn="r"/>
            <a:endParaRPr lang="id-ID" sz="2000" dirty="0">
              <a:latin typeface="Montserrat" panose="00000500000000000000" pitchFamily="50" charset="0"/>
            </a:endParaRPr>
          </a:p>
        </p:txBody>
      </p:sp>
    </p:spTree>
    <p:extLst>
      <p:ext uri="{BB962C8B-B14F-4D97-AF65-F5344CB8AC3E}">
        <p14:creationId xmlns:p14="http://schemas.microsoft.com/office/powerpoint/2010/main" val="541067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30EA89-CB17-423F-AE5C-498540E8AFCC}"/>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3094996-5EBF-48AE-B67C-8062A87EAC1A}"/>
              </a:ext>
            </a:extLst>
          </p:cNvPr>
          <p:cNvSpPr/>
          <p:nvPr/>
        </p:nvSpPr>
        <p:spPr>
          <a:xfrm>
            <a:off x="1897036" y="0"/>
            <a:ext cx="996287" cy="234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A2A3B32-C786-4C4B-BBA8-DDCAB028E486}"/>
              </a:ext>
            </a:extLst>
          </p:cNvPr>
          <p:cNvSpPr/>
          <p:nvPr/>
        </p:nvSpPr>
        <p:spPr>
          <a:xfrm>
            <a:off x="8571535" y="1975416"/>
            <a:ext cx="2372139" cy="119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B1A68C8-F354-42A6-87D7-254B56672CA6}"/>
              </a:ext>
            </a:extLst>
          </p:cNvPr>
          <p:cNvSpPr txBox="1"/>
          <p:nvPr/>
        </p:nvSpPr>
        <p:spPr>
          <a:xfrm>
            <a:off x="6096000" y="245641"/>
            <a:ext cx="4951071" cy="1384995"/>
          </a:xfrm>
          <a:prstGeom prst="rect">
            <a:avLst/>
          </a:prstGeom>
          <a:noFill/>
        </p:spPr>
        <p:txBody>
          <a:bodyPr wrap="square">
            <a:spAutoFit/>
          </a:bodyPr>
          <a:lstStyle/>
          <a:p>
            <a:pPr algn="r"/>
            <a:r>
              <a:rPr lang="en-US" sz="2800" dirty="0" err="1">
                <a:solidFill>
                  <a:schemeClr val="tx1">
                    <a:lumMod val="75000"/>
                    <a:lumOff val="25000"/>
                  </a:schemeClr>
                </a:solidFill>
                <a:latin typeface="Montserrat ExtraBold" panose="00000900000000000000" pitchFamily="50" charset="0"/>
              </a:rPr>
              <a:t>Doktrin</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Tritunggal</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adalah</a:t>
            </a:r>
            <a:r>
              <a:rPr lang="en-US" sz="2800" dirty="0">
                <a:solidFill>
                  <a:schemeClr val="tx1">
                    <a:lumMod val="75000"/>
                    <a:lumOff val="25000"/>
                  </a:schemeClr>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dasar</a:t>
            </a:r>
            <a:r>
              <a:rPr lang="en-US" sz="2800" dirty="0">
                <a:solidFill>
                  <a:schemeClr val="tx1">
                    <a:lumMod val="75000"/>
                    <a:lumOff val="25000"/>
                  </a:schemeClr>
                </a:solidFill>
                <a:latin typeface="Montserrat ExtraBold" panose="00000900000000000000" pitchFamily="50" charset="0"/>
              </a:rPr>
              <a:t> dan </a:t>
            </a:r>
            <a:r>
              <a:rPr lang="en-US" sz="2800" dirty="0">
                <a:solidFill>
                  <a:srgbClr val="C00000"/>
                </a:solidFill>
                <a:latin typeface="Montserrat ExtraBold" panose="00000900000000000000" pitchFamily="50" charset="0"/>
              </a:rPr>
              <a:t>inti</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kekristenan</a:t>
            </a:r>
            <a:r>
              <a:rPr lang="en-US" sz="2800" dirty="0">
                <a:solidFill>
                  <a:schemeClr val="tx1">
                    <a:lumMod val="75000"/>
                    <a:lumOff val="25000"/>
                  </a:schemeClr>
                </a:solidFill>
                <a:latin typeface="Montserrat ExtraBold" panose="00000900000000000000" pitchFamily="50" charset="0"/>
              </a:rPr>
              <a:t>.</a:t>
            </a:r>
            <a:endParaRPr lang="en-US" sz="2800" dirty="0">
              <a:solidFill>
                <a:srgbClr val="C00000"/>
              </a:solidFill>
              <a:latin typeface="Montserrat ExtraBold" panose="00000900000000000000" pitchFamily="50" charset="0"/>
            </a:endParaRPr>
          </a:p>
        </p:txBody>
      </p:sp>
      <p:pic>
        <p:nvPicPr>
          <p:cNvPr id="8" name="Picture 2" descr="Education People Reading Books Study Concept,University Students Open Books  in Home Stock Photo - Image of cheerful, novel: 141063064">
            <a:extLst>
              <a:ext uri="{FF2B5EF4-FFF2-40B4-BE49-F238E27FC236}">
                <a16:creationId xmlns:a16="http://schemas.microsoft.com/office/drawing/2014/main" id="{1C36B4CD-D436-4F4C-8053-27337970BCA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59797"/>
          <a:stretch/>
        </p:blipFill>
        <p:spPr bwMode="auto">
          <a:xfrm>
            <a:off x="1082534" y="2035051"/>
            <a:ext cx="2625293" cy="4350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F0E4E-9C76-471B-B703-D776A736129C}"/>
              </a:ext>
            </a:extLst>
          </p:cNvPr>
          <p:cNvSpPr txBox="1"/>
          <p:nvPr/>
        </p:nvSpPr>
        <p:spPr>
          <a:xfrm>
            <a:off x="1941416" y="1208806"/>
            <a:ext cx="859530" cy="707886"/>
          </a:xfrm>
          <a:prstGeom prst="rect">
            <a:avLst/>
          </a:prstGeom>
          <a:noFill/>
        </p:spPr>
        <p:txBody>
          <a:bodyPr wrap="none" rtlCol="0">
            <a:spAutoFit/>
          </a:bodyPr>
          <a:lstStyle/>
          <a:p>
            <a:pPr algn="ctr"/>
            <a:r>
              <a:rPr lang="en-US" sz="4000" dirty="0">
                <a:solidFill>
                  <a:schemeClr val="bg1">
                    <a:lumMod val="95000"/>
                  </a:schemeClr>
                </a:solidFill>
                <a:latin typeface="Montserrat ExtraBold" panose="00000900000000000000" pitchFamily="50" charset="0"/>
              </a:rPr>
              <a:t>07</a:t>
            </a:r>
          </a:p>
        </p:txBody>
      </p:sp>
      <p:sp>
        <p:nvSpPr>
          <p:cNvPr id="11" name="TextBox 10">
            <a:extLst>
              <a:ext uri="{FF2B5EF4-FFF2-40B4-BE49-F238E27FC236}">
                <a16:creationId xmlns:a16="http://schemas.microsoft.com/office/drawing/2014/main" id="{B260CD29-C0FF-46E5-9357-2F03653983AD}"/>
              </a:ext>
            </a:extLst>
          </p:cNvPr>
          <p:cNvSpPr txBox="1"/>
          <p:nvPr/>
        </p:nvSpPr>
        <p:spPr>
          <a:xfrm>
            <a:off x="4303295" y="2475795"/>
            <a:ext cx="6743776" cy="2677656"/>
          </a:xfrm>
          <a:prstGeom prst="rect">
            <a:avLst/>
          </a:prstGeom>
          <a:noFill/>
        </p:spPr>
        <p:txBody>
          <a:bodyPr wrap="square">
            <a:spAutoFit/>
          </a:bodyPr>
          <a:lstStyle/>
          <a:p>
            <a:pPr algn="r"/>
            <a:r>
              <a:rPr lang="en-US" sz="2400" b="1" dirty="0">
                <a:solidFill>
                  <a:srgbClr val="C00000"/>
                </a:solidFill>
                <a:latin typeface="Montserrat" panose="00000500000000000000" pitchFamily="50" charset="0"/>
              </a:rPr>
              <a:t>James White:</a:t>
            </a:r>
          </a:p>
          <a:p>
            <a:pPr algn="r"/>
            <a:r>
              <a:rPr lang="id-ID" sz="2400" dirty="0">
                <a:latin typeface="Montserrat" panose="00000500000000000000" pitchFamily="50" charset="0"/>
              </a:rPr>
              <a:t>“The Gospel, as it is proclaimed in Scripture, is Trinitarian. Remove the Father and you have no Gospel. Remove the Son, and the Gospel ceases to exist. Remove the Spirit, and the Gospel has no existence”</a:t>
            </a:r>
            <a:r>
              <a:rPr lang="en-US" sz="2400" dirty="0">
                <a:latin typeface="Montserrat" panose="00000500000000000000" pitchFamily="50" charset="0"/>
              </a:rPr>
              <a:t> (</a:t>
            </a:r>
            <a:r>
              <a:rPr lang="en-US" sz="2400" i="1" dirty="0">
                <a:latin typeface="Montserrat" panose="00000500000000000000" pitchFamily="50" charset="0"/>
              </a:rPr>
              <a:t>Forgotten Trinity</a:t>
            </a:r>
            <a:r>
              <a:rPr lang="en-US" sz="2400" dirty="0">
                <a:latin typeface="Montserrat" panose="00000500000000000000" pitchFamily="50" charset="0"/>
              </a:rPr>
              <a:t>, 195).</a:t>
            </a:r>
            <a:endParaRPr lang="id-ID" sz="2400" dirty="0">
              <a:latin typeface="Montserrat" panose="00000500000000000000" pitchFamily="50" charset="0"/>
            </a:endParaRPr>
          </a:p>
        </p:txBody>
      </p:sp>
    </p:spTree>
    <p:extLst>
      <p:ext uri="{BB962C8B-B14F-4D97-AF65-F5344CB8AC3E}">
        <p14:creationId xmlns:p14="http://schemas.microsoft.com/office/powerpoint/2010/main" val="740282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E26BB5-A379-492F-9156-8C4ED1A7C7CE}"/>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A3D8C58-F8C6-42E7-80E6-440836CB6F30}"/>
              </a:ext>
            </a:extLst>
          </p:cNvPr>
          <p:cNvSpPr txBox="1"/>
          <p:nvPr/>
        </p:nvSpPr>
        <p:spPr>
          <a:xfrm>
            <a:off x="6096000" y="3549831"/>
            <a:ext cx="5333998" cy="2677656"/>
          </a:xfrm>
          <a:prstGeom prst="rect">
            <a:avLst/>
          </a:prstGeom>
          <a:noFill/>
        </p:spPr>
        <p:txBody>
          <a:bodyPr wrap="square">
            <a:spAutoFit/>
          </a:bodyPr>
          <a:lstStyle/>
          <a:p>
            <a:r>
              <a:rPr lang="en-US" sz="2400" dirty="0">
                <a:solidFill>
                  <a:schemeClr val="tx1">
                    <a:lumMod val="75000"/>
                    <a:lumOff val="25000"/>
                  </a:schemeClr>
                </a:solidFill>
                <a:latin typeface="Century Gothic" pitchFamily="34" charset="0"/>
              </a:rPr>
              <a:t>Karena “</a:t>
            </a:r>
            <a:r>
              <a:rPr lang="en-US" sz="2400" dirty="0" err="1">
                <a:solidFill>
                  <a:schemeClr val="tx1">
                    <a:lumMod val="75000"/>
                    <a:lumOff val="25000"/>
                  </a:schemeClr>
                </a:solidFill>
                <a:latin typeface="Century Gothic" pitchFamily="34" charset="0"/>
              </a:rPr>
              <a:t>hakikat</a:t>
            </a:r>
            <a:r>
              <a:rPr lang="en-US" sz="2400" dirty="0">
                <a:solidFill>
                  <a:schemeClr val="tx1">
                    <a:lumMod val="75000"/>
                    <a:lumOff val="25000"/>
                  </a:schemeClr>
                </a:solidFill>
                <a:latin typeface="Century Gothic" pitchFamily="34" charset="0"/>
              </a:rPr>
              <a:t>” </a:t>
            </a:r>
            <a:r>
              <a:rPr lang="en-US" sz="2400" b="1" dirty="0" err="1">
                <a:solidFill>
                  <a:srgbClr val="C00000"/>
                </a:solidFill>
                <a:latin typeface="Century Gothic" pitchFamily="34" charset="0"/>
              </a:rPr>
              <a:t>berbeda</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dengan</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pribadi</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maka</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keduanya</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bisa</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berbeda</a:t>
            </a:r>
            <a:r>
              <a:rPr lang="en-US" sz="2400" dirty="0">
                <a:solidFill>
                  <a:schemeClr val="tx1">
                    <a:lumMod val="75000"/>
                    <a:lumOff val="25000"/>
                  </a:schemeClr>
                </a:solidFill>
                <a:latin typeface="Century Gothic" pitchFamily="34" charset="0"/>
              </a:rPr>
              <a:t> pada </a:t>
            </a:r>
            <a:r>
              <a:rPr lang="en-US" sz="2400" dirty="0" err="1">
                <a:solidFill>
                  <a:schemeClr val="tx1">
                    <a:lumMod val="75000"/>
                    <a:lumOff val="25000"/>
                  </a:schemeClr>
                </a:solidFill>
                <a:latin typeface="Century Gothic" pitchFamily="34" charset="0"/>
              </a:rPr>
              <a:t>waktu</a:t>
            </a:r>
            <a:r>
              <a:rPr lang="en-US" sz="2400" dirty="0">
                <a:solidFill>
                  <a:schemeClr val="tx1">
                    <a:lumMod val="75000"/>
                    <a:lumOff val="25000"/>
                  </a:schemeClr>
                </a:solidFill>
                <a:latin typeface="Century Gothic" pitchFamily="34" charset="0"/>
              </a:rPr>
              <a:t> dan </a:t>
            </a:r>
            <a:r>
              <a:rPr lang="en-US" sz="2400" dirty="0" err="1">
                <a:solidFill>
                  <a:schemeClr val="tx1">
                    <a:lumMod val="75000"/>
                    <a:lumOff val="25000"/>
                  </a:schemeClr>
                </a:solidFill>
                <a:latin typeface="Century Gothic" pitchFamily="34" charset="0"/>
              </a:rPr>
              <a:t>relasi</a:t>
            </a:r>
            <a:r>
              <a:rPr lang="en-US" sz="2400" dirty="0">
                <a:solidFill>
                  <a:schemeClr val="tx1">
                    <a:lumMod val="75000"/>
                    <a:lumOff val="25000"/>
                  </a:schemeClr>
                </a:solidFill>
                <a:latin typeface="Century Gothic" pitchFamily="34" charset="0"/>
              </a:rPr>
              <a:t> yang </a:t>
            </a:r>
            <a:r>
              <a:rPr lang="en-US" sz="2400" dirty="0" err="1">
                <a:solidFill>
                  <a:schemeClr val="tx1">
                    <a:lumMod val="75000"/>
                    <a:lumOff val="25000"/>
                  </a:schemeClr>
                </a:solidFill>
                <a:latin typeface="Century Gothic" pitchFamily="34" charset="0"/>
              </a:rPr>
              <a:t>sama</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Ini</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tidak</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menyalahi</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hukum</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dasar</a:t>
            </a:r>
            <a:r>
              <a:rPr lang="en-US" sz="2400" dirty="0">
                <a:solidFill>
                  <a:schemeClr val="tx1">
                    <a:lumMod val="75000"/>
                    <a:lumOff val="25000"/>
                  </a:schemeClr>
                </a:solidFill>
                <a:latin typeface="Century Gothic" pitchFamily="34" charset="0"/>
              </a:rPr>
              <a:t> </a:t>
            </a:r>
            <a:r>
              <a:rPr lang="en-US" sz="2400" b="1" dirty="0" err="1">
                <a:solidFill>
                  <a:srgbClr val="C00000"/>
                </a:solidFill>
                <a:latin typeface="Century Gothic" pitchFamily="34" charset="0"/>
              </a:rPr>
              <a:t>logika</a:t>
            </a:r>
            <a:r>
              <a:rPr lang="en-US" sz="2400" b="1" dirty="0">
                <a:solidFill>
                  <a:srgbClr val="C00000"/>
                </a:solidFill>
                <a:latin typeface="Century Gothic" pitchFamily="34" charset="0"/>
              </a:rPr>
              <a:t>.</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Contoh</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saya</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memiliki</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dua</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mata</a:t>
            </a:r>
            <a:r>
              <a:rPr lang="en-US" sz="2400" dirty="0">
                <a:solidFill>
                  <a:schemeClr val="tx1">
                    <a:lumMod val="75000"/>
                    <a:lumOff val="25000"/>
                  </a:schemeClr>
                </a:solidFill>
                <a:latin typeface="Century Gothic" pitchFamily="34" charset="0"/>
              </a:rPr>
              <a:t> dan </a:t>
            </a:r>
            <a:r>
              <a:rPr lang="en-US" sz="2400" dirty="0" err="1">
                <a:solidFill>
                  <a:schemeClr val="tx1">
                    <a:lumMod val="75000"/>
                    <a:lumOff val="25000"/>
                  </a:schemeClr>
                </a:solidFill>
                <a:latin typeface="Century Gothic" pitchFamily="34" charset="0"/>
              </a:rPr>
              <a:t>empat</a:t>
            </a:r>
            <a:r>
              <a:rPr lang="en-US" sz="2400" dirty="0">
                <a:solidFill>
                  <a:schemeClr val="tx1">
                    <a:lumMod val="75000"/>
                    <a:lumOff val="25000"/>
                  </a:schemeClr>
                </a:solidFill>
                <a:latin typeface="Century Gothic" pitchFamily="34" charset="0"/>
              </a:rPr>
              <a:t> </a:t>
            </a:r>
            <a:r>
              <a:rPr lang="en-US" sz="2400" dirty="0" err="1">
                <a:solidFill>
                  <a:schemeClr val="tx1">
                    <a:lumMod val="75000"/>
                    <a:lumOff val="25000"/>
                  </a:schemeClr>
                </a:solidFill>
                <a:latin typeface="Century Gothic" pitchFamily="34" charset="0"/>
              </a:rPr>
              <a:t>mata</a:t>
            </a:r>
            <a:r>
              <a:rPr lang="en-US" sz="2400" dirty="0">
                <a:solidFill>
                  <a:schemeClr val="tx1">
                    <a:lumMod val="75000"/>
                    <a:lumOff val="25000"/>
                  </a:schemeClr>
                </a:solidFill>
                <a:latin typeface="Century Gothic" pitchFamily="34" charset="0"/>
              </a:rPr>
              <a:t> kaki.</a:t>
            </a:r>
            <a:endParaRPr lang="en-US" sz="2400" b="1" dirty="0">
              <a:solidFill>
                <a:srgbClr val="C00000"/>
              </a:solidFill>
              <a:latin typeface="Century Gothic" pitchFamily="34" charset="0"/>
            </a:endParaRPr>
          </a:p>
        </p:txBody>
      </p:sp>
      <p:sp>
        <p:nvSpPr>
          <p:cNvPr id="7" name="Rectangle 6">
            <a:extLst>
              <a:ext uri="{FF2B5EF4-FFF2-40B4-BE49-F238E27FC236}">
                <a16:creationId xmlns:a16="http://schemas.microsoft.com/office/drawing/2014/main" id="{92357B2E-4105-49A9-B43E-1CB8D18FC6A7}"/>
              </a:ext>
            </a:extLst>
          </p:cNvPr>
          <p:cNvSpPr/>
          <p:nvPr/>
        </p:nvSpPr>
        <p:spPr>
          <a:xfrm>
            <a:off x="6168889" y="3188900"/>
            <a:ext cx="2372139" cy="11927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4673B76-F704-4A67-A831-62D7BACC473D}"/>
              </a:ext>
            </a:extLst>
          </p:cNvPr>
          <p:cNvSpPr txBox="1"/>
          <p:nvPr/>
        </p:nvSpPr>
        <p:spPr>
          <a:xfrm>
            <a:off x="6096000" y="1070513"/>
            <a:ext cx="5227981" cy="1815882"/>
          </a:xfrm>
          <a:prstGeom prst="rect">
            <a:avLst/>
          </a:prstGeom>
          <a:noFill/>
        </p:spPr>
        <p:txBody>
          <a:bodyPr wrap="square">
            <a:spAutoFit/>
          </a:bodyPr>
          <a:lstStyle/>
          <a:p>
            <a:r>
              <a:rPr lang="en-US" sz="2800" dirty="0" err="1">
                <a:solidFill>
                  <a:schemeClr val="tx1">
                    <a:lumMod val="75000"/>
                    <a:lumOff val="25000"/>
                  </a:schemeClr>
                </a:solidFill>
                <a:latin typeface="Montserrat ExtraBold" panose="00000900000000000000" pitchFamily="50" charset="0"/>
              </a:rPr>
              <a:t>Doktrin</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ini</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bukan</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tidak</a:t>
            </a:r>
            <a:r>
              <a:rPr lang="en-US" sz="2800" dirty="0">
                <a:solidFill>
                  <a:schemeClr val="tx1">
                    <a:lumMod val="75000"/>
                    <a:lumOff val="25000"/>
                  </a:schemeClr>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masuk</a:t>
            </a:r>
            <a:r>
              <a:rPr lang="en-US" sz="2800" dirty="0">
                <a:solidFill>
                  <a:srgbClr val="C00000"/>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akal</a:t>
            </a:r>
            <a:r>
              <a:rPr lang="en-US" sz="2800" dirty="0">
                <a:solidFill>
                  <a:schemeClr val="tx1">
                    <a:lumMod val="75000"/>
                    <a:lumOff val="25000"/>
                  </a:schemeClr>
                </a:solidFill>
                <a:latin typeface="Montserrat ExtraBold" panose="00000900000000000000" pitchFamily="50" charset="0"/>
              </a:rPr>
              <a:t> (irrational), </a:t>
            </a:r>
            <a:r>
              <a:rPr lang="en-US" sz="2800" dirty="0" err="1">
                <a:solidFill>
                  <a:schemeClr val="tx1">
                    <a:lumMod val="75000"/>
                    <a:lumOff val="25000"/>
                  </a:schemeClr>
                </a:solidFill>
                <a:latin typeface="Montserrat ExtraBold" panose="00000900000000000000" pitchFamily="50" charset="0"/>
              </a:rPr>
              <a:t>melainkan</a:t>
            </a:r>
            <a:r>
              <a:rPr lang="en-US" sz="2800" dirty="0">
                <a:solidFill>
                  <a:schemeClr val="tx1">
                    <a:lumMod val="75000"/>
                    <a:lumOff val="25000"/>
                  </a:schemeClr>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melampaui</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akal</a:t>
            </a:r>
            <a:r>
              <a:rPr lang="en-US" sz="2800" dirty="0">
                <a:solidFill>
                  <a:schemeClr val="tx1">
                    <a:lumMod val="75000"/>
                    <a:lumOff val="25000"/>
                  </a:schemeClr>
                </a:solidFill>
                <a:latin typeface="Montserrat ExtraBold" panose="00000900000000000000" pitchFamily="50" charset="0"/>
              </a:rPr>
              <a:t> (trans-rational). </a:t>
            </a:r>
          </a:p>
        </p:txBody>
      </p:sp>
      <p:pic>
        <p:nvPicPr>
          <p:cNvPr id="12290" name="Picture 2" descr="Logic Mind Stock Illustrations – 16,590 Logic Mind Stock Illustrations,  Vectors &amp; Clipart - Dreamstime">
            <a:extLst>
              <a:ext uri="{FF2B5EF4-FFF2-40B4-BE49-F238E27FC236}">
                <a16:creationId xmlns:a16="http://schemas.microsoft.com/office/drawing/2014/main" id="{C666776F-427B-4A64-88A1-64298208A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669774"/>
            <a:ext cx="5689568" cy="426717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FCECF6E-C8BE-4D55-9228-D7DA969658ED}"/>
              </a:ext>
            </a:extLst>
          </p:cNvPr>
          <p:cNvSpPr/>
          <p:nvPr/>
        </p:nvSpPr>
        <p:spPr>
          <a:xfrm>
            <a:off x="4497630" y="-1"/>
            <a:ext cx="559558" cy="224676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A01F189-7012-49CA-B859-F394C3C2E883}"/>
              </a:ext>
            </a:extLst>
          </p:cNvPr>
          <p:cNvSpPr/>
          <p:nvPr/>
        </p:nvSpPr>
        <p:spPr>
          <a:xfrm>
            <a:off x="583093" y="5512905"/>
            <a:ext cx="689113" cy="134509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43089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40AD05-7D5A-414E-B12F-4BCC5FEED866}"/>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45F5F09-4B9D-4AF4-AB42-B05F6DBE7A0F}"/>
              </a:ext>
            </a:extLst>
          </p:cNvPr>
          <p:cNvSpPr/>
          <p:nvPr/>
        </p:nvSpPr>
        <p:spPr>
          <a:xfrm>
            <a:off x="11463131" y="0"/>
            <a:ext cx="728870" cy="26504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0375331-8BCA-428E-A805-4EA65C378A99}"/>
              </a:ext>
            </a:extLst>
          </p:cNvPr>
          <p:cNvSpPr/>
          <p:nvPr/>
        </p:nvSpPr>
        <p:spPr>
          <a:xfrm>
            <a:off x="7553737" y="5049078"/>
            <a:ext cx="728870" cy="18089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DCD43EA-EC27-4B98-92A5-AE177A441D0A}"/>
              </a:ext>
            </a:extLst>
          </p:cNvPr>
          <p:cNvSpPr txBox="1"/>
          <p:nvPr/>
        </p:nvSpPr>
        <p:spPr>
          <a:xfrm>
            <a:off x="1194559" y="1996541"/>
            <a:ext cx="5413513" cy="3262432"/>
          </a:xfrm>
          <a:prstGeom prst="rect">
            <a:avLst/>
          </a:prstGeom>
          <a:noFill/>
        </p:spPr>
        <p:txBody>
          <a:bodyPr wrap="square" rtlCol="0">
            <a:spAutoFit/>
          </a:bodyPr>
          <a:lstStyle/>
          <a:p>
            <a:r>
              <a:rPr lang="id-ID" sz="2800" dirty="0">
                <a:solidFill>
                  <a:schemeClr val="tx1">
                    <a:lumMod val="75000"/>
                    <a:lumOff val="25000"/>
                  </a:schemeClr>
                </a:solidFill>
                <a:latin typeface="Century Gothic" panose="020B0502020202020204" pitchFamily="34" charset="0"/>
              </a:rPr>
              <a:t>“It is not only true that we can never fully understand God; it is also true that we can never fully understand </a:t>
            </a:r>
            <a:r>
              <a:rPr lang="id-ID" sz="2800" b="1" dirty="0">
                <a:solidFill>
                  <a:srgbClr val="C00000"/>
                </a:solidFill>
                <a:latin typeface="Century Gothic" panose="020B0502020202020204" pitchFamily="34" charset="0"/>
              </a:rPr>
              <a:t>any single thing</a:t>
            </a:r>
            <a:r>
              <a:rPr lang="id-ID" sz="2800" dirty="0">
                <a:solidFill>
                  <a:schemeClr val="tx1">
                    <a:lumMod val="75000"/>
                    <a:lumOff val="25000"/>
                  </a:schemeClr>
                </a:solidFill>
                <a:latin typeface="Century Gothic" panose="020B0502020202020204" pitchFamily="34" charset="0"/>
              </a:rPr>
              <a:t> about God” </a:t>
            </a:r>
            <a:endParaRPr lang="en-US" sz="2800" dirty="0">
              <a:solidFill>
                <a:schemeClr val="tx1">
                  <a:lumMod val="75000"/>
                  <a:lumOff val="25000"/>
                </a:schemeClr>
              </a:solidFill>
              <a:latin typeface="Century Gothic" panose="020B0502020202020204" pitchFamily="34" charset="0"/>
            </a:endParaRPr>
          </a:p>
          <a:p>
            <a:endParaRPr lang="en-US" sz="2200" dirty="0">
              <a:solidFill>
                <a:schemeClr val="tx1">
                  <a:lumMod val="75000"/>
                  <a:lumOff val="25000"/>
                </a:schemeClr>
              </a:solidFill>
              <a:latin typeface="Century Gothic" panose="020B0502020202020204" pitchFamily="34" charset="0"/>
            </a:endParaRPr>
          </a:p>
          <a:p>
            <a:endParaRPr lang="en-US" sz="2200" dirty="0">
              <a:solidFill>
                <a:schemeClr val="tx1">
                  <a:lumMod val="75000"/>
                  <a:lumOff val="25000"/>
                </a:schemeClr>
              </a:solidFill>
              <a:latin typeface="Century Gothic" panose="020B0502020202020204" pitchFamily="34" charset="0"/>
            </a:endParaRPr>
          </a:p>
          <a:p>
            <a:r>
              <a:rPr lang="id-ID" sz="2200" dirty="0">
                <a:solidFill>
                  <a:schemeClr val="tx1">
                    <a:lumMod val="75000"/>
                    <a:lumOff val="25000"/>
                  </a:schemeClr>
                </a:solidFill>
                <a:latin typeface="Century Gothic" panose="020B0502020202020204" pitchFamily="34" charset="0"/>
              </a:rPr>
              <a:t>(Grudem, </a:t>
            </a:r>
            <a:r>
              <a:rPr lang="en-US" sz="2200" i="1" dirty="0">
                <a:solidFill>
                  <a:schemeClr val="tx1">
                    <a:lumMod val="75000"/>
                    <a:lumOff val="25000"/>
                  </a:schemeClr>
                </a:solidFill>
                <a:latin typeface="Century Gothic" panose="020B0502020202020204" pitchFamily="34" charset="0"/>
              </a:rPr>
              <a:t>Systematic Theology</a:t>
            </a:r>
            <a:r>
              <a:rPr lang="en-US" sz="2200" dirty="0">
                <a:solidFill>
                  <a:schemeClr val="tx1">
                    <a:lumMod val="75000"/>
                    <a:lumOff val="25000"/>
                  </a:schemeClr>
                </a:solidFill>
                <a:latin typeface="Century Gothic" panose="020B0502020202020204" pitchFamily="34" charset="0"/>
              </a:rPr>
              <a:t>, </a:t>
            </a:r>
            <a:r>
              <a:rPr lang="id-ID" sz="2200" dirty="0">
                <a:solidFill>
                  <a:schemeClr val="tx1">
                    <a:lumMod val="75000"/>
                    <a:lumOff val="25000"/>
                  </a:schemeClr>
                </a:solidFill>
                <a:latin typeface="Century Gothic" panose="020B0502020202020204" pitchFamily="34" charset="0"/>
              </a:rPr>
              <a:t>150)</a:t>
            </a:r>
            <a:endParaRPr lang="en-US" sz="2200" dirty="0">
              <a:solidFill>
                <a:schemeClr val="tx1">
                  <a:lumMod val="75000"/>
                  <a:lumOff val="25000"/>
                </a:schemeClr>
              </a:solidFill>
              <a:latin typeface="Montserrat ExtraBold" panose="00000900000000000000" pitchFamily="50" charset="0"/>
            </a:endParaRPr>
          </a:p>
        </p:txBody>
      </p:sp>
      <p:pic>
        <p:nvPicPr>
          <p:cNvPr id="14338" name="Picture 2" descr="Systematic Theology: An Introduction to Biblical Doctrine by Wayne Grudem |  Goodreads">
            <a:extLst>
              <a:ext uri="{FF2B5EF4-FFF2-40B4-BE49-F238E27FC236}">
                <a16:creationId xmlns:a16="http://schemas.microsoft.com/office/drawing/2014/main" id="{422FDB04-F897-43CB-A587-321E1A8E5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2631" y="484571"/>
            <a:ext cx="3848927" cy="5888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138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CB145A-6C24-47E9-80A3-0506410D50AF}"/>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072D70E-72EF-4034-BA22-584742268789}"/>
              </a:ext>
            </a:extLst>
          </p:cNvPr>
          <p:cNvSpPr txBox="1"/>
          <p:nvPr/>
        </p:nvSpPr>
        <p:spPr>
          <a:xfrm>
            <a:off x="1789043" y="2477365"/>
            <a:ext cx="8613913" cy="3908762"/>
          </a:xfrm>
          <a:prstGeom prst="rect">
            <a:avLst/>
          </a:prstGeom>
          <a:noFill/>
        </p:spPr>
        <p:txBody>
          <a:bodyPr wrap="square">
            <a:spAutoFit/>
          </a:bodyPr>
          <a:lstStyle/>
          <a:p>
            <a:pPr algn="ctr"/>
            <a:r>
              <a:rPr lang="en-US" sz="3600" dirty="0">
                <a:solidFill>
                  <a:schemeClr val="tx1">
                    <a:lumMod val="85000"/>
                    <a:lumOff val="15000"/>
                  </a:schemeClr>
                </a:solidFill>
                <a:latin typeface="Montserrat ExtraBold" panose="00000900000000000000" pitchFamily="50" charset="0"/>
              </a:rPr>
              <a:t>Benjamin. B. </a:t>
            </a:r>
            <a:r>
              <a:rPr lang="en-US" sz="3600" dirty="0">
                <a:solidFill>
                  <a:srgbClr val="C00000"/>
                </a:solidFill>
                <a:latin typeface="Montserrat ExtraBold" panose="00000900000000000000" pitchFamily="50" charset="0"/>
              </a:rPr>
              <a:t>Warfield</a:t>
            </a:r>
          </a:p>
          <a:p>
            <a:pPr algn="ctr"/>
            <a:endParaRPr lang="en-US" sz="2000" dirty="0">
              <a:solidFill>
                <a:schemeClr val="tx1">
                  <a:lumMod val="85000"/>
                  <a:lumOff val="15000"/>
                </a:schemeClr>
              </a:solidFill>
              <a:latin typeface="Montserrat" panose="00000500000000000000" pitchFamily="50" charset="0"/>
            </a:endParaRPr>
          </a:p>
          <a:p>
            <a:pPr algn="ctr"/>
            <a:r>
              <a:rPr lang="en-US" sz="2400" dirty="0">
                <a:solidFill>
                  <a:schemeClr val="tx1">
                    <a:lumMod val="85000"/>
                    <a:lumOff val="15000"/>
                  </a:schemeClr>
                </a:solidFill>
                <a:latin typeface="Montserrat" panose="00000500000000000000" pitchFamily="50" charset="0"/>
              </a:rPr>
              <a:t>The mystery of the Trinity is not revealed in the Old Testament; but the mystery of the Trinity </a:t>
            </a:r>
            <a:r>
              <a:rPr lang="en-US" sz="2400" b="1" dirty="0">
                <a:solidFill>
                  <a:srgbClr val="C00000"/>
                </a:solidFill>
                <a:latin typeface="Montserrat" panose="00000500000000000000" pitchFamily="50" charset="0"/>
              </a:rPr>
              <a:t>underlies</a:t>
            </a:r>
            <a:r>
              <a:rPr lang="en-US" sz="2400" b="1" dirty="0">
                <a:solidFill>
                  <a:schemeClr val="tx1">
                    <a:lumMod val="85000"/>
                    <a:lumOff val="15000"/>
                  </a:schemeClr>
                </a:solidFill>
                <a:latin typeface="Montserrat" panose="00000500000000000000" pitchFamily="50" charset="0"/>
              </a:rPr>
              <a:t> </a:t>
            </a:r>
            <a:r>
              <a:rPr lang="en-US" sz="2400" dirty="0">
                <a:solidFill>
                  <a:schemeClr val="tx1">
                    <a:lumMod val="85000"/>
                    <a:lumOff val="15000"/>
                  </a:schemeClr>
                </a:solidFill>
                <a:latin typeface="Montserrat" panose="00000500000000000000" pitchFamily="50" charset="0"/>
              </a:rPr>
              <a:t>the Old Testament: revelation, and here and there almost comes in view. Thus the Old Testament revelation is </a:t>
            </a:r>
            <a:r>
              <a:rPr lang="en-US" sz="2400" b="1" dirty="0">
                <a:solidFill>
                  <a:srgbClr val="C00000"/>
                </a:solidFill>
                <a:latin typeface="Montserrat" panose="00000500000000000000" pitchFamily="50" charset="0"/>
              </a:rPr>
              <a:t>not corrected</a:t>
            </a:r>
            <a:r>
              <a:rPr lang="en-US" sz="2400" dirty="0">
                <a:solidFill>
                  <a:srgbClr val="C00000"/>
                </a:solidFill>
                <a:latin typeface="Montserrat" panose="00000500000000000000" pitchFamily="50" charset="0"/>
              </a:rPr>
              <a:t> </a:t>
            </a:r>
            <a:r>
              <a:rPr lang="en-US" sz="2400" dirty="0">
                <a:solidFill>
                  <a:schemeClr val="tx1">
                    <a:lumMod val="85000"/>
                    <a:lumOff val="15000"/>
                  </a:schemeClr>
                </a:solidFill>
                <a:latin typeface="Montserrat" panose="00000500000000000000" pitchFamily="50" charset="0"/>
              </a:rPr>
              <a:t>by the fuller revelation which follows it, but only perfected, extended and enlarged.</a:t>
            </a:r>
          </a:p>
          <a:p>
            <a:pPr algn="ctr"/>
            <a:endParaRPr lang="en-US" sz="2400" dirty="0">
              <a:solidFill>
                <a:schemeClr val="tx1">
                  <a:lumMod val="85000"/>
                  <a:lumOff val="15000"/>
                </a:schemeClr>
              </a:solidFill>
              <a:latin typeface="Montserrat" panose="00000500000000000000" pitchFamily="50" charset="0"/>
            </a:endParaRPr>
          </a:p>
          <a:p>
            <a:pPr algn="ctr"/>
            <a:r>
              <a:rPr lang="en-US" sz="2400" dirty="0">
                <a:solidFill>
                  <a:schemeClr val="tx1">
                    <a:lumMod val="85000"/>
                    <a:lumOff val="15000"/>
                  </a:schemeClr>
                </a:solidFill>
                <a:latin typeface="Montserrat" panose="00000500000000000000" pitchFamily="50" charset="0"/>
              </a:rPr>
              <a:t>(</a:t>
            </a:r>
            <a:r>
              <a:rPr lang="en-US" sz="2400" i="1" dirty="0">
                <a:solidFill>
                  <a:schemeClr val="tx1">
                    <a:lumMod val="85000"/>
                    <a:lumOff val="15000"/>
                  </a:schemeClr>
                </a:solidFill>
                <a:latin typeface="Montserrat" panose="00000500000000000000" pitchFamily="50" charset="0"/>
              </a:rPr>
              <a:t>Biblical Doctrines</a:t>
            </a:r>
            <a:r>
              <a:rPr lang="en-US" sz="2400" dirty="0">
                <a:solidFill>
                  <a:schemeClr val="tx1">
                    <a:lumMod val="85000"/>
                    <a:lumOff val="15000"/>
                  </a:schemeClr>
                </a:solidFill>
                <a:latin typeface="Montserrat" panose="00000500000000000000" pitchFamily="50" charset="0"/>
              </a:rPr>
              <a:t>, 142)</a:t>
            </a:r>
            <a:endParaRPr lang="id-ID" sz="2400" dirty="0">
              <a:solidFill>
                <a:schemeClr val="tx1">
                  <a:lumMod val="85000"/>
                  <a:lumOff val="15000"/>
                </a:schemeClr>
              </a:solidFill>
              <a:latin typeface="Montserrat" panose="00000500000000000000" pitchFamily="50" charset="0"/>
            </a:endParaRPr>
          </a:p>
        </p:txBody>
      </p:sp>
    </p:spTree>
    <p:extLst>
      <p:ext uri="{BB962C8B-B14F-4D97-AF65-F5344CB8AC3E}">
        <p14:creationId xmlns:p14="http://schemas.microsoft.com/office/powerpoint/2010/main" val="3079946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CB145A-6C24-47E9-80A3-0506410D50AF}"/>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072D70E-72EF-4034-BA22-584742268789}"/>
              </a:ext>
            </a:extLst>
          </p:cNvPr>
          <p:cNvSpPr txBox="1"/>
          <p:nvPr/>
        </p:nvSpPr>
        <p:spPr>
          <a:xfrm>
            <a:off x="1789043" y="2742408"/>
            <a:ext cx="8613913" cy="3600986"/>
          </a:xfrm>
          <a:prstGeom prst="rect">
            <a:avLst/>
          </a:prstGeom>
          <a:noFill/>
        </p:spPr>
        <p:txBody>
          <a:bodyPr wrap="square">
            <a:spAutoFit/>
          </a:bodyPr>
          <a:lstStyle/>
          <a:p>
            <a:pPr algn="ctr"/>
            <a:r>
              <a:rPr lang="en-US" sz="3600" b="1" dirty="0">
                <a:solidFill>
                  <a:schemeClr val="tx1">
                    <a:lumMod val="75000"/>
                    <a:lumOff val="25000"/>
                  </a:schemeClr>
                </a:solidFill>
                <a:latin typeface="Montserrat ExtraBold" panose="00000900000000000000" pitchFamily="50" charset="0"/>
              </a:rPr>
              <a:t>Keith </a:t>
            </a:r>
            <a:r>
              <a:rPr lang="en-US" sz="3600" b="1" dirty="0">
                <a:solidFill>
                  <a:srgbClr val="C00000"/>
                </a:solidFill>
                <a:latin typeface="Montserrat ExtraBold" panose="00000900000000000000" pitchFamily="50" charset="0"/>
              </a:rPr>
              <a:t>Ward:</a:t>
            </a:r>
          </a:p>
          <a:p>
            <a:pPr algn="ctr"/>
            <a:endParaRPr lang="en-US" sz="2400" dirty="0">
              <a:solidFill>
                <a:schemeClr val="tx1">
                  <a:lumMod val="75000"/>
                  <a:lumOff val="25000"/>
                </a:schemeClr>
              </a:solidFill>
              <a:latin typeface="Montserrat" panose="00000500000000000000" pitchFamily="50" charset="0"/>
            </a:endParaRPr>
          </a:p>
          <a:p>
            <a:pPr algn="ctr"/>
            <a:r>
              <a:rPr lang="en-US" sz="2400" dirty="0">
                <a:solidFill>
                  <a:schemeClr val="tx1">
                    <a:lumMod val="75000"/>
                    <a:lumOff val="25000"/>
                  </a:schemeClr>
                </a:solidFill>
                <a:latin typeface="Montserrat" panose="00000500000000000000" pitchFamily="50" charset="0"/>
              </a:rPr>
              <a:t>The idea of the Trinity does not </a:t>
            </a:r>
            <a:r>
              <a:rPr lang="en-US" sz="2400" b="1" dirty="0">
                <a:solidFill>
                  <a:srgbClr val="C00000"/>
                </a:solidFill>
                <a:latin typeface="Montserrat" panose="00000500000000000000" pitchFamily="50" charset="0"/>
              </a:rPr>
              <a:t>supersede </a:t>
            </a:r>
            <a:r>
              <a:rPr lang="en-US" sz="2400" dirty="0">
                <a:solidFill>
                  <a:schemeClr val="tx1">
                    <a:lumMod val="75000"/>
                    <a:lumOff val="25000"/>
                  </a:schemeClr>
                </a:solidFill>
                <a:latin typeface="Montserrat" panose="00000500000000000000" pitchFamily="50" charset="0"/>
              </a:rPr>
              <a:t>monotheism; it </a:t>
            </a:r>
            <a:r>
              <a:rPr lang="en-US" sz="2400" b="1" dirty="0">
                <a:solidFill>
                  <a:srgbClr val="C00000"/>
                </a:solidFill>
                <a:latin typeface="Montserrat" panose="00000500000000000000" pitchFamily="50" charset="0"/>
              </a:rPr>
              <a:t>interprets</a:t>
            </a:r>
            <a:r>
              <a:rPr lang="en-US" sz="2400" dirty="0">
                <a:solidFill>
                  <a:schemeClr val="tx1">
                    <a:lumMod val="75000"/>
                    <a:lumOff val="25000"/>
                  </a:schemeClr>
                </a:solidFill>
                <a:latin typeface="Montserrat" panose="00000500000000000000" pitchFamily="50" charset="0"/>
              </a:rPr>
              <a:t> it, in the light of a specific set of revelatory events and experiences. </a:t>
            </a:r>
          </a:p>
          <a:p>
            <a:pPr algn="ctr"/>
            <a:endParaRPr lang="en-US" sz="2400" dirty="0">
              <a:solidFill>
                <a:schemeClr val="tx1">
                  <a:lumMod val="75000"/>
                  <a:lumOff val="25000"/>
                </a:schemeClr>
              </a:solidFill>
              <a:latin typeface="Montserrat" panose="00000500000000000000" pitchFamily="50" charset="0"/>
            </a:endParaRPr>
          </a:p>
          <a:p>
            <a:pPr algn="ctr"/>
            <a:r>
              <a:rPr lang="en-US" sz="2400" dirty="0">
                <a:solidFill>
                  <a:schemeClr val="tx1">
                    <a:lumMod val="75000"/>
                    <a:lumOff val="25000"/>
                  </a:schemeClr>
                </a:solidFill>
                <a:latin typeface="Montserrat" panose="00000500000000000000" pitchFamily="50" charset="0"/>
              </a:rPr>
              <a:t>(</a:t>
            </a:r>
            <a:r>
              <a:rPr lang="en-US" sz="2400" i="1" dirty="0">
                <a:solidFill>
                  <a:schemeClr val="tx1">
                    <a:lumMod val="75000"/>
                    <a:lumOff val="25000"/>
                  </a:schemeClr>
                </a:solidFill>
                <a:latin typeface="Montserrat" panose="00000500000000000000" pitchFamily="50" charset="0"/>
              </a:rPr>
              <a:t>Religion and Creation</a:t>
            </a:r>
            <a:r>
              <a:rPr lang="en-US" sz="2400" dirty="0">
                <a:solidFill>
                  <a:schemeClr val="tx1">
                    <a:lumMod val="75000"/>
                    <a:lumOff val="25000"/>
                  </a:schemeClr>
                </a:solidFill>
                <a:latin typeface="Montserrat" panose="00000500000000000000" pitchFamily="50" charset="0"/>
              </a:rPr>
              <a:t>, 327)</a:t>
            </a:r>
          </a:p>
          <a:p>
            <a:pPr algn="ctr"/>
            <a:endParaRPr lang="id-ID" sz="2400" dirty="0">
              <a:solidFill>
                <a:schemeClr val="tx1">
                  <a:lumMod val="75000"/>
                  <a:lumOff val="25000"/>
                </a:schemeClr>
              </a:solidFill>
              <a:latin typeface="Montserrat" panose="00000500000000000000" pitchFamily="50" charset="0"/>
            </a:endParaRPr>
          </a:p>
          <a:p>
            <a:pPr algn="ctr"/>
            <a:endParaRPr lang="id-ID" sz="2400" dirty="0">
              <a:solidFill>
                <a:schemeClr val="tx1">
                  <a:lumMod val="75000"/>
                  <a:lumOff val="25000"/>
                </a:schemeClr>
              </a:solidFill>
              <a:latin typeface="Montserrat" panose="00000500000000000000" pitchFamily="50" charset="0"/>
            </a:endParaRPr>
          </a:p>
        </p:txBody>
      </p:sp>
    </p:spTree>
    <p:extLst>
      <p:ext uri="{BB962C8B-B14F-4D97-AF65-F5344CB8AC3E}">
        <p14:creationId xmlns:p14="http://schemas.microsoft.com/office/powerpoint/2010/main" val="1305675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47EA6F-AF00-4EB7-B095-4A1912E340F0}"/>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BE9BCDA-8ABC-423B-92ED-C5FF9FD896D8}"/>
              </a:ext>
            </a:extLst>
          </p:cNvPr>
          <p:cNvSpPr txBox="1"/>
          <p:nvPr/>
        </p:nvSpPr>
        <p:spPr>
          <a:xfrm>
            <a:off x="6461760" y="112001"/>
            <a:ext cx="5587999" cy="6617196"/>
          </a:xfrm>
          <a:prstGeom prst="rect">
            <a:avLst/>
          </a:prstGeom>
          <a:noFill/>
        </p:spPr>
        <p:txBody>
          <a:bodyPr wrap="square">
            <a:spAutoFit/>
          </a:bodyPr>
          <a:lstStyle/>
          <a:p>
            <a:r>
              <a:rPr lang="en-US" sz="2400" b="1" dirty="0" err="1">
                <a:solidFill>
                  <a:srgbClr val="C00000"/>
                </a:solidFill>
                <a:latin typeface="Montserrat ExtraBold" panose="00000900000000000000" pitchFamily="50" charset="0"/>
              </a:rPr>
              <a:t>Kejadian</a:t>
            </a:r>
            <a:r>
              <a:rPr lang="en-US" sz="2400" b="1" dirty="0">
                <a:solidFill>
                  <a:srgbClr val="C00000"/>
                </a:solidFill>
                <a:latin typeface="Montserrat ExtraBold" panose="00000900000000000000" pitchFamily="50" charset="0"/>
              </a:rPr>
              <a:t> 1:26-27 </a:t>
            </a:r>
          </a:p>
          <a:p>
            <a:endParaRPr lang="en-US" sz="2400" dirty="0">
              <a:latin typeface="Montserrat" panose="00000500000000000000" pitchFamily="50" charset="0"/>
            </a:endParaRPr>
          </a:p>
          <a:p>
            <a:r>
              <a:rPr lang="en-US" sz="2400" dirty="0" err="1">
                <a:latin typeface="Montserrat" panose="00000500000000000000" pitchFamily="50" charset="0"/>
              </a:rPr>
              <a:t>Berfirmanlah</a:t>
            </a:r>
            <a:r>
              <a:rPr lang="en-US" sz="2400" dirty="0">
                <a:latin typeface="Montserrat" panose="00000500000000000000" pitchFamily="50" charset="0"/>
              </a:rPr>
              <a:t> Allah: “</a:t>
            </a:r>
            <a:r>
              <a:rPr lang="en-US" sz="2400" dirty="0" err="1">
                <a:latin typeface="Montserrat" panose="00000500000000000000" pitchFamily="50" charset="0"/>
              </a:rPr>
              <a:t>Baiklah</a:t>
            </a:r>
            <a:r>
              <a:rPr lang="en-US" sz="2400" dirty="0">
                <a:latin typeface="Montserrat" panose="00000500000000000000" pitchFamily="50" charset="0"/>
              </a:rPr>
              <a:t> </a:t>
            </a:r>
            <a:r>
              <a:rPr lang="en-US" sz="2400" u="sng" dirty="0">
                <a:latin typeface="Montserrat" panose="00000500000000000000" pitchFamily="50" charset="0"/>
              </a:rPr>
              <a:t>Kita</a:t>
            </a:r>
            <a:r>
              <a:rPr lang="en-US" sz="2400" dirty="0">
                <a:latin typeface="Montserrat" panose="00000500000000000000" pitchFamily="50" charset="0"/>
              </a:rPr>
              <a:t> </a:t>
            </a:r>
            <a:r>
              <a:rPr lang="en-US" sz="2400" u="sng" dirty="0" err="1">
                <a:latin typeface="Montserrat" panose="00000500000000000000" pitchFamily="50" charset="0"/>
              </a:rPr>
              <a:t>menjadikan</a:t>
            </a:r>
            <a:r>
              <a:rPr lang="en-US" sz="2400" dirty="0">
                <a:latin typeface="Montserrat" panose="00000500000000000000" pitchFamily="50" charset="0"/>
              </a:rPr>
              <a:t> (</a:t>
            </a:r>
            <a:r>
              <a:rPr lang="en-US" sz="2400" dirty="0" err="1">
                <a:latin typeface="Montserrat" panose="00000500000000000000" pitchFamily="50" charset="0"/>
              </a:rPr>
              <a:t>jamak</a:t>
            </a:r>
            <a:r>
              <a:rPr lang="en-US" sz="2400" dirty="0">
                <a:latin typeface="Montserrat" panose="00000500000000000000" pitchFamily="50" charset="0"/>
              </a:rPr>
              <a:t>) </a:t>
            </a:r>
            <a:r>
              <a:rPr lang="en-US" sz="2400" dirty="0" err="1">
                <a:latin typeface="Montserrat" panose="00000500000000000000" pitchFamily="50" charset="0"/>
              </a:rPr>
              <a:t>manusia</a:t>
            </a:r>
            <a:r>
              <a:rPr lang="en-US" sz="2400" dirty="0">
                <a:latin typeface="Montserrat" panose="00000500000000000000" pitchFamily="50" charset="0"/>
              </a:rPr>
              <a:t> </a:t>
            </a:r>
            <a:r>
              <a:rPr lang="en-US" sz="2400" dirty="0" err="1">
                <a:latin typeface="Montserrat" panose="00000500000000000000" pitchFamily="50" charset="0"/>
              </a:rPr>
              <a:t>menurut</a:t>
            </a:r>
            <a:r>
              <a:rPr lang="en-US" sz="2400" dirty="0">
                <a:latin typeface="Montserrat" panose="00000500000000000000" pitchFamily="50" charset="0"/>
              </a:rPr>
              <a:t> </a:t>
            </a:r>
            <a:r>
              <a:rPr lang="en-US" sz="2400" u="sng" dirty="0" err="1">
                <a:latin typeface="Montserrat" panose="00000500000000000000" pitchFamily="50" charset="0"/>
              </a:rPr>
              <a:t>gambar</a:t>
            </a:r>
            <a:r>
              <a:rPr lang="en-US" sz="2400" u="sng" dirty="0">
                <a:latin typeface="Montserrat" panose="00000500000000000000" pitchFamily="50" charset="0"/>
              </a:rPr>
              <a:t> dan </a:t>
            </a:r>
            <a:r>
              <a:rPr lang="en-US" sz="2400" u="sng" dirty="0" err="1">
                <a:latin typeface="Montserrat" panose="00000500000000000000" pitchFamily="50" charset="0"/>
              </a:rPr>
              <a:t>rupa</a:t>
            </a:r>
            <a:r>
              <a:rPr lang="en-US" sz="2400" u="sng" dirty="0">
                <a:latin typeface="Montserrat" panose="00000500000000000000" pitchFamily="50" charset="0"/>
              </a:rPr>
              <a:t> Kita,</a:t>
            </a:r>
            <a:r>
              <a:rPr lang="en-US" sz="2400" dirty="0">
                <a:latin typeface="Montserrat" panose="00000500000000000000" pitchFamily="50" charset="0"/>
              </a:rPr>
              <a:t> </a:t>
            </a:r>
            <a:r>
              <a:rPr lang="en-US" sz="2400" dirty="0" err="1">
                <a:latin typeface="Montserrat" panose="00000500000000000000" pitchFamily="50" charset="0"/>
              </a:rPr>
              <a:t>supaya</a:t>
            </a:r>
            <a:r>
              <a:rPr lang="en-US" sz="2400" dirty="0">
                <a:latin typeface="Montserrat" panose="00000500000000000000" pitchFamily="50" charset="0"/>
              </a:rPr>
              <a:t> </a:t>
            </a:r>
            <a:r>
              <a:rPr lang="en-US" sz="2400" dirty="0" err="1">
                <a:latin typeface="Montserrat" panose="00000500000000000000" pitchFamily="50" charset="0"/>
              </a:rPr>
              <a:t>mereka</a:t>
            </a:r>
            <a:r>
              <a:rPr lang="en-US" sz="2400" dirty="0">
                <a:latin typeface="Montserrat" panose="00000500000000000000" pitchFamily="50" charset="0"/>
              </a:rPr>
              <a:t> </a:t>
            </a:r>
            <a:r>
              <a:rPr lang="en-US" sz="2400" dirty="0" err="1">
                <a:latin typeface="Montserrat" panose="00000500000000000000" pitchFamily="50" charset="0"/>
              </a:rPr>
              <a:t>berkuasa</a:t>
            </a:r>
            <a:r>
              <a:rPr lang="en-US" sz="2400" dirty="0">
                <a:latin typeface="Montserrat" panose="00000500000000000000" pitchFamily="50" charset="0"/>
              </a:rPr>
              <a:t> </a:t>
            </a:r>
            <a:r>
              <a:rPr lang="en-US" sz="2400" dirty="0" err="1">
                <a:latin typeface="Montserrat" panose="00000500000000000000" pitchFamily="50" charset="0"/>
              </a:rPr>
              <a:t>atas</a:t>
            </a:r>
            <a:r>
              <a:rPr lang="en-US" sz="2400" dirty="0">
                <a:latin typeface="Montserrat" panose="00000500000000000000" pitchFamily="50" charset="0"/>
              </a:rPr>
              <a:t> ikan-ikan di </a:t>
            </a:r>
            <a:r>
              <a:rPr lang="en-US" sz="2400" dirty="0" err="1">
                <a:latin typeface="Montserrat" panose="00000500000000000000" pitchFamily="50" charset="0"/>
              </a:rPr>
              <a:t>laut</a:t>
            </a:r>
            <a:r>
              <a:rPr lang="en-US" sz="2400" dirty="0">
                <a:latin typeface="Montserrat" panose="00000500000000000000" pitchFamily="50" charset="0"/>
              </a:rPr>
              <a:t> dan </a:t>
            </a:r>
            <a:r>
              <a:rPr lang="en-US" sz="2400" dirty="0" err="1">
                <a:latin typeface="Montserrat" panose="00000500000000000000" pitchFamily="50" charset="0"/>
              </a:rPr>
              <a:t>burung-burung</a:t>
            </a:r>
            <a:r>
              <a:rPr lang="en-US" sz="2400" dirty="0">
                <a:latin typeface="Montserrat" panose="00000500000000000000" pitchFamily="50" charset="0"/>
              </a:rPr>
              <a:t> di </a:t>
            </a:r>
            <a:r>
              <a:rPr lang="en-US" sz="2400" dirty="0" err="1">
                <a:latin typeface="Montserrat" panose="00000500000000000000" pitchFamily="50" charset="0"/>
              </a:rPr>
              <a:t>udara</a:t>
            </a:r>
            <a:r>
              <a:rPr lang="en-US" sz="2400" dirty="0">
                <a:latin typeface="Montserrat" panose="00000500000000000000" pitchFamily="50" charset="0"/>
              </a:rPr>
              <a:t> dan </a:t>
            </a:r>
            <a:r>
              <a:rPr lang="en-US" sz="2400" dirty="0" err="1">
                <a:latin typeface="Montserrat" panose="00000500000000000000" pitchFamily="50" charset="0"/>
              </a:rPr>
              <a:t>atas</a:t>
            </a:r>
            <a:r>
              <a:rPr lang="en-US" sz="2400" dirty="0">
                <a:latin typeface="Montserrat" panose="00000500000000000000" pitchFamily="50" charset="0"/>
              </a:rPr>
              <a:t> </a:t>
            </a:r>
            <a:r>
              <a:rPr lang="en-US" sz="2400" dirty="0" err="1">
                <a:latin typeface="Montserrat" panose="00000500000000000000" pitchFamily="50" charset="0"/>
              </a:rPr>
              <a:t>ternak</a:t>
            </a:r>
            <a:r>
              <a:rPr lang="en-US" sz="2400" dirty="0">
                <a:latin typeface="Montserrat" panose="00000500000000000000" pitchFamily="50" charset="0"/>
              </a:rPr>
              <a:t> dan </a:t>
            </a:r>
            <a:r>
              <a:rPr lang="en-US" sz="2400" dirty="0" err="1">
                <a:latin typeface="Montserrat" panose="00000500000000000000" pitchFamily="50" charset="0"/>
              </a:rPr>
              <a:t>atas</a:t>
            </a:r>
            <a:r>
              <a:rPr lang="en-US" sz="2400" dirty="0">
                <a:latin typeface="Montserrat" panose="00000500000000000000" pitchFamily="50" charset="0"/>
              </a:rPr>
              <a:t> </a:t>
            </a:r>
            <a:r>
              <a:rPr lang="en-US" sz="2400" dirty="0" err="1">
                <a:latin typeface="Montserrat" panose="00000500000000000000" pitchFamily="50" charset="0"/>
              </a:rPr>
              <a:t>seluruh</a:t>
            </a:r>
            <a:r>
              <a:rPr lang="en-US" sz="2400" dirty="0">
                <a:latin typeface="Montserrat" panose="00000500000000000000" pitchFamily="50" charset="0"/>
              </a:rPr>
              <a:t> </a:t>
            </a:r>
            <a:r>
              <a:rPr lang="en-US" sz="2400" dirty="0" err="1">
                <a:latin typeface="Montserrat" panose="00000500000000000000" pitchFamily="50" charset="0"/>
              </a:rPr>
              <a:t>bumi</a:t>
            </a:r>
            <a:r>
              <a:rPr lang="en-US" sz="2400" dirty="0">
                <a:latin typeface="Montserrat" panose="00000500000000000000" pitchFamily="50" charset="0"/>
              </a:rPr>
              <a:t> dan </a:t>
            </a:r>
            <a:r>
              <a:rPr lang="en-US" sz="2400" dirty="0" err="1">
                <a:latin typeface="Montserrat" panose="00000500000000000000" pitchFamily="50" charset="0"/>
              </a:rPr>
              <a:t>atas</a:t>
            </a:r>
            <a:r>
              <a:rPr lang="en-US" sz="2400" dirty="0">
                <a:latin typeface="Montserrat" panose="00000500000000000000" pitchFamily="50" charset="0"/>
              </a:rPr>
              <a:t> </a:t>
            </a:r>
            <a:r>
              <a:rPr lang="en-US" sz="2400" dirty="0" err="1">
                <a:latin typeface="Montserrat" panose="00000500000000000000" pitchFamily="50" charset="0"/>
              </a:rPr>
              <a:t>segala</a:t>
            </a:r>
            <a:r>
              <a:rPr lang="en-US" sz="2400" dirty="0">
                <a:latin typeface="Montserrat" panose="00000500000000000000" pitchFamily="50" charset="0"/>
              </a:rPr>
              <a:t> </a:t>
            </a:r>
            <a:r>
              <a:rPr lang="en-US" sz="2400" dirty="0" err="1">
                <a:latin typeface="Montserrat" panose="00000500000000000000" pitchFamily="50" charset="0"/>
              </a:rPr>
              <a:t>binatang</a:t>
            </a:r>
            <a:r>
              <a:rPr lang="en-US" sz="2400" dirty="0">
                <a:latin typeface="Montserrat" panose="00000500000000000000" pitchFamily="50" charset="0"/>
              </a:rPr>
              <a:t> </a:t>
            </a:r>
            <a:r>
              <a:rPr lang="en-US" sz="2400" dirty="0" err="1">
                <a:latin typeface="Montserrat" panose="00000500000000000000" pitchFamily="50" charset="0"/>
              </a:rPr>
              <a:t>melata</a:t>
            </a:r>
            <a:r>
              <a:rPr lang="en-US" sz="2400" dirty="0">
                <a:latin typeface="Montserrat" panose="00000500000000000000" pitchFamily="50" charset="0"/>
              </a:rPr>
              <a:t> yang </a:t>
            </a:r>
            <a:r>
              <a:rPr lang="en-US" sz="2400" dirty="0" err="1">
                <a:latin typeface="Montserrat" panose="00000500000000000000" pitchFamily="50" charset="0"/>
              </a:rPr>
              <a:t>merayap</a:t>
            </a:r>
            <a:r>
              <a:rPr lang="en-US" sz="2400" dirty="0">
                <a:latin typeface="Montserrat" panose="00000500000000000000" pitchFamily="50" charset="0"/>
              </a:rPr>
              <a:t> di </a:t>
            </a:r>
            <a:r>
              <a:rPr lang="en-US" sz="2400" dirty="0" err="1">
                <a:latin typeface="Montserrat" panose="00000500000000000000" pitchFamily="50" charset="0"/>
              </a:rPr>
              <a:t>bumi</a:t>
            </a:r>
            <a:r>
              <a:rPr lang="en-US" sz="2400" dirty="0">
                <a:latin typeface="Montserrat" panose="00000500000000000000" pitchFamily="50" charset="0"/>
              </a:rPr>
              <a:t>.”  Maka Allah </a:t>
            </a:r>
            <a:r>
              <a:rPr lang="en-US" sz="2400" u="sng" dirty="0" err="1">
                <a:latin typeface="Montserrat" panose="00000500000000000000" pitchFamily="50" charset="0"/>
              </a:rPr>
              <a:t>menciptakan</a:t>
            </a:r>
            <a:r>
              <a:rPr lang="en-US" sz="2400" dirty="0">
                <a:latin typeface="Montserrat" panose="00000500000000000000" pitchFamily="50" charset="0"/>
              </a:rPr>
              <a:t> (</a:t>
            </a:r>
            <a:r>
              <a:rPr lang="en-US" sz="2400" dirty="0" err="1">
                <a:latin typeface="Montserrat" panose="00000500000000000000" pitchFamily="50" charset="0"/>
              </a:rPr>
              <a:t>tunggal</a:t>
            </a:r>
            <a:r>
              <a:rPr lang="en-US" sz="2400" dirty="0">
                <a:latin typeface="Montserrat" panose="00000500000000000000" pitchFamily="50" charset="0"/>
              </a:rPr>
              <a:t>) </a:t>
            </a:r>
            <a:r>
              <a:rPr lang="en-US" sz="2400" dirty="0" err="1">
                <a:latin typeface="Montserrat" panose="00000500000000000000" pitchFamily="50" charset="0"/>
              </a:rPr>
              <a:t>manusia</a:t>
            </a:r>
            <a:r>
              <a:rPr lang="en-US" sz="2400" dirty="0">
                <a:latin typeface="Montserrat" panose="00000500000000000000" pitchFamily="50" charset="0"/>
              </a:rPr>
              <a:t> </a:t>
            </a:r>
            <a:r>
              <a:rPr lang="en-US" sz="2400" dirty="0" err="1">
                <a:latin typeface="Montserrat" panose="00000500000000000000" pitchFamily="50" charset="0"/>
              </a:rPr>
              <a:t>itu</a:t>
            </a:r>
            <a:r>
              <a:rPr lang="en-US" sz="2400" dirty="0">
                <a:latin typeface="Montserrat" panose="00000500000000000000" pitchFamily="50" charset="0"/>
              </a:rPr>
              <a:t> </a:t>
            </a:r>
            <a:r>
              <a:rPr lang="en-US" sz="2400" dirty="0" err="1">
                <a:latin typeface="Montserrat" panose="00000500000000000000" pitchFamily="50" charset="0"/>
              </a:rPr>
              <a:t>menurut</a:t>
            </a:r>
            <a:r>
              <a:rPr lang="en-US" sz="2400" dirty="0">
                <a:latin typeface="Montserrat" panose="00000500000000000000" pitchFamily="50" charset="0"/>
              </a:rPr>
              <a:t> </a:t>
            </a:r>
            <a:r>
              <a:rPr lang="en-US" sz="2400" u="sng" dirty="0" err="1">
                <a:latin typeface="Montserrat" panose="00000500000000000000" pitchFamily="50" charset="0"/>
              </a:rPr>
              <a:t>gambar</a:t>
            </a:r>
            <a:r>
              <a:rPr lang="en-US" sz="2400" u="sng" dirty="0">
                <a:latin typeface="Montserrat" panose="00000500000000000000" pitchFamily="50" charset="0"/>
              </a:rPr>
              <a:t>-Nya,</a:t>
            </a:r>
            <a:r>
              <a:rPr lang="en-US" sz="2400" dirty="0">
                <a:latin typeface="Montserrat" panose="00000500000000000000" pitchFamily="50" charset="0"/>
              </a:rPr>
              <a:t> </a:t>
            </a:r>
            <a:r>
              <a:rPr lang="en-US" sz="2400" dirty="0" err="1">
                <a:latin typeface="Montserrat" panose="00000500000000000000" pitchFamily="50" charset="0"/>
              </a:rPr>
              <a:t>menurut</a:t>
            </a:r>
            <a:r>
              <a:rPr lang="en-US" sz="2400" dirty="0">
                <a:latin typeface="Montserrat" panose="00000500000000000000" pitchFamily="50" charset="0"/>
              </a:rPr>
              <a:t> </a:t>
            </a:r>
            <a:r>
              <a:rPr lang="en-US" sz="2400" u="sng" dirty="0" err="1">
                <a:latin typeface="Montserrat" panose="00000500000000000000" pitchFamily="50" charset="0"/>
              </a:rPr>
              <a:t>gambar</a:t>
            </a:r>
            <a:r>
              <a:rPr lang="en-US" sz="2400" u="sng" dirty="0">
                <a:latin typeface="Montserrat" panose="00000500000000000000" pitchFamily="50" charset="0"/>
              </a:rPr>
              <a:t> Allah</a:t>
            </a:r>
            <a:r>
              <a:rPr lang="en-US" sz="2400" dirty="0">
                <a:latin typeface="Montserrat" panose="00000500000000000000" pitchFamily="50" charset="0"/>
              </a:rPr>
              <a:t> </a:t>
            </a:r>
            <a:r>
              <a:rPr lang="en-US" sz="2400" dirty="0" err="1">
                <a:latin typeface="Montserrat" panose="00000500000000000000" pitchFamily="50" charset="0"/>
              </a:rPr>
              <a:t>diciptakan</a:t>
            </a:r>
            <a:r>
              <a:rPr lang="en-US" sz="2400" dirty="0">
                <a:latin typeface="Montserrat" panose="00000500000000000000" pitchFamily="50" charset="0"/>
              </a:rPr>
              <a:t>-Nya </a:t>
            </a:r>
            <a:r>
              <a:rPr lang="en-US" sz="2400" dirty="0" err="1">
                <a:latin typeface="Montserrat" panose="00000500000000000000" pitchFamily="50" charset="0"/>
              </a:rPr>
              <a:t>dia</a:t>
            </a:r>
            <a:r>
              <a:rPr lang="en-US" sz="2400" dirty="0">
                <a:latin typeface="Montserrat" panose="00000500000000000000" pitchFamily="50" charset="0"/>
              </a:rPr>
              <a:t>; </a:t>
            </a:r>
            <a:r>
              <a:rPr lang="en-US" sz="2400" dirty="0" err="1">
                <a:latin typeface="Montserrat" panose="00000500000000000000" pitchFamily="50" charset="0"/>
              </a:rPr>
              <a:t>laki-laki</a:t>
            </a:r>
            <a:r>
              <a:rPr lang="en-US" sz="2400" dirty="0">
                <a:latin typeface="Montserrat" panose="00000500000000000000" pitchFamily="50" charset="0"/>
              </a:rPr>
              <a:t> dan </a:t>
            </a:r>
            <a:r>
              <a:rPr lang="en-US" sz="2400" dirty="0" err="1">
                <a:latin typeface="Montserrat" panose="00000500000000000000" pitchFamily="50" charset="0"/>
              </a:rPr>
              <a:t>perempuan</a:t>
            </a:r>
            <a:r>
              <a:rPr lang="en-US" sz="2400" dirty="0">
                <a:latin typeface="Montserrat" panose="00000500000000000000" pitchFamily="50" charset="0"/>
              </a:rPr>
              <a:t> </a:t>
            </a:r>
            <a:r>
              <a:rPr lang="en-US" sz="2400" dirty="0" err="1">
                <a:latin typeface="Montserrat" panose="00000500000000000000" pitchFamily="50" charset="0"/>
              </a:rPr>
              <a:t>diciptakan</a:t>
            </a:r>
            <a:r>
              <a:rPr lang="en-US" sz="2400" dirty="0">
                <a:latin typeface="Montserrat" panose="00000500000000000000" pitchFamily="50" charset="0"/>
              </a:rPr>
              <a:t>-Nya </a:t>
            </a:r>
            <a:r>
              <a:rPr lang="en-US" sz="2400" dirty="0" err="1">
                <a:latin typeface="Montserrat" panose="00000500000000000000" pitchFamily="50" charset="0"/>
              </a:rPr>
              <a:t>mereka</a:t>
            </a:r>
            <a:r>
              <a:rPr lang="en-US" sz="2400" dirty="0">
                <a:latin typeface="Montserrat" panose="00000500000000000000" pitchFamily="50" charset="0"/>
              </a:rPr>
              <a:t>., (</a:t>
            </a:r>
            <a:r>
              <a:rPr lang="en-US" sz="2400" dirty="0" err="1">
                <a:latin typeface="Montserrat" panose="00000500000000000000" pitchFamily="50" charset="0"/>
              </a:rPr>
              <a:t>lihat</a:t>
            </a:r>
            <a:r>
              <a:rPr lang="en-US" sz="2400" dirty="0">
                <a:latin typeface="Montserrat" panose="00000500000000000000" pitchFamily="50" charset="0"/>
              </a:rPr>
              <a:t> juga 3:22; 11:7; Yes. 6:7). </a:t>
            </a:r>
          </a:p>
          <a:p>
            <a:endParaRPr lang="id-ID" sz="1600" dirty="0">
              <a:latin typeface="Montserrat" panose="00000500000000000000" pitchFamily="50" charset="0"/>
            </a:endParaRPr>
          </a:p>
        </p:txBody>
      </p:sp>
      <p:sp>
        <p:nvSpPr>
          <p:cNvPr id="3" name="Rectangle 2">
            <a:extLst>
              <a:ext uri="{FF2B5EF4-FFF2-40B4-BE49-F238E27FC236}">
                <a16:creationId xmlns:a16="http://schemas.microsoft.com/office/drawing/2014/main" id="{EA40526C-2FB9-4277-A893-A0521342A82B}"/>
              </a:ext>
            </a:extLst>
          </p:cNvPr>
          <p:cNvSpPr/>
          <p:nvPr/>
        </p:nvSpPr>
        <p:spPr>
          <a:xfrm>
            <a:off x="1119808" y="3465756"/>
            <a:ext cx="5208104" cy="269019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17F7DE-2B96-4F54-8626-83789035DE56}"/>
              </a:ext>
            </a:extLst>
          </p:cNvPr>
          <p:cNvSpPr txBox="1"/>
          <p:nvPr/>
        </p:nvSpPr>
        <p:spPr>
          <a:xfrm>
            <a:off x="1656522" y="3531661"/>
            <a:ext cx="4134676" cy="2308324"/>
          </a:xfrm>
          <a:prstGeom prst="rect">
            <a:avLst/>
          </a:prstGeom>
          <a:noFill/>
        </p:spPr>
        <p:txBody>
          <a:bodyPr wrap="square">
            <a:spAutoFit/>
          </a:bodyPr>
          <a:lstStyle/>
          <a:p>
            <a:endParaRPr lang="en-US" sz="2400" b="1" dirty="0">
              <a:solidFill>
                <a:schemeClr val="bg1"/>
              </a:solidFill>
              <a:latin typeface="Montserrat ExtraBold" panose="00000900000000000000" pitchFamily="50" charset="0"/>
            </a:endParaRPr>
          </a:p>
          <a:p>
            <a:r>
              <a:rPr lang="en-US" sz="2400" b="1" dirty="0">
                <a:solidFill>
                  <a:schemeClr val="bg1"/>
                </a:solidFill>
                <a:latin typeface="Montserrat ExtraBold" panose="00000900000000000000" pitchFamily="50" charset="0"/>
              </a:rPr>
              <a:t>ADA </a:t>
            </a:r>
            <a:r>
              <a:rPr lang="en-US" sz="2400" b="1" dirty="0">
                <a:solidFill>
                  <a:srgbClr val="C00000"/>
                </a:solidFill>
                <a:latin typeface="Montserrat ExtraBold" panose="00000900000000000000" pitchFamily="50" charset="0"/>
              </a:rPr>
              <a:t>KEJAMAKAN </a:t>
            </a:r>
            <a:r>
              <a:rPr lang="en-US" sz="2400" b="1" dirty="0">
                <a:solidFill>
                  <a:schemeClr val="bg1"/>
                </a:solidFill>
                <a:latin typeface="Montserrat ExtraBold" panose="00000900000000000000" pitchFamily="50" charset="0"/>
              </a:rPr>
              <a:t>SEKALIGUS </a:t>
            </a:r>
            <a:r>
              <a:rPr lang="en-US" sz="2400" b="1" dirty="0">
                <a:solidFill>
                  <a:srgbClr val="C00000"/>
                </a:solidFill>
                <a:latin typeface="Montserrat ExtraBold" panose="00000900000000000000" pitchFamily="50" charset="0"/>
              </a:rPr>
              <a:t>KETUNGGALAN</a:t>
            </a:r>
            <a:r>
              <a:rPr lang="en-US" sz="2400" b="1" dirty="0">
                <a:solidFill>
                  <a:schemeClr val="bg1"/>
                </a:solidFill>
                <a:latin typeface="Montserrat ExtraBold" panose="00000900000000000000" pitchFamily="50" charset="0"/>
              </a:rPr>
              <a:t> DALAM DIRI ALLAH </a:t>
            </a:r>
            <a:r>
              <a:rPr lang="en-US" sz="2400" dirty="0">
                <a:solidFill>
                  <a:schemeClr val="bg1"/>
                </a:solidFill>
                <a:latin typeface="Montserrat ExtraBold" panose="00000900000000000000" pitchFamily="50" charset="0"/>
              </a:rPr>
              <a:t>(</a:t>
            </a:r>
            <a:r>
              <a:rPr lang="en-US" sz="2400" dirty="0" err="1">
                <a:solidFill>
                  <a:schemeClr val="bg1"/>
                </a:solidFill>
                <a:latin typeface="Montserrat ExtraBold" panose="00000900000000000000" pitchFamily="50" charset="0"/>
              </a:rPr>
              <a:t>Kej</a:t>
            </a:r>
            <a:r>
              <a:rPr lang="en-US" sz="2400" dirty="0">
                <a:solidFill>
                  <a:schemeClr val="bg1"/>
                </a:solidFill>
                <a:latin typeface="Montserrat ExtraBold" panose="00000900000000000000" pitchFamily="50" charset="0"/>
              </a:rPr>
              <a:t> 1:26-27; 3:22; 11:7; Yes 6:7)</a:t>
            </a:r>
            <a:endParaRPr lang="en-US" sz="2000" dirty="0">
              <a:solidFill>
                <a:schemeClr val="bg1"/>
              </a:solidFill>
              <a:latin typeface="Montserrat ExtraBold" panose="00000900000000000000" pitchFamily="50" charset="0"/>
            </a:endParaRPr>
          </a:p>
        </p:txBody>
      </p:sp>
      <p:pic>
        <p:nvPicPr>
          <p:cNvPr id="1026" name="Picture 2" descr="Getting 'Unhitched' from the Old Testament? Andy Stanley Aims at Heresy -  AlbertMohler.com">
            <a:extLst>
              <a:ext uri="{FF2B5EF4-FFF2-40B4-BE49-F238E27FC236}">
                <a16:creationId xmlns:a16="http://schemas.microsoft.com/office/drawing/2014/main" id="{762F1FC2-6592-4BBA-9FAC-5642DC00A74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119808" y="0"/>
            <a:ext cx="5208103" cy="346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38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BD81E-56FB-F11F-2F36-996A9E56419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84FB53-77A4-6A50-0AFC-5C611B4EECC3}"/>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9264012-78EE-7E62-D0A1-E71692264A58}"/>
              </a:ext>
            </a:extLst>
          </p:cNvPr>
          <p:cNvSpPr txBox="1"/>
          <p:nvPr/>
        </p:nvSpPr>
        <p:spPr>
          <a:xfrm>
            <a:off x="137488" y="489734"/>
            <a:ext cx="11917024" cy="5878532"/>
          </a:xfrm>
          <a:prstGeom prst="rect">
            <a:avLst/>
          </a:prstGeom>
          <a:noFill/>
        </p:spPr>
        <p:txBody>
          <a:bodyPr wrap="square">
            <a:spAutoFit/>
          </a:bodyPr>
          <a:lstStyle/>
          <a:p>
            <a:pPr algn="ctr"/>
            <a:r>
              <a:rPr lang="en-US" sz="2400" b="1" dirty="0" err="1">
                <a:solidFill>
                  <a:srgbClr val="C00000"/>
                </a:solidFill>
                <a:latin typeface="Montserrat ExtraBold" panose="00000900000000000000" pitchFamily="50" charset="0"/>
              </a:rPr>
              <a:t>Kejadian</a:t>
            </a:r>
            <a:r>
              <a:rPr lang="en-US" sz="2400" b="1" dirty="0">
                <a:solidFill>
                  <a:srgbClr val="C00000"/>
                </a:solidFill>
                <a:latin typeface="Montserrat ExtraBold" panose="00000900000000000000" pitchFamily="50" charset="0"/>
              </a:rPr>
              <a:t> 3:22</a:t>
            </a:r>
          </a:p>
          <a:p>
            <a:endParaRPr lang="en-US" sz="2400" dirty="0">
              <a:latin typeface="Montserrat" panose="00000500000000000000" pitchFamily="50" charset="0"/>
            </a:endParaRPr>
          </a:p>
          <a:p>
            <a:pPr algn="ctr"/>
            <a:r>
              <a:rPr lang="en-US" sz="2400" dirty="0" err="1">
                <a:latin typeface="Montserrat" panose="00000500000000000000" pitchFamily="50" charset="0"/>
              </a:rPr>
              <a:t>Berfirmanlah</a:t>
            </a:r>
            <a:r>
              <a:rPr lang="en-US" sz="2400" dirty="0">
                <a:latin typeface="Montserrat" panose="00000500000000000000" pitchFamily="50" charset="0"/>
              </a:rPr>
              <a:t> Tuhan Allah: ”</a:t>
            </a:r>
            <a:r>
              <a:rPr lang="en-US" sz="2400" dirty="0" err="1">
                <a:latin typeface="Montserrat" panose="00000500000000000000" pitchFamily="50" charset="0"/>
              </a:rPr>
              <a:t>Sesungguhnya</a:t>
            </a:r>
            <a:r>
              <a:rPr lang="en-US" sz="2400" dirty="0">
                <a:latin typeface="Montserrat" panose="00000500000000000000" pitchFamily="50" charset="0"/>
              </a:rPr>
              <a:t> </a:t>
            </a:r>
            <a:r>
              <a:rPr lang="en-US" sz="2400" dirty="0" err="1">
                <a:latin typeface="Montserrat" panose="00000500000000000000" pitchFamily="50" charset="0"/>
              </a:rPr>
              <a:t>manusia</a:t>
            </a:r>
            <a:r>
              <a:rPr lang="en-US" sz="2400" dirty="0">
                <a:latin typeface="Montserrat" panose="00000500000000000000" pitchFamily="50" charset="0"/>
              </a:rPr>
              <a:t> </a:t>
            </a:r>
            <a:r>
              <a:rPr lang="en-US" sz="2400" dirty="0" err="1">
                <a:latin typeface="Montserrat" panose="00000500000000000000" pitchFamily="50" charset="0"/>
              </a:rPr>
              <a:t>itu</a:t>
            </a:r>
            <a:r>
              <a:rPr lang="en-US" sz="2400" dirty="0">
                <a:latin typeface="Montserrat" panose="00000500000000000000" pitchFamily="50" charset="0"/>
              </a:rPr>
              <a:t> </a:t>
            </a:r>
            <a:r>
              <a:rPr lang="en-US" sz="2400" dirty="0" err="1">
                <a:latin typeface="Montserrat" panose="00000500000000000000" pitchFamily="50" charset="0"/>
              </a:rPr>
              <a:t>telah</a:t>
            </a:r>
            <a:r>
              <a:rPr lang="en-US" sz="2400" dirty="0">
                <a:latin typeface="Montserrat" panose="00000500000000000000" pitchFamily="50" charset="0"/>
              </a:rPr>
              <a:t> </a:t>
            </a:r>
            <a:r>
              <a:rPr lang="en-US" sz="2400" dirty="0" err="1">
                <a:latin typeface="Montserrat" panose="00000500000000000000" pitchFamily="50" charset="0"/>
              </a:rPr>
              <a:t>menjadi</a:t>
            </a:r>
            <a:r>
              <a:rPr lang="en-US" sz="2400" dirty="0">
                <a:latin typeface="Montserrat" panose="00000500000000000000" pitchFamily="50" charset="0"/>
              </a:rPr>
              <a:t> </a:t>
            </a:r>
            <a:r>
              <a:rPr lang="en-US" sz="2400" dirty="0" err="1">
                <a:latin typeface="Montserrat" panose="00000500000000000000" pitchFamily="50" charset="0"/>
              </a:rPr>
              <a:t>seperti</a:t>
            </a:r>
            <a:r>
              <a:rPr lang="en-US" sz="2400" dirty="0">
                <a:latin typeface="Montserrat" panose="00000500000000000000" pitchFamily="50" charset="0"/>
              </a:rPr>
              <a:t> salah </a:t>
            </a:r>
            <a:r>
              <a:rPr lang="en-US" sz="2400" dirty="0" err="1">
                <a:latin typeface="Montserrat" panose="00000500000000000000" pitchFamily="50" charset="0"/>
              </a:rPr>
              <a:t>satu</a:t>
            </a:r>
            <a:r>
              <a:rPr lang="en-US" sz="2400" dirty="0">
                <a:latin typeface="Montserrat" panose="00000500000000000000" pitchFamily="50" charset="0"/>
              </a:rPr>
              <a:t> </a:t>
            </a:r>
            <a:r>
              <a:rPr lang="en-US" sz="2400" dirty="0" err="1">
                <a:latin typeface="Montserrat" panose="00000500000000000000" pitchFamily="50" charset="0"/>
              </a:rPr>
              <a:t>dari</a:t>
            </a:r>
            <a:r>
              <a:rPr lang="en-US" sz="2400" dirty="0">
                <a:latin typeface="Montserrat" panose="00000500000000000000" pitchFamily="50" charset="0"/>
              </a:rPr>
              <a:t> Kita, </a:t>
            </a:r>
            <a:r>
              <a:rPr lang="en-US" sz="2400" dirty="0" err="1">
                <a:latin typeface="Montserrat" panose="00000500000000000000" pitchFamily="50" charset="0"/>
              </a:rPr>
              <a:t>tahu</a:t>
            </a:r>
            <a:r>
              <a:rPr lang="en-US" sz="2400" dirty="0">
                <a:latin typeface="Montserrat" panose="00000500000000000000" pitchFamily="50" charset="0"/>
              </a:rPr>
              <a:t> </a:t>
            </a:r>
            <a:r>
              <a:rPr lang="en-US" sz="2400" dirty="0" err="1">
                <a:latin typeface="Montserrat" panose="00000500000000000000" pitchFamily="50" charset="0"/>
              </a:rPr>
              <a:t>tentang</a:t>
            </a:r>
            <a:r>
              <a:rPr lang="en-US" sz="2400" dirty="0">
                <a:latin typeface="Montserrat" panose="00000500000000000000" pitchFamily="50" charset="0"/>
              </a:rPr>
              <a:t> yang </a:t>
            </a:r>
            <a:r>
              <a:rPr lang="en-US" sz="2400" dirty="0" err="1">
                <a:latin typeface="Montserrat" panose="00000500000000000000" pitchFamily="50" charset="0"/>
              </a:rPr>
              <a:t>baik</a:t>
            </a:r>
            <a:r>
              <a:rPr lang="en-US" sz="2400" dirty="0">
                <a:latin typeface="Montserrat" panose="00000500000000000000" pitchFamily="50" charset="0"/>
              </a:rPr>
              <a:t> dan yang </a:t>
            </a:r>
            <a:r>
              <a:rPr lang="en-US" sz="2400" dirty="0" err="1">
                <a:latin typeface="Montserrat" panose="00000500000000000000" pitchFamily="50" charset="0"/>
              </a:rPr>
              <a:t>jahat</a:t>
            </a:r>
            <a:r>
              <a:rPr lang="en-US" sz="2400" dirty="0">
                <a:latin typeface="Montserrat" panose="00000500000000000000" pitchFamily="50" charset="0"/>
              </a:rPr>
              <a:t>; </a:t>
            </a:r>
            <a:r>
              <a:rPr lang="en-US" sz="2400" dirty="0" err="1">
                <a:latin typeface="Montserrat" panose="00000500000000000000" pitchFamily="50" charset="0"/>
              </a:rPr>
              <a:t>maka</a:t>
            </a:r>
            <a:r>
              <a:rPr lang="en-US" sz="2400" dirty="0">
                <a:latin typeface="Montserrat" panose="00000500000000000000" pitchFamily="50" charset="0"/>
              </a:rPr>
              <a:t> </a:t>
            </a:r>
            <a:r>
              <a:rPr lang="en-US" sz="2400" dirty="0" err="1">
                <a:latin typeface="Montserrat" panose="00000500000000000000" pitchFamily="50" charset="0"/>
              </a:rPr>
              <a:t>sekarang</a:t>
            </a:r>
            <a:r>
              <a:rPr lang="en-US" sz="2400" dirty="0">
                <a:latin typeface="Montserrat" panose="00000500000000000000" pitchFamily="50" charset="0"/>
              </a:rPr>
              <a:t> </a:t>
            </a:r>
            <a:r>
              <a:rPr lang="en-US" sz="2400" dirty="0" err="1">
                <a:latin typeface="Montserrat" panose="00000500000000000000" pitchFamily="50" charset="0"/>
              </a:rPr>
              <a:t>jangan</a:t>
            </a:r>
            <a:r>
              <a:rPr lang="en-US" sz="2400" dirty="0">
                <a:latin typeface="Montserrat" panose="00000500000000000000" pitchFamily="50" charset="0"/>
              </a:rPr>
              <a:t> </a:t>
            </a:r>
            <a:r>
              <a:rPr lang="en-US" sz="2400" dirty="0" err="1">
                <a:latin typeface="Montserrat" panose="00000500000000000000" pitchFamily="50" charset="0"/>
              </a:rPr>
              <a:t>sampai</a:t>
            </a:r>
            <a:r>
              <a:rPr lang="en-US" sz="2400" dirty="0">
                <a:latin typeface="Montserrat" panose="00000500000000000000" pitchFamily="50" charset="0"/>
              </a:rPr>
              <a:t> </a:t>
            </a:r>
            <a:r>
              <a:rPr lang="en-US" sz="2400" dirty="0" err="1">
                <a:latin typeface="Montserrat" panose="00000500000000000000" pitchFamily="50" charset="0"/>
              </a:rPr>
              <a:t>ia</a:t>
            </a:r>
            <a:r>
              <a:rPr lang="en-US" sz="2400" dirty="0">
                <a:latin typeface="Montserrat" panose="00000500000000000000" pitchFamily="50" charset="0"/>
              </a:rPr>
              <a:t> </a:t>
            </a:r>
            <a:r>
              <a:rPr lang="en-US" sz="2400" dirty="0" err="1">
                <a:latin typeface="Montserrat" panose="00000500000000000000" pitchFamily="50" charset="0"/>
              </a:rPr>
              <a:t>mengulurkan</a:t>
            </a:r>
            <a:r>
              <a:rPr lang="en-US" sz="2400" dirty="0">
                <a:latin typeface="Montserrat" panose="00000500000000000000" pitchFamily="50" charset="0"/>
              </a:rPr>
              <a:t> </a:t>
            </a:r>
            <a:r>
              <a:rPr lang="en-US" sz="2400" dirty="0" err="1">
                <a:latin typeface="Montserrat" panose="00000500000000000000" pitchFamily="50" charset="0"/>
              </a:rPr>
              <a:t>tangannya</a:t>
            </a:r>
            <a:r>
              <a:rPr lang="en-US" sz="2400" dirty="0">
                <a:latin typeface="Montserrat" panose="00000500000000000000" pitchFamily="50" charset="0"/>
              </a:rPr>
              <a:t> dan </a:t>
            </a:r>
            <a:r>
              <a:rPr lang="en-US" sz="2400" dirty="0" err="1">
                <a:latin typeface="Montserrat" panose="00000500000000000000" pitchFamily="50" charset="0"/>
              </a:rPr>
              <a:t>mengambil</a:t>
            </a:r>
            <a:r>
              <a:rPr lang="en-US" sz="2400" dirty="0">
                <a:latin typeface="Montserrat" panose="00000500000000000000" pitchFamily="50" charset="0"/>
              </a:rPr>
              <a:t> pula </a:t>
            </a:r>
            <a:r>
              <a:rPr lang="en-US" sz="2400" dirty="0" err="1">
                <a:latin typeface="Montserrat" panose="00000500000000000000" pitchFamily="50" charset="0"/>
              </a:rPr>
              <a:t>dari</a:t>
            </a:r>
            <a:r>
              <a:rPr lang="en-US" sz="2400" dirty="0">
                <a:latin typeface="Montserrat" panose="00000500000000000000" pitchFamily="50" charset="0"/>
              </a:rPr>
              <a:t> </a:t>
            </a:r>
            <a:r>
              <a:rPr lang="en-US" sz="2400" dirty="0" err="1">
                <a:latin typeface="Montserrat" panose="00000500000000000000" pitchFamily="50" charset="0"/>
              </a:rPr>
              <a:t>buah</a:t>
            </a:r>
            <a:r>
              <a:rPr lang="en-US" sz="2400" dirty="0">
                <a:latin typeface="Montserrat" panose="00000500000000000000" pitchFamily="50" charset="0"/>
              </a:rPr>
              <a:t> </a:t>
            </a:r>
            <a:r>
              <a:rPr lang="en-US" sz="2400" dirty="0" err="1">
                <a:latin typeface="Montserrat" panose="00000500000000000000" pitchFamily="50" charset="0"/>
              </a:rPr>
              <a:t>pohon</a:t>
            </a:r>
            <a:r>
              <a:rPr lang="en-US" sz="2400" dirty="0">
                <a:latin typeface="Montserrat" panose="00000500000000000000" pitchFamily="50" charset="0"/>
              </a:rPr>
              <a:t> </a:t>
            </a:r>
            <a:r>
              <a:rPr lang="en-US" sz="2400" dirty="0" err="1">
                <a:latin typeface="Montserrat" panose="00000500000000000000" pitchFamily="50" charset="0"/>
              </a:rPr>
              <a:t>kehidupan</a:t>
            </a:r>
            <a:r>
              <a:rPr lang="en-US" sz="2400" dirty="0">
                <a:latin typeface="Montserrat" panose="00000500000000000000" pitchFamily="50" charset="0"/>
              </a:rPr>
              <a:t> </a:t>
            </a:r>
            <a:r>
              <a:rPr lang="en-US" sz="2400" dirty="0" err="1">
                <a:latin typeface="Montserrat" panose="00000500000000000000" pitchFamily="50" charset="0"/>
              </a:rPr>
              <a:t>itu</a:t>
            </a:r>
            <a:r>
              <a:rPr lang="en-US" sz="2400" dirty="0">
                <a:latin typeface="Montserrat" panose="00000500000000000000" pitchFamily="50" charset="0"/>
              </a:rPr>
              <a:t> dan </a:t>
            </a:r>
            <a:r>
              <a:rPr lang="en-US" sz="2400" dirty="0" err="1">
                <a:latin typeface="Montserrat" panose="00000500000000000000" pitchFamily="50" charset="0"/>
              </a:rPr>
              <a:t>memakannya</a:t>
            </a:r>
            <a:r>
              <a:rPr lang="en-US" sz="2400" dirty="0">
                <a:latin typeface="Montserrat" panose="00000500000000000000" pitchFamily="50" charset="0"/>
              </a:rPr>
              <a:t>, </a:t>
            </a:r>
            <a:r>
              <a:rPr lang="en-US" sz="2400" dirty="0" err="1">
                <a:latin typeface="Montserrat" panose="00000500000000000000" pitchFamily="50" charset="0"/>
              </a:rPr>
              <a:t>sehingga</a:t>
            </a:r>
            <a:r>
              <a:rPr lang="en-US" sz="2400" dirty="0">
                <a:latin typeface="Montserrat" panose="00000500000000000000" pitchFamily="50" charset="0"/>
              </a:rPr>
              <a:t> </a:t>
            </a:r>
            <a:r>
              <a:rPr lang="en-US" sz="2400" dirty="0" err="1">
                <a:latin typeface="Montserrat" panose="00000500000000000000" pitchFamily="50" charset="0"/>
              </a:rPr>
              <a:t>ia</a:t>
            </a:r>
            <a:r>
              <a:rPr lang="en-US" sz="2400" dirty="0">
                <a:latin typeface="Montserrat" panose="00000500000000000000" pitchFamily="50" charset="0"/>
              </a:rPr>
              <a:t> </a:t>
            </a:r>
            <a:r>
              <a:rPr lang="en-US" sz="2400" dirty="0" err="1">
                <a:latin typeface="Montserrat" panose="00000500000000000000" pitchFamily="50" charset="0"/>
              </a:rPr>
              <a:t>hidup</a:t>
            </a:r>
            <a:r>
              <a:rPr lang="en-US" sz="2400" dirty="0">
                <a:latin typeface="Montserrat" panose="00000500000000000000" pitchFamily="50" charset="0"/>
              </a:rPr>
              <a:t> </a:t>
            </a:r>
            <a:r>
              <a:rPr lang="en-US" sz="2400" dirty="0" err="1">
                <a:latin typeface="Montserrat" panose="00000500000000000000" pitchFamily="50" charset="0"/>
              </a:rPr>
              <a:t>untuk</a:t>
            </a:r>
            <a:r>
              <a:rPr lang="en-US" sz="2400" dirty="0">
                <a:latin typeface="Montserrat" panose="00000500000000000000" pitchFamily="50" charset="0"/>
              </a:rPr>
              <a:t> </a:t>
            </a:r>
            <a:r>
              <a:rPr lang="en-US" sz="2400" dirty="0" err="1">
                <a:latin typeface="Montserrat" panose="00000500000000000000" pitchFamily="50" charset="0"/>
              </a:rPr>
              <a:t>selama-lamanya</a:t>
            </a:r>
            <a:r>
              <a:rPr lang="en-US" sz="2400" dirty="0">
                <a:latin typeface="Montserrat" panose="00000500000000000000" pitchFamily="50" charset="0"/>
              </a:rPr>
              <a:t>.” </a:t>
            </a:r>
          </a:p>
          <a:p>
            <a:endParaRPr lang="en-US" sz="1600" dirty="0">
              <a:latin typeface="Montserrat" panose="00000500000000000000" pitchFamily="50" charset="0"/>
            </a:endParaRPr>
          </a:p>
          <a:p>
            <a:pPr algn="ctr"/>
            <a:r>
              <a:rPr lang="en-US" sz="2400" b="1" dirty="0" err="1">
                <a:solidFill>
                  <a:srgbClr val="C00000"/>
                </a:solidFill>
                <a:latin typeface="Montserrat ExtraBold" panose="00000900000000000000" pitchFamily="50" charset="0"/>
              </a:rPr>
              <a:t>Kejadian</a:t>
            </a:r>
            <a:r>
              <a:rPr lang="en-US" sz="2400" b="1" dirty="0">
                <a:solidFill>
                  <a:srgbClr val="C00000"/>
                </a:solidFill>
                <a:latin typeface="Montserrat ExtraBold" panose="00000900000000000000" pitchFamily="50" charset="0"/>
              </a:rPr>
              <a:t> 11:7</a:t>
            </a:r>
          </a:p>
          <a:p>
            <a:pPr algn="ctr"/>
            <a:r>
              <a:rPr lang="en-US" sz="2400" dirty="0" err="1">
                <a:latin typeface="Montserrat" panose="00000500000000000000" pitchFamily="50" charset="0"/>
              </a:rPr>
              <a:t>Baiklah</a:t>
            </a:r>
            <a:r>
              <a:rPr lang="en-US" sz="2400" dirty="0">
                <a:latin typeface="Montserrat" panose="00000500000000000000" pitchFamily="50" charset="0"/>
              </a:rPr>
              <a:t> Kita </a:t>
            </a:r>
            <a:r>
              <a:rPr lang="en-US" sz="2400" dirty="0" err="1">
                <a:latin typeface="Montserrat" panose="00000500000000000000" pitchFamily="50" charset="0"/>
              </a:rPr>
              <a:t>turun</a:t>
            </a:r>
            <a:r>
              <a:rPr lang="en-US" sz="2400" dirty="0">
                <a:latin typeface="Montserrat" panose="00000500000000000000" pitchFamily="50" charset="0"/>
              </a:rPr>
              <a:t> dan </a:t>
            </a:r>
            <a:r>
              <a:rPr lang="en-US" sz="2400" dirty="0" err="1">
                <a:latin typeface="Montserrat" panose="00000500000000000000" pitchFamily="50" charset="0"/>
              </a:rPr>
              <a:t>mengacaubalaukan</a:t>
            </a:r>
            <a:r>
              <a:rPr lang="en-US" sz="2400" dirty="0">
                <a:latin typeface="Montserrat" panose="00000500000000000000" pitchFamily="50" charset="0"/>
              </a:rPr>
              <a:t> di sana </a:t>
            </a:r>
            <a:r>
              <a:rPr lang="en-US" sz="2400" dirty="0" err="1">
                <a:latin typeface="Montserrat" panose="00000500000000000000" pitchFamily="50" charset="0"/>
              </a:rPr>
              <a:t>bahasa</a:t>
            </a:r>
            <a:r>
              <a:rPr lang="en-US" sz="2400" dirty="0">
                <a:latin typeface="Montserrat" panose="00000500000000000000" pitchFamily="50" charset="0"/>
              </a:rPr>
              <a:t> </a:t>
            </a:r>
            <a:r>
              <a:rPr lang="en-US" sz="2400" dirty="0" err="1">
                <a:latin typeface="Montserrat" panose="00000500000000000000" pitchFamily="50" charset="0"/>
              </a:rPr>
              <a:t>mereka</a:t>
            </a:r>
            <a:r>
              <a:rPr lang="en-US" sz="2400" dirty="0">
                <a:latin typeface="Montserrat" panose="00000500000000000000" pitchFamily="50" charset="0"/>
              </a:rPr>
              <a:t>, </a:t>
            </a:r>
            <a:r>
              <a:rPr lang="en-US" sz="2400" dirty="0" err="1">
                <a:latin typeface="Montserrat" panose="00000500000000000000" pitchFamily="50" charset="0"/>
              </a:rPr>
              <a:t>sehingga</a:t>
            </a:r>
            <a:r>
              <a:rPr lang="en-US" sz="2400" dirty="0">
                <a:latin typeface="Montserrat" panose="00000500000000000000" pitchFamily="50" charset="0"/>
              </a:rPr>
              <a:t> </a:t>
            </a:r>
            <a:r>
              <a:rPr lang="en-US" sz="2400" dirty="0" err="1">
                <a:latin typeface="Montserrat" panose="00000500000000000000" pitchFamily="50" charset="0"/>
              </a:rPr>
              <a:t>mereka</a:t>
            </a:r>
            <a:r>
              <a:rPr lang="en-US" sz="2400" dirty="0">
                <a:latin typeface="Montserrat" panose="00000500000000000000" pitchFamily="50" charset="0"/>
              </a:rPr>
              <a:t> </a:t>
            </a:r>
            <a:r>
              <a:rPr lang="en-US" sz="2400" dirty="0" err="1">
                <a:latin typeface="Montserrat" panose="00000500000000000000" pitchFamily="50" charset="0"/>
              </a:rPr>
              <a:t>tidak</a:t>
            </a:r>
            <a:r>
              <a:rPr lang="en-US" sz="2400" dirty="0">
                <a:latin typeface="Montserrat" panose="00000500000000000000" pitchFamily="50" charset="0"/>
              </a:rPr>
              <a:t> </a:t>
            </a:r>
            <a:r>
              <a:rPr lang="en-US" sz="2400" dirty="0" err="1">
                <a:latin typeface="Montserrat" panose="00000500000000000000" pitchFamily="50" charset="0"/>
              </a:rPr>
              <a:t>mengerti</a:t>
            </a:r>
            <a:r>
              <a:rPr lang="en-US" sz="2400" dirty="0">
                <a:latin typeface="Montserrat" panose="00000500000000000000" pitchFamily="50" charset="0"/>
              </a:rPr>
              <a:t> </a:t>
            </a:r>
            <a:r>
              <a:rPr lang="en-US" sz="2400" dirty="0" err="1">
                <a:latin typeface="Montserrat" panose="00000500000000000000" pitchFamily="50" charset="0"/>
              </a:rPr>
              <a:t>lagi</a:t>
            </a:r>
            <a:r>
              <a:rPr lang="en-US" sz="2400" dirty="0">
                <a:latin typeface="Montserrat" panose="00000500000000000000" pitchFamily="50" charset="0"/>
              </a:rPr>
              <a:t> </a:t>
            </a:r>
            <a:r>
              <a:rPr lang="en-US" sz="2400" dirty="0" err="1">
                <a:latin typeface="Montserrat" panose="00000500000000000000" pitchFamily="50" charset="0"/>
              </a:rPr>
              <a:t>bahasa</a:t>
            </a:r>
            <a:r>
              <a:rPr lang="en-US" sz="2400" dirty="0">
                <a:latin typeface="Montserrat" panose="00000500000000000000" pitchFamily="50" charset="0"/>
              </a:rPr>
              <a:t> masing-masing.” </a:t>
            </a:r>
          </a:p>
          <a:p>
            <a:pPr algn="ctr"/>
            <a:endParaRPr lang="en-US" sz="2400" dirty="0">
              <a:latin typeface="Montserrat" panose="00000500000000000000" pitchFamily="50" charset="0"/>
            </a:endParaRPr>
          </a:p>
          <a:p>
            <a:pPr algn="ctr"/>
            <a:r>
              <a:rPr lang="en-US" sz="2400" b="1" dirty="0" err="1">
                <a:solidFill>
                  <a:srgbClr val="C00000"/>
                </a:solidFill>
                <a:latin typeface="Montserrat ExtraBold" panose="00000900000000000000" pitchFamily="50" charset="0"/>
              </a:rPr>
              <a:t>Yesaya</a:t>
            </a:r>
            <a:r>
              <a:rPr lang="en-US" sz="2400" b="1" dirty="0">
                <a:solidFill>
                  <a:srgbClr val="C00000"/>
                </a:solidFill>
                <a:latin typeface="Montserrat ExtraBold" panose="00000900000000000000" pitchFamily="50" charset="0"/>
              </a:rPr>
              <a:t> 6:7</a:t>
            </a:r>
          </a:p>
          <a:p>
            <a:pPr algn="ctr"/>
            <a:r>
              <a:rPr lang="en-US" sz="2400" dirty="0">
                <a:latin typeface="Montserrat" panose="00000500000000000000" pitchFamily="50" charset="0"/>
              </a:rPr>
              <a:t>Ia </a:t>
            </a:r>
            <a:r>
              <a:rPr lang="en-US" sz="2400" dirty="0" err="1">
                <a:latin typeface="Montserrat" panose="00000500000000000000" pitchFamily="50" charset="0"/>
              </a:rPr>
              <a:t>menyentuhkannya</a:t>
            </a:r>
            <a:r>
              <a:rPr lang="en-US" sz="2400" dirty="0">
                <a:latin typeface="Montserrat" panose="00000500000000000000" pitchFamily="50" charset="0"/>
              </a:rPr>
              <a:t> </a:t>
            </a:r>
            <a:r>
              <a:rPr lang="en-US" sz="2400" dirty="0" err="1">
                <a:latin typeface="Montserrat" panose="00000500000000000000" pitchFamily="50" charset="0"/>
              </a:rPr>
              <a:t>kepada</a:t>
            </a:r>
            <a:r>
              <a:rPr lang="en-US" sz="2400" dirty="0">
                <a:latin typeface="Montserrat" panose="00000500000000000000" pitchFamily="50" charset="0"/>
              </a:rPr>
              <a:t> </a:t>
            </a:r>
            <a:r>
              <a:rPr lang="en-US" sz="2400" dirty="0" err="1">
                <a:latin typeface="Montserrat" panose="00000500000000000000" pitchFamily="50" charset="0"/>
              </a:rPr>
              <a:t>mulutku</a:t>
            </a:r>
            <a:r>
              <a:rPr lang="en-US" sz="2400" dirty="0">
                <a:latin typeface="Montserrat" panose="00000500000000000000" pitchFamily="50" charset="0"/>
              </a:rPr>
              <a:t> </a:t>
            </a:r>
            <a:r>
              <a:rPr lang="en-US" sz="2400" dirty="0" err="1">
                <a:latin typeface="Montserrat" panose="00000500000000000000" pitchFamily="50" charset="0"/>
              </a:rPr>
              <a:t>serta</a:t>
            </a:r>
            <a:r>
              <a:rPr lang="en-US" sz="2400" dirty="0">
                <a:latin typeface="Montserrat" panose="00000500000000000000" pitchFamily="50" charset="0"/>
              </a:rPr>
              <a:t> </a:t>
            </a:r>
            <a:r>
              <a:rPr lang="en-US" sz="2400" dirty="0" err="1">
                <a:latin typeface="Montserrat" panose="00000500000000000000" pitchFamily="50" charset="0"/>
              </a:rPr>
              <a:t>berkata</a:t>
            </a:r>
            <a:r>
              <a:rPr lang="en-US" sz="2400" dirty="0">
                <a:latin typeface="Montserrat" panose="00000500000000000000" pitchFamily="50" charset="0"/>
              </a:rPr>
              <a:t>:</a:t>
            </a:r>
          </a:p>
          <a:p>
            <a:pPr algn="ctr"/>
            <a:r>
              <a:rPr lang="en-US" sz="2400" dirty="0">
                <a:latin typeface="Montserrat" panose="00000500000000000000" pitchFamily="50" charset="0"/>
              </a:rPr>
              <a:t>”</a:t>
            </a:r>
            <a:r>
              <a:rPr lang="en-US" sz="2400" dirty="0" err="1">
                <a:latin typeface="Montserrat" panose="00000500000000000000" pitchFamily="50" charset="0"/>
              </a:rPr>
              <a:t>Lihat</a:t>
            </a:r>
            <a:r>
              <a:rPr lang="en-US" sz="2400" dirty="0">
                <a:latin typeface="Montserrat" panose="00000500000000000000" pitchFamily="50" charset="0"/>
              </a:rPr>
              <a:t>, </a:t>
            </a:r>
            <a:r>
              <a:rPr lang="en-US" sz="2400" dirty="0" err="1">
                <a:latin typeface="Montserrat" panose="00000500000000000000" pitchFamily="50" charset="0"/>
              </a:rPr>
              <a:t>ini</a:t>
            </a:r>
            <a:r>
              <a:rPr lang="en-US" sz="2400" dirty="0">
                <a:latin typeface="Montserrat" panose="00000500000000000000" pitchFamily="50" charset="0"/>
              </a:rPr>
              <a:t> </a:t>
            </a:r>
            <a:r>
              <a:rPr lang="en-US" sz="2400" dirty="0" err="1">
                <a:latin typeface="Montserrat" panose="00000500000000000000" pitchFamily="50" charset="0"/>
              </a:rPr>
              <a:t>telah</a:t>
            </a:r>
            <a:r>
              <a:rPr lang="en-US" sz="2400" dirty="0">
                <a:latin typeface="Montserrat" panose="00000500000000000000" pitchFamily="50" charset="0"/>
              </a:rPr>
              <a:t> </a:t>
            </a:r>
            <a:r>
              <a:rPr lang="en-US" sz="2400" dirty="0" err="1">
                <a:latin typeface="Montserrat" panose="00000500000000000000" pitchFamily="50" charset="0"/>
              </a:rPr>
              <a:t>menyentuh</a:t>
            </a:r>
            <a:r>
              <a:rPr lang="en-US" sz="2400" dirty="0">
                <a:latin typeface="Montserrat" panose="00000500000000000000" pitchFamily="50" charset="0"/>
              </a:rPr>
              <a:t> </a:t>
            </a:r>
            <a:r>
              <a:rPr lang="en-US" sz="2400" dirty="0" err="1">
                <a:latin typeface="Montserrat" panose="00000500000000000000" pitchFamily="50" charset="0"/>
              </a:rPr>
              <a:t>bibirmu</a:t>
            </a:r>
            <a:r>
              <a:rPr lang="en-US" sz="2400" dirty="0">
                <a:latin typeface="Montserrat" panose="00000500000000000000" pitchFamily="50" charset="0"/>
              </a:rPr>
              <a:t>,</a:t>
            </a:r>
          </a:p>
          <a:p>
            <a:pPr algn="ctr"/>
            <a:r>
              <a:rPr lang="en-US" sz="2400" dirty="0" err="1">
                <a:latin typeface="Montserrat" panose="00000500000000000000" pitchFamily="50" charset="0"/>
              </a:rPr>
              <a:t>maka</a:t>
            </a:r>
            <a:r>
              <a:rPr lang="en-US" sz="2400" dirty="0">
                <a:latin typeface="Montserrat" panose="00000500000000000000" pitchFamily="50" charset="0"/>
              </a:rPr>
              <a:t> </a:t>
            </a:r>
            <a:r>
              <a:rPr lang="en-US" sz="2400" dirty="0" err="1">
                <a:latin typeface="Montserrat" panose="00000500000000000000" pitchFamily="50" charset="0"/>
              </a:rPr>
              <a:t>kesalahanmu</a:t>
            </a:r>
            <a:r>
              <a:rPr lang="en-US" sz="2400" dirty="0">
                <a:latin typeface="Montserrat" panose="00000500000000000000" pitchFamily="50" charset="0"/>
              </a:rPr>
              <a:t> </a:t>
            </a:r>
            <a:r>
              <a:rPr lang="en-US" sz="2400" dirty="0" err="1">
                <a:latin typeface="Montserrat" panose="00000500000000000000" pitchFamily="50" charset="0"/>
              </a:rPr>
              <a:t>telah</a:t>
            </a:r>
            <a:r>
              <a:rPr lang="en-US" sz="2400" dirty="0">
                <a:latin typeface="Montserrat" panose="00000500000000000000" pitchFamily="50" charset="0"/>
              </a:rPr>
              <a:t> </a:t>
            </a:r>
            <a:r>
              <a:rPr lang="en-US" sz="2400" dirty="0" err="1">
                <a:latin typeface="Montserrat" panose="00000500000000000000" pitchFamily="50" charset="0"/>
              </a:rPr>
              <a:t>dihapus</a:t>
            </a:r>
            <a:r>
              <a:rPr lang="en-US" sz="2400" dirty="0">
                <a:latin typeface="Montserrat" panose="00000500000000000000" pitchFamily="50" charset="0"/>
              </a:rPr>
              <a:t> dan </a:t>
            </a:r>
            <a:r>
              <a:rPr lang="en-US" sz="2400" dirty="0" err="1">
                <a:latin typeface="Montserrat" panose="00000500000000000000" pitchFamily="50" charset="0"/>
              </a:rPr>
              <a:t>dosamu</a:t>
            </a:r>
            <a:r>
              <a:rPr lang="en-US" sz="2400" dirty="0">
                <a:latin typeface="Montserrat" panose="00000500000000000000" pitchFamily="50" charset="0"/>
              </a:rPr>
              <a:t> </a:t>
            </a:r>
            <a:r>
              <a:rPr lang="en-US" sz="2400" dirty="0" err="1">
                <a:latin typeface="Montserrat" panose="00000500000000000000" pitchFamily="50" charset="0"/>
              </a:rPr>
              <a:t>telah</a:t>
            </a:r>
            <a:r>
              <a:rPr lang="en-US" sz="2400" dirty="0">
                <a:latin typeface="Montserrat" panose="00000500000000000000" pitchFamily="50" charset="0"/>
              </a:rPr>
              <a:t> </a:t>
            </a:r>
            <a:r>
              <a:rPr lang="en-US" sz="2400" dirty="0" err="1">
                <a:latin typeface="Montserrat" panose="00000500000000000000" pitchFamily="50" charset="0"/>
              </a:rPr>
              <a:t>diampuni</a:t>
            </a:r>
            <a:r>
              <a:rPr lang="en-US" sz="2400" dirty="0">
                <a:latin typeface="Montserrat" panose="00000500000000000000" pitchFamily="50" charset="0"/>
              </a:rPr>
              <a:t>.”</a:t>
            </a:r>
          </a:p>
        </p:txBody>
      </p:sp>
    </p:spTree>
    <p:extLst>
      <p:ext uri="{BB962C8B-B14F-4D97-AF65-F5344CB8AC3E}">
        <p14:creationId xmlns:p14="http://schemas.microsoft.com/office/powerpoint/2010/main" val="118289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47EA6F-AF00-4EB7-B095-4A1912E340F0}"/>
              </a:ext>
            </a:extLst>
          </p:cNvPr>
          <p:cNvSpPr/>
          <p:nvPr/>
        </p:nvSpPr>
        <p:spPr>
          <a:xfrm>
            <a:off x="12192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BE9BCDA-8ABC-423B-92ED-C5FF9FD896D8}"/>
              </a:ext>
            </a:extLst>
          </p:cNvPr>
          <p:cNvSpPr txBox="1"/>
          <p:nvPr/>
        </p:nvSpPr>
        <p:spPr>
          <a:xfrm>
            <a:off x="7144245" y="154304"/>
            <a:ext cx="4353339" cy="6001643"/>
          </a:xfrm>
          <a:prstGeom prst="rect">
            <a:avLst/>
          </a:prstGeom>
          <a:noFill/>
        </p:spPr>
        <p:txBody>
          <a:bodyPr wrap="square">
            <a:spAutoFit/>
          </a:bodyPr>
          <a:lstStyle/>
          <a:p>
            <a:r>
              <a:rPr lang="en-US" sz="2400" b="1" dirty="0" err="1">
                <a:solidFill>
                  <a:srgbClr val="C00000"/>
                </a:solidFill>
                <a:latin typeface="Montserrat ExtraBold" panose="00000900000000000000" pitchFamily="50" charset="0"/>
              </a:rPr>
              <a:t>Mazmur</a:t>
            </a:r>
            <a:r>
              <a:rPr lang="en-US" sz="2400" b="1" dirty="0">
                <a:solidFill>
                  <a:srgbClr val="C00000"/>
                </a:solidFill>
                <a:latin typeface="Montserrat ExtraBold" panose="00000900000000000000" pitchFamily="50" charset="0"/>
              </a:rPr>
              <a:t> 45:7-8</a:t>
            </a:r>
            <a:r>
              <a:rPr lang="en-US" sz="2400" dirty="0">
                <a:solidFill>
                  <a:srgbClr val="C00000"/>
                </a:solidFill>
                <a:latin typeface="Montserrat ExtraBold" panose="00000900000000000000" pitchFamily="50" charset="0"/>
              </a:rPr>
              <a:t>  </a:t>
            </a:r>
          </a:p>
          <a:p>
            <a:endParaRPr lang="en-US" sz="2400" dirty="0">
              <a:latin typeface="Century Gothic" panose="020B0502020202020204" pitchFamily="34" charset="0"/>
            </a:endParaRPr>
          </a:p>
          <a:p>
            <a:r>
              <a:rPr lang="en-US" sz="2400" dirty="0" err="1">
                <a:latin typeface="Montserrat" panose="00000500000000000000" pitchFamily="50" charset="0"/>
              </a:rPr>
              <a:t>Takhtamu</a:t>
            </a:r>
            <a:r>
              <a:rPr lang="en-US" sz="2400" dirty="0">
                <a:latin typeface="Montserrat" panose="00000500000000000000" pitchFamily="50" charset="0"/>
              </a:rPr>
              <a:t> </a:t>
            </a:r>
            <a:r>
              <a:rPr lang="en-US" sz="2400" b="1" u="sng" dirty="0" err="1">
                <a:latin typeface="Montserrat" panose="00000500000000000000" pitchFamily="50" charset="0"/>
              </a:rPr>
              <a:t>kepunyaan</a:t>
            </a:r>
            <a:r>
              <a:rPr lang="en-US" sz="2400" b="1" u="sng" dirty="0">
                <a:latin typeface="Montserrat" panose="00000500000000000000" pitchFamily="50" charset="0"/>
              </a:rPr>
              <a:t> Allah</a:t>
            </a:r>
            <a:r>
              <a:rPr lang="en-US" sz="2400" u="sng" dirty="0">
                <a:latin typeface="Montserrat" panose="00000500000000000000" pitchFamily="50" charset="0"/>
              </a:rPr>
              <a:t> (</a:t>
            </a:r>
            <a:r>
              <a:rPr lang="en-US" sz="2400" i="1" u="sng" dirty="0">
                <a:latin typeface="Montserrat" panose="00000500000000000000" pitchFamily="50" charset="0"/>
              </a:rPr>
              <a:t>lit.</a:t>
            </a:r>
            <a:r>
              <a:rPr lang="en-US" sz="2400" u="sng" dirty="0">
                <a:latin typeface="Montserrat" panose="00000500000000000000" pitchFamily="50" charset="0"/>
              </a:rPr>
              <a:t> “</a:t>
            </a:r>
            <a:r>
              <a:rPr lang="en-US" sz="2400" u="sng" dirty="0" err="1">
                <a:latin typeface="Montserrat" panose="00000500000000000000" pitchFamily="50" charset="0"/>
              </a:rPr>
              <a:t>Ya</a:t>
            </a:r>
            <a:r>
              <a:rPr lang="en-US" sz="2400" u="sng" dirty="0">
                <a:latin typeface="Montserrat" panose="00000500000000000000" pitchFamily="50" charset="0"/>
              </a:rPr>
              <a:t>, Allah)</a:t>
            </a:r>
            <a:r>
              <a:rPr lang="en-US" sz="2400" dirty="0">
                <a:latin typeface="Montserrat" panose="00000500000000000000" pitchFamily="50" charset="0"/>
              </a:rPr>
              <a:t>, </a:t>
            </a:r>
            <a:r>
              <a:rPr lang="en-US" sz="2400" dirty="0" err="1">
                <a:latin typeface="Montserrat" panose="00000500000000000000" pitchFamily="50" charset="0"/>
              </a:rPr>
              <a:t>tetap</a:t>
            </a:r>
            <a:r>
              <a:rPr lang="en-US" sz="2400" dirty="0">
                <a:latin typeface="Montserrat" panose="00000500000000000000" pitchFamily="50" charset="0"/>
              </a:rPr>
              <a:t> </a:t>
            </a:r>
            <a:r>
              <a:rPr lang="en-US" sz="2400" dirty="0" err="1">
                <a:latin typeface="Montserrat" panose="00000500000000000000" pitchFamily="50" charset="0"/>
              </a:rPr>
              <a:t>untuk</a:t>
            </a:r>
            <a:r>
              <a:rPr lang="en-US" sz="2400" dirty="0">
                <a:latin typeface="Montserrat" panose="00000500000000000000" pitchFamily="50" charset="0"/>
              </a:rPr>
              <a:t> </a:t>
            </a:r>
            <a:r>
              <a:rPr lang="en-US" sz="2400" dirty="0" err="1">
                <a:latin typeface="Montserrat" panose="00000500000000000000" pitchFamily="50" charset="0"/>
              </a:rPr>
              <a:t>seterusnya</a:t>
            </a:r>
            <a:r>
              <a:rPr lang="en-US" sz="2400" dirty="0">
                <a:latin typeface="Montserrat" panose="00000500000000000000" pitchFamily="50" charset="0"/>
              </a:rPr>
              <a:t> dan </a:t>
            </a:r>
            <a:r>
              <a:rPr lang="en-US" sz="2400" dirty="0" err="1">
                <a:latin typeface="Montserrat" panose="00000500000000000000" pitchFamily="50" charset="0"/>
              </a:rPr>
              <a:t>selamanya</a:t>
            </a:r>
            <a:r>
              <a:rPr lang="en-US" sz="2400" dirty="0">
                <a:latin typeface="Montserrat" panose="00000500000000000000" pitchFamily="50" charset="0"/>
              </a:rPr>
              <a:t>, dan </a:t>
            </a:r>
            <a:r>
              <a:rPr lang="en-US" sz="2400" dirty="0" err="1">
                <a:latin typeface="Montserrat" panose="00000500000000000000" pitchFamily="50" charset="0"/>
              </a:rPr>
              <a:t>tongkat</a:t>
            </a:r>
            <a:r>
              <a:rPr lang="en-US" sz="2400" dirty="0">
                <a:latin typeface="Montserrat" panose="00000500000000000000" pitchFamily="50" charset="0"/>
              </a:rPr>
              <a:t> </a:t>
            </a:r>
            <a:r>
              <a:rPr lang="en-US" sz="2400" dirty="0" err="1">
                <a:latin typeface="Montserrat" panose="00000500000000000000" pitchFamily="50" charset="0"/>
              </a:rPr>
              <a:t>kerajaanmu</a:t>
            </a:r>
            <a:r>
              <a:rPr lang="en-US" sz="2400" dirty="0">
                <a:latin typeface="Montserrat" panose="00000500000000000000" pitchFamily="50" charset="0"/>
              </a:rPr>
              <a:t> </a:t>
            </a:r>
            <a:r>
              <a:rPr lang="en-US" sz="2400" dirty="0" err="1">
                <a:latin typeface="Montserrat" panose="00000500000000000000" pitchFamily="50" charset="0"/>
              </a:rPr>
              <a:t>adalah</a:t>
            </a:r>
            <a:r>
              <a:rPr lang="en-US" sz="2400" dirty="0">
                <a:latin typeface="Montserrat" panose="00000500000000000000" pitchFamily="50" charset="0"/>
              </a:rPr>
              <a:t> </a:t>
            </a:r>
            <a:r>
              <a:rPr lang="en-US" sz="2400" dirty="0" err="1">
                <a:latin typeface="Montserrat" panose="00000500000000000000" pitchFamily="50" charset="0"/>
              </a:rPr>
              <a:t>tongkat</a:t>
            </a:r>
            <a:r>
              <a:rPr lang="en-US" sz="2400" dirty="0">
                <a:latin typeface="Montserrat" panose="00000500000000000000" pitchFamily="50" charset="0"/>
              </a:rPr>
              <a:t> </a:t>
            </a:r>
            <a:r>
              <a:rPr lang="en-US" sz="2400" dirty="0" err="1">
                <a:latin typeface="Montserrat" panose="00000500000000000000" pitchFamily="50" charset="0"/>
              </a:rPr>
              <a:t>kebenaran</a:t>
            </a:r>
            <a:r>
              <a:rPr lang="en-US" sz="2400" dirty="0">
                <a:latin typeface="Montserrat" panose="00000500000000000000" pitchFamily="50" charset="0"/>
              </a:rPr>
              <a:t>. </a:t>
            </a:r>
            <a:r>
              <a:rPr lang="en-US" sz="2400" dirty="0" err="1">
                <a:latin typeface="Montserrat" panose="00000500000000000000" pitchFamily="50" charset="0"/>
              </a:rPr>
              <a:t>Engkau</a:t>
            </a:r>
            <a:r>
              <a:rPr lang="en-US" sz="2400" dirty="0">
                <a:latin typeface="Montserrat" panose="00000500000000000000" pitchFamily="50" charset="0"/>
              </a:rPr>
              <a:t> </a:t>
            </a:r>
            <a:r>
              <a:rPr lang="en-US" sz="2400" dirty="0" err="1">
                <a:latin typeface="Montserrat" panose="00000500000000000000" pitchFamily="50" charset="0"/>
              </a:rPr>
              <a:t>mencintai</a:t>
            </a:r>
            <a:r>
              <a:rPr lang="en-US" sz="2400" dirty="0">
                <a:latin typeface="Montserrat" panose="00000500000000000000" pitchFamily="50" charset="0"/>
              </a:rPr>
              <a:t> </a:t>
            </a:r>
            <a:r>
              <a:rPr lang="en-US" sz="2400" dirty="0" err="1">
                <a:latin typeface="Montserrat" panose="00000500000000000000" pitchFamily="50" charset="0"/>
              </a:rPr>
              <a:t>keadilan</a:t>
            </a:r>
            <a:r>
              <a:rPr lang="en-US" sz="2400" dirty="0">
                <a:latin typeface="Montserrat" panose="00000500000000000000" pitchFamily="50" charset="0"/>
              </a:rPr>
              <a:t> dan </a:t>
            </a:r>
            <a:r>
              <a:rPr lang="en-US" sz="2400" dirty="0" err="1">
                <a:latin typeface="Montserrat" panose="00000500000000000000" pitchFamily="50" charset="0"/>
              </a:rPr>
              <a:t>membenci</a:t>
            </a:r>
            <a:r>
              <a:rPr lang="en-US" sz="2400" dirty="0">
                <a:latin typeface="Montserrat" panose="00000500000000000000" pitchFamily="50" charset="0"/>
              </a:rPr>
              <a:t> </a:t>
            </a:r>
            <a:r>
              <a:rPr lang="en-US" sz="2400" dirty="0" err="1">
                <a:latin typeface="Montserrat" panose="00000500000000000000" pitchFamily="50" charset="0"/>
              </a:rPr>
              <a:t>kefasikan</a:t>
            </a:r>
            <a:r>
              <a:rPr lang="en-US" sz="2400" dirty="0">
                <a:latin typeface="Montserrat" panose="00000500000000000000" pitchFamily="50" charset="0"/>
              </a:rPr>
              <a:t>; </a:t>
            </a:r>
            <a:r>
              <a:rPr lang="en-US" sz="2400" dirty="0" err="1">
                <a:latin typeface="Montserrat" panose="00000500000000000000" pitchFamily="50" charset="0"/>
              </a:rPr>
              <a:t>sebab</a:t>
            </a:r>
            <a:r>
              <a:rPr lang="en-US" sz="2400" dirty="0">
                <a:latin typeface="Montserrat" panose="00000500000000000000" pitchFamily="50" charset="0"/>
              </a:rPr>
              <a:t> </a:t>
            </a:r>
            <a:r>
              <a:rPr lang="en-US" sz="2400" dirty="0" err="1">
                <a:latin typeface="Montserrat" panose="00000500000000000000" pitchFamily="50" charset="0"/>
              </a:rPr>
              <a:t>itu</a:t>
            </a:r>
            <a:r>
              <a:rPr lang="en-US" sz="2400" dirty="0">
                <a:latin typeface="Montserrat" panose="00000500000000000000" pitchFamily="50" charset="0"/>
              </a:rPr>
              <a:t> </a:t>
            </a:r>
            <a:r>
              <a:rPr lang="en-US" sz="2400" b="1" u="sng" dirty="0">
                <a:latin typeface="Montserrat" panose="00000500000000000000" pitchFamily="50" charset="0"/>
              </a:rPr>
              <a:t>Allah, </a:t>
            </a:r>
            <a:r>
              <a:rPr lang="en-US" sz="2400" b="1" u="sng" dirty="0" err="1">
                <a:latin typeface="Montserrat" panose="00000500000000000000" pitchFamily="50" charset="0"/>
              </a:rPr>
              <a:t>Allahmu</a:t>
            </a:r>
            <a:r>
              <a:rPr lang="en-US" sz="2400" u="sng" dirty="0">
                <a:latin typeface="Montserrat" panose="00000500000000000000" pitchFamily="50" charset="0"/>
              </a:rPr>
              <a:t>,</a:t>
            </a:r>
            <a:r>
              <a:rPr lang="en-US" sz="2400" dirty="0">
                <a:latin typeface="Montserrat" panose="00000500000000000000" pitchFamily="50" charset="0"/>
              </a:rPr>
              <a:t> </a:t>
            </a:r>
            <a:r>
              <a:rPr lang="en-US" sz="2400" dirty="0" err="1">
                <a:latin typeface="Montserrat" panose="00000500000000000000" pitchFamily="50" charset="0"/>
              </a:rPr>
              <a:t>telah</a:t>
            </a:r>
            <a:r>
              <a:rPr lang="en-US" sz="2400" dirty="0">
                <a:latin typeface="Montserrat" panose="00000500000000000000" pitchFamily="50" charset="0"/>
              </a:rPr>
              <a:t> </a:t>
            </a:r>
            <a:r>
              <a:rPr lang="en-US" sz="2400" dirty="0" err="1">
                <a:latin typeface="Montserrat" panose="00000500000000000000" pitchFamily="50" charset="0"/>
              </a:rPr>
              <a:t>mengurapi</a:t>
            </a:r>
            <a:r>
              <a:rPr lang="en-US" sz="2400" dirty="0">
                <a:latin typeface="Montserrat" panose="00000500000000000000" pitchFamily="50" charset="0"/>
              </a:rPr>
              <a:t> </a:t>
            </a:r>
            <a:r>
              <a:rPr lang="en-US" sz="2400" dirty="0" err="1">
                <a:latin typeface="Montserrat" panose="00000500000000000000" pitchFamily="50" charset="0"/>
              </a:rPr>
              <a:t>engkau</a:t>
            </a:r>
            <a:r>
              <a:rPr lang="en-US" sz="2400" dirty="0">
                <a:latin typeface="Montserrat" panose="00000500000000000000" pitchFamily="50" charset="0"/>
              </a:rPr>
              <a:t> </a:t>
            </a:r>
            <a:r>
              <a:rPr lang="en-US" sz="2400" dirty="0" err="1">
                <a:latin typeface="Montserrat" panose="00000500000000000000" pitchFamily="50" charset="0"/>
              </a:rPr>
              <a:t>dengan</a:t>
            </a:r>
            <a:r>
              <a:rPr lang="en-US" sz="2400" dirty="0">
                <a:latin typeface="Montserrat" panose="00000500000000000000" pitchFamily="50" charset="0"/>
              </a:rPr>
              <a:t> </a:t>
            </a:r>
            <a:r>
              <a:rPr lang="en-US" sz="2400" dirty="0" err="1">
                <a:latin typeface="Montserrat" panose="00000500000000000000" pitchFamily="50" charset="0"/>
              </a:rPr>
              <a:t>minyak</a:t>
            </a:r>
            <a:r>
              <a:rPr lang="en-US" sz="2400" dirty="0">
                <a:latin typeface="Montserrat" panose="00000500000000000000" pitchFamily="50" charset="0"/>
              </a:rPr>
              <a:t> </a:t>
            </a:r>
            <a:r>
              <a:rPr lang="en-US" sz="2400" dirty="0" err="1">
                <a:latin typeface="Montserrat" panose="00000500000000000000" pitchFamily="50" charset="0"/>
              </a:rPr>
              <a:t>sebagai</a:t>
            </a:r>
            <a:r>
              <a:rPr lang="en-US" sz="2400" dirty="0">
                <a:latin typeface="Montserrat" panose="00000500000000000000" pitchFamily="50" charset="0"/>
              </a:rPr>
              <a:t> </a:t>
            </a:r>
            <a:r>
              <a:rPr lang="en-US" sz="2400" dirty="0" err="1">
                <a:latin typeface="Montserrat" panose="00000500000000000000" pitchFamily="50" charset="0"/>
              </a:rPr>
              <a:t>tanda</a:t>
            </a:r>
            <a:r>
              <a:rPr lang="en-US" sz="2400" dirty="0">
                <a:latin typeface="Montserrat" panose="00000500000000000000" pitchFamily="50" charset="0"/>
              </a:rPr>
              <a:t> </a:t>
            </a:r>
            <a:r>
              <a:rPr lang="en-US" sz="2400" dirty="0" err="1">
                <a:latin typeface="Montserrat" panose="00000500000000000000" pitchFamily="50" charset="0"/>
              </a:rPr>
              <a:t>kesukaan</a:t>
            </a:r>
            <a:r>
              <a:rPr lang="en-US" sz="2400" dirty="0">
                <a:latin typeface="Montserrat" panose="00000500000000000000" pitchFamily="50" charset="0"/>
              </a:rPr>
              <a:t>, </a:t>
            </a:r>
            <a:r>
              <a:rPr lang="en-US" sz="2400" dirty="0" err="1">
                <a:latin typeface="Montserrat" panose="00000500000000000000" pitchFamily="50" charset="0"/>
              </a:rPr>
              <a:t>melebihi</a:t>
            </a:r>
            <a:r>
              <a:rPr lang="en-US" sz="2400" dirty="0">
                <a:latin typeface="Montserrat" panose="00000500000000000000" pitchFamily="50" charset="0"/>
              </a:rPr>
              <a:t> </a:t>
            </a:r>
            <a:r>
              <a:rPr lang="en-US" sz="2400" dirty="0" err="1">
                <a:latin typeface="Montserrat" panose="00000500000000000000" pitchFamily="50" charset="0"/>
              </a:rPr>
              <a:t>teman-teman</a:t>
            </a:r>
            <a:r>
              <a:rPr lang="en-US" sz="2400" dirty="0">
                <a:latin typeface="Montserrat" panose="00000500000000000000" pitchFamily="50" charset="0"/>
              </a:rPr>
              <a:t> </a:t>
            </a:r>
            <a:r>
              <a:rPr lang="en-US" sz="2400" dirty="0" err="1">
                <a:latin typeface="Montserrat" panose="00000500000000000000" pitchFamily="50" charset="0"/>
              </a:rPr>
              <a:t>sekutumu</a:t>
            </a:r>
            <a:r>
              <a:rPr lang="en-US" sz="2400" dirty="0">
                <a:latin typeface="Montserrat" panose="00000500000000000000" pitchFamily="50" charset="0"/>
              </a:rPr>
              <a:t>.</a:t>
            </a:r>
            <a:endParaRPr lang="id-ID" sz="2400" dirty="0">
              <a:latin typeface="Montserrat" panose="00000500000000000000" pitchFamily="50" charset="0"/>
            </a:endParaRPr>
          </a:p>
        </p:txBody>
      </p:sp>
      <p:sp>
        <p:nvSpPr>
          <p:cNvPr id="3" name="Rectangle 2">
            <a:extLst>
              <a:ext uri="{FF2B5EF4-FFF2-40B4-BE49-F238E27FC236}">
                <a16:creationId xmlns:a16="http://schemas.microsoft.com/office/drawing/2014/main" id="{EA40526C-2FB9-4277-A893-A0521342A82B}"/>
              </a:ext>
            </a:extLst>
          </p:cNvPr>
          <p:cNvSpPr/>
          <p:nvPr/>
        </p:nvSpPr>
        <p:spPr>
          <a:xfrm>
            <a:off x="1119807" y="3465756"/>
            <a:ext cx="5208104" cy="269019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17F7DE-2B96-4F54-8626-83789035DE56}"/>
              </a:ext>
            </a:extLst>
          </p:cNvPr>
          <p:cNvSpPr txBox="1"/>
          <p:nvPr/>
        </p:nvSpPr>
        <p:spPr>
          <a:xfrm>
            <a:off x="1547190" y="3841355"/>
            <a:ext cx="4353337" cy="1938992"/>
          </a:xfrm>
          <a:prstGeom prst="rect">
            <a:avLst/>
          </a:prstGeom>
          <a:noFill/>
        </p:spPr>
        <p:txBody>
          <a:bodyPr wrap="square">
            <a:spAutoFit/>
          </a:bodyPr>
          <a:lstStyle/>
          <a:p>
            <a:r>
              <a:rPr lang="en-US" sz="2400" b="1" dirty="0">
                <a:solidFill>
                  <a:schemeClr val="bg1"/>
                </a:solidFill>
                <a:latin typeface="Montserrat ExtraBold" panose="00000900000000000000" pitchFamily="50" charset="0"/>
              </a:rPr>
              <a:t>FIGUR </a:t>
            </a:r>
            <a:r>
              <a:rPr lang="en-US" sz="2400" b="1" dirty="0">
                <a:solidFill>
                  <a:srgbClr val="C00000"/>
                </a:solidFill>
                <a:latin typeface="Montserrat ExtraBold" panose="00000900000000000000" pitchFamily="50" charset="0"/>
              </a:rPr>
              <a:t>ILAHI</a:t>
            </a:r>
            <a:r>
              <a:rPr lang="en-US" sz="2400" b="1" dirty="0">
                <a:solidFill>
                  <a:schemeClr val="bg1"/>
                </a:solidFill>
                <a:latin typeface="Montserrat ExtraBold" panose="00000900000000000000" pitchFamily="50" charset="0"/>
              </a:rPr>
              <a:t> YANG </a:t>
            </a:r>
            <a:r>
              <a:rPr lang="en-US" sz="2400" b="1" dirty="0">
                <a:solidFill>
                  <a:srgbClr val="C00000"/>
                </a:solidFill>
                <a:latin typeface="Montserrat ExtraBold" panose="00000900000000000000" pitchFamily="50" charset="0"/>
              </a:rPr>
              <a:t>BERBEDA</a:t>
            </a:r>
            <a:r>
              <a:rPr lang="en-US" sz="2400" b="1" dirty="0">
                <a:solidFill>
                  <a:schemeClr val="bg1"/>
                </a:solidFill>
                <a:latin typeface="Montserrat ExtraBold" panose="00000900000000000000" pitchFamily="50" charset="0"/>
              </a:rPr>
              <a:t> DENGAN TUHAN </a:t>
            </a:r>
            <a:r>
              <a:rPr lang="en-US" sz="2400" dirty="0">
                <a:solidFill>
                  <a:schemeClr val="bg1"/>
                </a:solidFill>
                <a:latin typeface="Montserrat ExtraBold" panose="00000900000000000000" pitchFamily="50" charset="0"/>
              </a:rPr>
              <a:t>(</a:t>
            </a:r>
            <a:r>
              <a:rPr lang="en-US" sz="2400" dirty="0" err="1">
                <a:solidFill>
                  <a:schemeClr val="bg1"/>
                </a:solidFill>
                <a:latin typeface="Montserrat ExtraBold" panose="00000900000000000000" pitchFamily="50" charset="0"/>
              </a:rPr>
              <a:t>Mzm</a:t>
            </a:r>
            <a:r>
              <a:rPr lang="en-US" sz="2400" dirty="0">
                <a:solidFill>
                  <a:schemeClr val="bg1"/>
                </a:solidFill>
                <a:latin typeface="Montserrat ExtraBold" panose="00000900000000000000" pitchFamily="50" charset="0"/>
              </a:rPr>
              <a:t>. 45:6-7//</a:t>
            </a:r>
            <a:r>
              <a:rPr lang="en-US" sz="2400" dirty="0" err="1">
                <a:solidFill>
                  <a:schemeClr val="bg1"/>
                </a:solidFill>
                <a:latin typeface="Montserrat ExtraBold" panose="00000900000000000000" pitchFamily="50" charset="0"/>
              </a:rPr>
              <a:t>Ibr</a:t>
            </a:r>
            <a:r>
              <a:rPr lang="en-US" sz="2400" dirty="0">
                <a:solidFill>
                  <a:schemeClr val="bg1"/>
                </a:solidFill>
                <a:latin typeface="Montserrat ExtraBold" panose="00000900000000000000" pitchFamily="50" charset="0"/>
              </a:rPr>
              <a:t>. 1:8; </a:t>
            </a:r>
            <a:r>
              <a:rPr lang="en-US" sz="2400" dirty="0" err="1">
                <a:solidFill>
                  <a:schemeClr val="bg1"/>
                </a:solidFill>
                <a:latin typeface="Montserrat ExtraBold" panose="00000900000000000000" pitchFamily="50" charset="0"/>
              </a:rPr>
              <a:t>Mzm</a:t>
            </a:r>
            <a:r>
              <a:rPr lang="en-US" sz="2400" dirty="0">
                <a:solidFill>
                  <a:schemeClr val="bg1"/>
                </a:solidFill>
                <a:latin typeface="Montserrat ExtraBold" panose="00000900000000000000" pitchFamily="50" charset="0"/>
              </a:rPr>
              <a:t>. 110:1//Mat. 22:41-46; Mal. 3:1)</a:t>
            </a:r>
          </a:p>
        </p:txBody>
      </p:sp>
      <p:pic>
        <p:nvPicPr>
          <p:cNvPr id="8" name="Picture 2" descr="Getting 'Unhitched' from the Old Testament? Andy Stanley Aims at Heresy -  AlbertMohler.com">
            <a:extLst>
              <a:ext uri="{FF2B5EF4-FFF2-40B4-BE49-F238E27FC236}">
                <a16:creationId xmlns:a16="http://schemas.microsoft.com/office/drawing/2014/main" id="{2ECFF496-D256-4BDD-881E-F48E3A9FCA3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119807" y="0"/>
            <a:ext cx="5208103" cy="346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90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378FD-E857-39E9-1E1F-CC85A5C6C3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FF5F054-E2FB-56A7-9C8F-24D7F65E4615}"/>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B83C239-8048-8316-C53C-FFBAEF5E3112}"/>
              </a:ext>
            </a:extLst>
          </p:cNvPr>
          <p:cNvSpPr txBox="1"/>
          <p:nvPr/>
        </p:nvSpPr>
        <p:spPr>
          <a:xfrm>
            <a:off x="0" y="58846"/>
            <a:ext cx="12191999" cy="6740307"/>
          </a:xfrm>
          <a:prstGeom prst="rect">
            <a:avLst/>
          </a:prstGeom>
          <a:noFill/>
        </p:spPr>
        <p:txBody>
          <a:bodyPr wrap="square">
            <a:spAutoFit/>
          </a:bodyPr>
          <a:lstStyle/>
          <a:p>
            <a:pPr algn="ctr"/>
            <a:r>
              <a:rPr lang="en-US" sz="2400" b="1" dirty="0" err="1">
                <a:solidFill>
                  <a:srgbClr val="C00000"/>
                </a:solidFill>
                <a:latin typeface="Montserrat ExtraBold" panose="00000900000000000000" pitchFamily="50" charset="0"/>
              </a:rPr>
              <a:t>Ibrani</a:t>
            </a:r>
            <a:r>
              <a:rPr lang="en-US" sz="2400" b="1" dirty="0">
                <a:solidFill>
                  <a:srgbClr val="C00000"/>
                </a:solidFill>
                <a:latin typeface="Montserrat ExtraBold" panose="00000900000000000000" pitchFamily="50" charset="0"/>
              </a:rPr>
              <a:t> 1:8</a:t>
            </a:r>
            <a:r>
              <a:rPr lang="en-US" sz="2400" dirty="0">
                <a:solidFill>
                  <a:srgbClr val="C00000"/>
                </a:solidFill>
                <a:latin typeface="Montserrat ExtraBold" panose="00000900000000000000" pitchFamily="50" charset="0"/>
              </a:rPr>
              <a:t>  </a:t>
            </a:r>
          </a:p>
          <a:p>
            <a:pPr algn="ctr"/>
            <a:endParaRPr lang="en-US" sz="2400" dirty="0">
              <a:latin typeface="Century Gothic" panose="020B0502020202020204" pitchFamily="34" charset="0"/>
            </a:endParaRPr>
          </a:p>
          <a:p>
            <a:pPr algn="ctr"/>
            <a:r>
              <a:rPr lang="en-US" sz="2400" dirty="0" err="1">
                <a:latin typeface="Montserrat" panose="00000500000000000000" pitchFamily="50" charset="0"/>
              </a:rPr>
              <a:t>Tetapi</a:t>
            </a:r>
            <a:r>
              <a:rPr lang="en-US" sz="2400" dirty="0">
                <a:latin typeface="Montserrat" panose="00000500000000000000" pitchFamily="50" charset="0"/>
              </a:rPr>
              <a:t> </a:t>
            </a:r>
            <a:r>
              <a:rPr lang="en-US" sz="2400" dirty="0" err="1">
                <a:latin typeface="Montserrat" panose="00000500000000000000" pitchFamily="50" charset="0"/>
              </a:rPr>
              <a:t>tentang</a:t>
            </a:r>
            <a:r>
              <a:rPr lang="en-US" sz="2400" dirty="0">
                <a:latin typeface="Montserrat" panose="00000500000000000000" pitchFamily="50" charset="0"/>
              </a:rPr>
              <a:t> Anak Ia </a:t>
            </a:r>
            <a:r>
              <a:rPr lang="en-US" sz="2400" dirty="0" err="1">
                <a:latin typeface="Montserrat" panose="00000500000000000000" pitchFamily="50" charset="0"/>
              </a:rPr>
              <a:t>berkata</a:t>
            </a:r>
            <a:r>
              <a:rPr lang="en-US" sz="2400" dirty="0">
                <a:latin typeface="Montserrat" panose="00000500000000000000" pitchFamily="50" charset="0"/>
              </a:rPr>
              <a:t>:</a:t>
            </a:r>
          </a:p>
          <a:p>
            <a:pPr algn="ctr"/>
            <a:r>
              <a:rPr lang="en-US" sz="2400" dirty="0">
                <a:latin typeface="Montserrat" panose="00000500000000000000" pitchFamily="50" charset="0"/>
              </a:rPr>
              <a:t>”Takhta-Mu, </a:t>
            </a:r>
            <a:r>
              <a:rPr lang="en-US" sz="2400" dirty="0" err="1">
                <a:latin typeface="Montserrat" panose="00000500000000000000" pitchFamily="50" charset="0"/>
              </a:rPr>
              <a:t>ya</a:t>
            </a:r>
            <a:r>
              <a:rPr lang="en-US" sz="2400" dirty="0">
                <a:latin typeface="Montserrat" panose="00000500000000000000" pitchFamily="50" charset="0"/>
              </a:rPr>
              <a:t> Allah, </a:t>
            </a:r>
            <a:r>
              <a:rPr lang="en-US" sz="2400" dirty="0" err="1">
                <a:latin typeface="Montserrat" panose="00000500000000000000" pitchFamily="50" charset="0"/>
              </a:rPr>
              <a:t>tetap</a:t>
            </a:r>
            <a:r>
              <a:rPr lang="en-US" sz="2400" dirty="0">
                <a:latin typeface="Montserrat" panose="00000500000000000000" pitchFamily="50" charset="0"/>
              </a:rPr>
              <a:t> </a:t>
            </a:r>
            <a:r>
              <a:rPr lang="en-US" sz="2400" dirty="0" err="1">
                <a:latin typeface="Montserrat" panose="00000500000000000000" pitchFamily="50" charset="0"/>
              </a:rPr>
              <a:t>untuk</a:t>
            </a:r>
            <a:r>
              <a:rPr lang="en-US" sz="2400" dirty="0">
                <a:latin typeface="Montserrat" panose="00000500000000000000" pitchFamily="50" charset="0"/>
              </a:rPr>
              <a:t> </a:t>
            </a:r>
            <a:r>
              <a:rPr lang="en-US" sz="2400" dirty="0" err="1">
                <a:latin typeface="Montserrat" panose="00000500000000000000" pitchFamily="50" charset="0"/>
              </a:rPr>
              <a:t>seterusnya</a:t>
            </a:r>
            <a:r>
              <a:rPr lang="en-US" sz="2400" dirty="0">
                <a:latin typeface="Montserrat" panose="00000500000000000000" pitchFamily="50" charset="0"/>
              </a:rPr>
              <a:t> dan </a:t>
            </a:r>
            <a:r>
              <a:rPr lang="en-US" sz="2400" dirty="0" err="1">
                <a:latin typeface="Montserrat" panose="00000500000000000000" pitchFamily="50" charset="0"/>
              </a:rPr>
              <a:t>selamanya</a:t>
            </a:r>
            <a:r>
              <a:rPr lang="en-US" sz="2400" dirty="0">
                <a:latin typeface="Montserrat" panose="00000500000000000000" pitchFamily="50" charset="0"/>
              </a:rPr>
              <a:t>,</a:t>
            </a:r>
          </a:p>
          <a:p>
            <a:pPr algn="ctr"/>
            <a:r>
              <a:rPr lang="en-US" sz="2400" dirty="0">
                <a:latin typeface="Montserrat" panose="00000500000000000000" pitchFamily="50" charset="0"/>
              </a:rPr>
              <a:t>dan </a:t>
            </a:r>
            <a:r>
              <a:rPr lang="en-US" sz="2400" dirty="0" err="1">
                <a:latin typeface="Montserrat" panose="00000500000000000000" pitchFamily="50" charset="0"/>
              </a:rPr>
              <a:t>tongkat</a:t>
            </a:r>
            <a:r>
              <a:rPr lang="en-US" sz="2400" dirty="0">
                <a:latin typeface="Montserrat" panose="00000500000000000000" pitchFamily="50" charset="0"/>
              </a:rPr>
              <a:t> </a:t>
            </a:r>
            <a:r>
              <a:rPr lang="en-US" sz="2400" dirty="0" err="1">
                <a:latin typeface="Montserrat" panose="00000500000000000000" pitchFamily="50" charset="0"/>
              </a:rPr>
              <a:t>kerajaan</a:t>
            </a:r>
            <a:r>
              <a:rPr lang="en-US" sz="2400" dirty="0">
                <a:latin typeface="Montserrat" panose="00000500000000000000" pitchFamily="50" charset="0"/>
              </a:rPr>
              <a:t>-Mu </a:t>
            </a:r>
            <a:r>
              <a:rPr lang="en-US" sz="2400" dirty="0" err="1">
                <a:latin typeface="Montserrat" panose="00000500000000000000" pitchFamily="50" charset="0"/>
              </a:rPr>
              <a:t>adalah</a:t>
            </a:r>
            <a:r>
              <a:rPr lang="en-US" sz="2400" dirty="0">
                <a:latin typeface="Montserrat" panose="00000500000000000000" pitchFamily="50" charset="0"/>
              </a:rPr>
              <a:t> </a:t>
            </a:r>
            <a:r>
              <a:rPr lang="en-US" sz="2400" dirty="0" err="1">
                <a:latin typeface="Montserrat" panose="00000500000000000000" pitchFamily="50" charset="0"/>
              </a:rPr>
              <a:t>tongkat</a:t>
            </a:r>
            <a:r>
              <a:rPr lang="en-US" sz="2400" dirty="0">
                <a:latin typeface="Montserrat" panose="00000500000000000000" pitchFamily="50" charset="0"/>
              </a:rPr>
              <a:t> </a:t>
            </a:r>
            <a:r>
              <a:rPr lang="en-US" sz="2400" dirty="0" err="1">
                <a:latin typeface="Montserrat" panose="00000500000000000000" pitchFamily="50" charset="0"/>
              </a:rPr>
              <a:t>kebenaran</a:t>
            </a:r>
            <a:r>
              <a:rPr lang="en-US" sz="2400" dirty="0">
                <a:latin typeface="Montserrat" panose="00000500000000000000" pitchFamily="50" charset="0"/>
              </a:rPr>
              <a:t>.</a:t>
            </a:r>
          </a:p>
          <a:p>
            <a:pPr algn="ctr"/>
            <a:endParaRPr lang="en-US" sz="2400" dirty="0">
              <a:latin typeface="Montserrat" panose="00000500000000000000" pitchFamily="50" charset="0"/>
            </a:endParaRPr>
          </a:p>
          <a:p>
            <a:pPr algn="ctr"/>
            <a:r>
              <a:rPr lang="en-US" sz="2400" b="1" dirty="0" err="1">
                <a:solidFill>
                  <a:srgbClr val="C00000"/>
                </a:solidFill>
                <a:latin typeface="Montserrat ExtraBold" panose="00000900000000000000" pitchFamily="50" charset="0"/>
              </a:rPr>
              <a:t>Mazmur</a:t>
            </a:r>
            <a:r>
              <a:rPr lang="en-US" sz="2400" b="1" dirty="0">
                <a:solidFill>
                  <a:srgbClr val="C00000"/>
                </a:solidFill>
                <a:latin typeface="Montserrat ExtraBold" panose="00000900000000000000" pitchFamily="50" charset="0"/>
              </a:rPr>
              <a:t> 110:1</a:t>
            </a:r>
            <a:r>
              <a:rPr lang="en-US" sz="2400" dirty="0">
                <a:solidFill>
                  <a:srgbClr val="C00000"/>
                </a:solidFill>
                <a:latin typeface="Montserrat ExtraBold" panose="00000900000000000000" pitchFamily="50" charset="0"/>
              </a:rPr>
              <a:t>  </a:t>
            </a:r>
          </a:p>
          <a:p>
            <a:pPr algn="ctr"/>
            <a:r>
              <a:rPr lang="id-ID" sz="2400" dirty="0">
                <a:latin typeface="Montserrat" panose="00000500000000000000" pitchFamily="50" charset="0"/>
              </a:rPr>
              <a:t>Mazmur Daud.</a:t>
            </a:r>
          </a:p>
          <a:p>
            <a:pPr algn="ctr"/>
            <a:r>
              <a:rPr lang="id-ID" sz="2400" dirty="0">
                <a:latin typeface="Montserrat" panose="00000500000000000000" pitchFamily="50" charset="0"/>
              </a:rPr>
              <a:t>Demikianlah firman Tuhan kepada tuanku:</a:t>
            </a:r>
          </a:p>
          <a:p>
            <a:pPr algn="ctr"/>
            <a:r>
              <a:rPr lang="id-ID" sz="2400" dirty="0">
                <a:latin typeface="Montserrat" panose="00000500000000000000" pitchFamily="50" charset="0"/>
              </a:rPr>
              <a:t>”Duduklah di sebelah kanan-Ku,</a:t>
            </a:r>
          </a:p>
          <a:p>
            <a:pPr algn="ctr"/>
            <a:r>
              <a:rPr lang="id-ID" sz="2400" dirty="0">
                <a:latin typeface="Montserrat" panose="00000500000000000000" pitchFamily="50" charset="0"/>
              </a:rPr>
              <a:t>sampai Kubuat musuh-musuhmu</a:t>
            </a:r>
          </a:p>
          <a:p>
            <a:pPr algn="ctr"/>
            <a:r>
              <a:rPr lang="id-ID" sz="2400" dirty="0">
                <a:latin typeface="Montserrat" panose="00000500000000000000" pitchFamily="50" charset="0"/>
              </a:rPr>
              <a:t>menjadi tumpuan kakimu.”</a:t>
            </a:r>
            <a:endParaRPr lang="en-US" sz="2400" dirty="0">
              <a:latin typeface="Montserrat" panose="00000500000000000000" pitchFamily="50" charset="0"/>
            </a:endParaRPr>
          </a:p>
          <a:p>
            <a:pPr algn="ctr"/>
            <a:endParaRPr lang="en-US" sz="2400" dirty="0">
              <a:latin typeface="Montserrat" panose="00000500000000000000" pitchFamily="50" charset="0"/>
            </a:endParaRPr>
          </a:p>
          <a:p>
            <a:pPr algn="ctr"/>
            <a:r>
              <a:rPr lang="en-US" sz="2400" b="1" dirty="0">
                <a:solidFill>
                  <a:srgbClr val="C00000"/>
                </a:solidFill>
                <a:latin typeface="Montserrat ExtraBold" panose="00000900000000000000" pitchFamily="50" charset="0"/>
              </a:rPr>
              <a:t>Malekhi 3:1</a:t>
            </a:r>
            <a:r>
              <a:rPr lang="en-US" sz="2400" dirty="0">
                <a:solidFill>
                  <a:srgbClr val="C00000"/>
                </a:solidFill>
                <a:latin typeface="Montserrat ExtraBold" panose="00000900000000000000" pitchFamily="50" charset="0"/>
              </a:rPr>
              <a:t>  </a:t>
            </a:r>
          </a:p>
          <a:p>
            <a:pPr algn="ctr"/>
            <a:r>
              <a:rPr lang="id-ID" sz="2400" dirty="0">
                <a:latin typeface="Montserrat" panose="00000500000000000000" pitchFamily="50" charset="0"/>
              </a:rPr>
              <a:t>Lihat, Aku menyuruh utusan-Ku, supaya ia mempersiapkan jalan di hadapan-Ku! Dengan mendadak Tuhan yang kamu cari itu akan masuk ke bait-Nya! Malaikat Perjanjian yang kamu kehendaki itu, sesungguhnya, Ia datang, firman Tuhan semesta alam.</a:t>
            </a:r>
          </a:p>
        </p:txBody>
      </p:sp>
    </p:spTree>
    <p:extLst>
      <p:ext uri="{BB962C8B-B14F-4D97-AF65-F5344CB8AC3E}">
        <p14:creationId xmlns:p14="http://schemas.microsoft.com/office/powerpoint/2010/main" val="1998059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5398D-5AEE-9301-D3C4-73096D747C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43FFADE-C34A-0C3A-6ECA-1BFAC872E224}"/>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C01750F-6892-3D2C-CEFE-097B1C9E493E}"/>
              </a:ext>
            </a:extLst>
          </p:cNvPr>
          <p:cNvSpPr txBox="1"/>
          <p:nvPr/>
        </p:nvSpPr>
        <p:spPr>
          <a:xfrm>
            <a:off x="1" y="612844"/>
            <a:ext cx="12191999" cy="5632311"/>
          </a:xfrm>
          <a:prstGeom prst="rect">
            <a:avLst/>
          </a:prstGeom>
          <a:noFill/>
        </p:spPr>
        <p:txBody>
          <a:bodyPr wrap="square">
            <a:spAutoFit/>
          </a:bodyPr>
          <a:lstStyle/>
          <a:p>
            <a:pPr algn="ctr"/>
            <a:r>
              <a:rPr lang="en-US" sz="2400" b="1" dirty="0">
                <a:solidFill>
                  <a:srgbClr val="C00000"/>
                </a:solidFill>
                <a:latin typeface="Montserrat ExtraBold" panose="00000900000000000000" pitchFamily="50" charset="0"/>
              </a:rPr>
              <a:t>Matius 22:41-46</a:t>
            </a:r>
            <a:endParaRPr lang="en-US" sz="2400" dirty="0">
              <a:solidFill>
                <a:srgbClr val="C00000"/>
              </a:solidFill>
              <a:latin typeface="Montserrat ExtraBold" panose="00000900000000000000" pitchFamily="50" charset="0"/>
            </a:endParaRPr>
          </a:p>
          <a:p>
            <a:pPr algn="ctr"/>
            <a:endParaRPr lang="en-US" sz="2400" dirty="0">
              <a:latin typeface="Century Gothic" panose="020B0502020202020204" pitchFamily="34" charset="0"/>
            </a:endParaRPr>
          </a:p>
          <a:p>
            <a:pPr algn="ctr"/>
            <a:r>
              <a:rPr lang="id-ID" sz="2400" dirty="0">
                <a:solidFill>
                  <a:srgbClr val="FF0000"/>
                </a:solidFill>
                <a:latin typeface="Montserrat" panose="00000500000000000000" pitchFamily="50" charset="0"/>
              </a:rPr>
              <a:t>41</a:t>
            </a:r>
            <a:r>
              <a:rPr lang="en-US" sz="2400" dirty="0">
                <a:latin typeface="Montserrat" panose="00000500000000000000" pitchFamily="50" charset="0"/>
              </a:rPr>
              <a:t> </a:t>
            </a:r>
            <a:r>
              <a:rPr lang="id-ID" sz="2400" dirty="0">
                <a:latin typeface="Montserrat" panose="00000500000000000000" pitchFamily="50" charset="0"/>
              </a:rPr>
              <a:t>Ketika orang-orang Farisi sedang berkumpul, Yesus bertanya kepada mereka, kata-Nya:</a:t>
            </a:r>
            <a:endParaRPr lang="en-US" sz="2400" dirty="0">
              <a:latin typeface="Montserrat" panose="00000500000000000000" pitchFamily="50" charset="0"/>
            </a:endParaRPr>
          </a:p>
          <a:p>
            <a:pPr algn="ctr"/>
            <a:r>
              <a:rPr lang="id-ID" sz="2400" dirty="0">
                <a:solidFill>
                  <a:srgbClr val="FF0000"/>
                </a:solidFill>
                <a:latin typeface="Montserrat" panose="00000500000000000000" pitchFamily="50" charset="0"/>
              </a:rPr>
              <a:t>42</a:t>
            </a:r>
            <a:r>
              <a:rPr lang="en-US" sz="2400" dirty="0">
                <a:latin typeface="Montserrat" panose="00000500000000000000" pitchFamily="50" charset="0"/>
              </a:rPr>
              <a:t> </a:t>
            </a:r>
            <a:r>
              <a:rPr lang="id-ID" sz="2400" dirty="0">
                <a:latin typeface="Montserrat" panose="00000500000000000000" pitchFamily="50" charset="0"/>
              </a:rPr>
              <a:t>”Apakah pendapatmu tentang Mesias? Anak siapakah Dia?” Kata mereka kepada-Nya: ”Anak Daud.”</a:t>
            </a:r>
            <a:endParaRPr lang="en-US" sz="2400" dirty="0">
              <a:latin typeface="Montserrat" panose="00000500000000000000" pitchFamily="50" charset="0"/>
            </a:endParaRPr>
          </a:p>
          <a:p>
            <a:pPr algn="ctr"/>
            <a:r>
              <a:rPr lang="id-ID" sz="2400" dirty="0">
                <a:solidFill>
                  <a:srgbClr val="FF0000"/>
                </a:solidFill>
                <a:latin typeface="Montserrat" panose="00000500000000000000" pitchFamily="50" charset="0"/>
              </a:rPr>
              <a:t>43</a:t>
            </a:r>
            <a:r>
              <a:rPr lang="en-US" sz="2400" dirty="0">
                <a:latin typeface="Montserrat" panose="00000500000000000000" pitchFamily="50" charset="0"/>
              </a:rPr>
              <a:t> </a:t>
            </a:r>
            <a:r>
              <a:rPr lang="id-ID" sz="2400" dirty="0">
                <a:latin typeface="Montserrat" panose="00000500000000000000" pitchFamily="50" charset="0"/>
              </a:rPr>
              <a:t>Kata-Nya kepada mereka: ”Jika demikian, bagaimanakah Daud oleh pimpinan Roh dapat menyebut Dia Tuannya, ketika ia berkata:</a:t>
            </a:r>
            <a:endParaRPr lang="en-US" sz="2400" dirty="0">
              <a:latin typeface="Montserrat" panose="00000500000000000000" pitchFamily="50" charset="0"/>
            </a:endParaRPr>
          </a:p>
          <a:p>
            <a:pPr algn="ctr"/>
            <a:r>
              <a:rPr lang="id-ID" sz="2400" dirty="0">
                <a:solidFill>
                  <a:srgbClr val="FF0000"/>
                </a:solidFill>
                <a:latin typeface="Montserrat" panose="00000500000000000000" pitchFamily="50" charset="0"/>
              </a:rPr>
              <a:t>44</a:t>
            </a:r>
            <a:r>
              <a:rPr lang="id-ID" sz="2400" dirty="0">
                <a:latin typeface="Montserrat" panose="00000500000000000000" pitchFamily="50" charset="0"/>
              </a:rPr>
              <a:t> Tuhan telah berfirman kepada Tuanku:</a:t>
            </a:r>
          </a:p>
          <a:p>
            <a:pPr algn="ctr"/>
            <a:r>
              <a:rPr lang="id-ID" sz="2400" dirty="0">
                <a:latin typeface="Montserrat" panose="00000500000000000000" pitchFamily="50" charset="0"/>
              </a:rPr>
              <a:t>duduklah di sebelah kanan-Ku,</a:t>
            </a:r>
          </a:p>
          <a:p>
            <a:pPr algn="ctr"/>
            <a:r>
              <a:rPr lang="id-ID" sz="2400" dirty="0">
                <a:latin typeface="Montserrat" panose="00000500000000000000" pitchFamily="50" charset="0"/>
              </a:rPr>
              <a:t>sampai musuh-musuh-Mu Kutaruh di bawah kaki-Mu.</a:t>
            </a:r>
            <a:endParaRPr lang="en-US" sz="2400" dirty="0">
              <a:latin typeface="Montserrat" panose="00000500000000000000" pitchFamily="50" charset="0"/>
            </a:endParaRPr>
          </a:p>
          <a:p>
            <a:pPr algn="ctr"/>
            <a:r>
              <a:rPr lang="id-ID" sz="2400" dirty="0">
                <a:solidFill>
                  <a:srgbClr val="FF0000"/>
                </a:solidFill>
                <a:latin typeface="Montserrat" panose="00000500000000000000" pitchFamily="50" charset="0"/>
              </a:rPr>
              <a:t>45</a:t>
            </a:r>
            <a:r>
              <a:rPr lang="en-US" sz="2400" dirty="0">
                <a:latin typeface="Montserrat" panose="00000500000000000000" pitchFamily="50" charset="0"/>
              </a:rPr>
              <a:t> </a:t>
            </a:r>
            <a:r>
              <a:rPr lang="id-ID" sz="2400" dirty="0">
                <a:latin typeface="Montserrat" panose="00000500000000000000" pitchFamily="50" charset="0"/>
              </a:rPr>
              <a:t>Jadi jika Daud menyebut Dia Tuannya, bagaimana mungkin Ia anaknya pula?”</a:t>
            </a:r>
            <a:endParaRPr lang="en-US" sz="2400" dirty="0">
              <a:latin typeface="Montserrat" panose="00000500000000000000" pitchFamily="50" charset="0"/>
            </a:endParaRPr>
          </a:p>
          <a:p>
            <a:pPr algn="ctr"/>
            <a:r>
              <a:rPr lang="id-ID" sz="2400" dirty="0">
                <a:solidFill>
                  <a:srgbClr val="FF0000"/>
                </a:solidFill>
                <a:latin typeface="Montserrat" panose="00000500000000000000" pitchFamily="50" charset="0"/>
              </a:rPr>
              <a:t>46</a:t>
            </a:r>
            <a:r>
              <a:rPr lang="en-US" sz="2400" dirty="0">
                <a:latin typeface="Montserrat" panose="00000500000000000000" pitchFamily="50" charset="0"/>
              </a:rPr>
              <a:t> </a:t>
            </a:r>
            <a:r>
              <a:rPr lang="id-ID" sz="2400" dirty="0">
                <a:latin typeface="Montserrat" panose="00000500000000000000" pitchFamily="50" charset="0"/>
              </a:rPr>
              <a:t>Tidak ada seorang pun yang dapat menjawab-Nya, dan sejak hari itu tidak ada seorang pun juga yang berani menanyakan sesuatu kepada-Nya.</a:t>
            </a:r>
          </a:p>
        </p:txBody>
      </p:sp>
    </p:spTree>
    <p:extLst>
      <p:ext uri="{BB962C8B-B14F-4D97-AF65-F5344CB8AC3E}">
        <p14:creationId xmlns:p14="http://schemas.microsoft.com/office/powerpoint/2010/main" val="205165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47EA6F-AF00-4EB7-B095-4A1912E340F0}"/>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BE9BCDA-8ABC-423B-92ED-C5FF9FD896D8}"/>
              </a:ext>
            </a:extLst>
          </p:cNvPr>
          <p:cNvSpPr txBox="1"/>
          <p:nvPr/>
        </p:nvSpPr>
        <p:spPr>
          <a:xfrm>
            <a:off x="6354412" y="366623"/>
            <a:ext cx="5711692" cy="6124754"/>
          </a:xfrm>
          <a:prstGeom prst="rect">
            <a:avLst/>
          </a:prstGeom>
          <a:noFill/>
        </p:spPr>
        <p:txBody>
          <a:bodyPr wrap="square">
            <a:spAutoFit/>
          </a:bodyPr>
          <a:lstStyle/>
          <a:p>
            <a:r>
              <a:rPr lang="en-US" sz="2300" b="1" dirty="0">
                <a:solidFill>
                  <a:srgbClr val="C00000"/>
                </a:solidFill>
                <a:latin typeface="Montserrat" panose="00000500000000000000" pitchFamily="2" charset="0"/>
              </a:rPr>
              <a:t>Zakaria 12:1, 10</a:t>
            </a:r>
            <a:endParaRPr lang="en-US" sz="2300" dirty="0">
              <a:solidFill>
                <a:srgbClr val="C00000"/>
              </a:solidFill>
              <a:latin typeface="Montserrat" panose="00000500000000000000" pitchFamily="2" charset="0"/>
            </a:endParaRPr>
          </a:p>
          <a:p>
            <a:r>
              <a:rPr lang="en-US" sz="2300" b="0" i="0" u="none" strike="noStrike" baseline="0" dirty="0" err="1">
                <a:latin typeface="Montserrat" panose="00000500000000000000" pitchFamily="2" charset="0"/>
              </a:rPr>
              <a:t>Ucapan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ilahi</a:t>
            </a:r>
            <a:r>
              <a:rPr lang="en-US" sz="2300" b="0" i="0" u="none" strike="noStrike" baseline="0" dirty="0">
                <a:latin typeface="Montserrat" panose="00000500000000000000" pitchFamily="2" charset="0"/>
              </a:rPr>
              <a:t>. </a:t>
            </a:r>
            <a:r>
              <a:rPr lang="en-US" sz="2300" b="0" i="0" u="sng" strike="noStrike" baseline="0" dirty="0" err="1">
                <a:latin typeface="Montserrat" panose="00000500000000000000" pitchFamily="2" charset="0"/>
              </a:rPr>
              <a:t>Firman</a:t>
            </a:r>
            <a:r>
              <a:rPr lang="en-US" sz="2300" b="0" i="0" u="sng" strike="noStrike" baseline="0" dirty="0">
                <a:latin typeface="Montserrat" panose="00000500000000000000" pitchFamily="2" charset="0"/>
              </a:rPr>
              <a:t> TUHAN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tentang</a:t>
            </a:r>
            <a:r>
              <a:rPr lang="en-US" sz="2300" b="0" i="0" u="none" strike="noStrike" baseline="0" dirty="0">
                <a:latin typeface="Montserrat" panose="00000500000000000000" pitchFamily="2" charset="0"/>
              </a:rPr>
              <a:t> Israel: </a:t>
            </a:r>
            <a:r>
              <a:rPr lang="en-US" sz="2300" b="0" i="0" u="none" strike="noStrike" baseline="0" dirty="0" err="1">
                <a:latin typeface="Montserrat" panose="00000500000000000000" pitchFamily="2" charset="0"/>
              </a:rPr>
              <a:t>Demikianlah</a:t>
            </a:r>
            <a:r>
              <a:rPr lang="en-US" sz="2300" b="0" i="0" u="none" strike="noStrike" baseline="0" dirty="0">
                <a:latin typeface="Montserrat" panose="00000500000000000000" pitchFamily="2" charset="0"/>
              </a:rPr>
              <a:t> </a:t>
            </a:r>
            <a:r>
              <a:rPr lang="en-US" sz="2300" b="0" i="0" u="sng" strike="noStrike" baseline="0" dirty="0" err="1">
                <a:latin typeface="Montserrat" panose="00000500000000000000" pitchFamily="2" charset="0"/>
              </a:rPr>
              <a:t>firman</a:t>
            </a:r>
            <a:r>
              <a:rPr lang="en-US" sz="2300" b="0" i="0" u="sng" strike="noStrike" baseline="0" dirty="0">
                <a:latin typeface="Montserrat" panose="00000500000000000000" pitchFamily="2" charset="0"/>
              </a:rPr>
              <a:t> TUHAN</a:t>
            </a:r>
            <a:r>
              <a:rPr lang="en-US" sz="2300" b="0" i="0" u="none" strike="noStrike" baseline="0" dirty="0">
                <a:latin typeface="Montserrat" panose="00000500000000000000" pitchFamily="2" charset="0"/>
              </a:rPr>
              <a:t> yang </a:t>
            </a:r>
            <a:r>
              <a:rPr lang="en-US" sz="2300" b="0" i="0" u="none" strike="noStrike" baseline="0" dirty="0" err="1">
                <a:latin typeface="Montserrat" panose="00000500000000000000" pitchFamily="2" charset="0"/>
              </a:rPr>
              <a:t>membentangkan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langit</a:t>
            </a:r>
            <a:r>
              <a:rPr lang="en-US" sz="2300" b="0" i="0" u="none" strike="noStrike" baseline="0" dirty="0">
                <a:latin typeface="Montserrat" panose="00000500000000000000" pitchFamily="2" charset="0"/>
              </a:rPr>
              <a:t> dan yang </a:t>
            </a:r>
            <a:r>
              <a:rPr lang="en-US" sz="2300" b="0" i="0" u="none" strike="noStrike" baseline="0" dirty="0" err="1">
                <a:latin typeface="Montserrat" panose="00000500000000000000" pitchFamily="2" charset="0"/>
              </a:rPr>
              <a:t>meletakkan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dasar</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bumi</a:t>
            </a:r>
            <a:r>
              <a:rPr lang="en-US" sz="2300" b="0" i="0" u="none" strike="noStrike" baseline="0" dirty="0">
                <a:latin typeface="Montserrat" panose="00000500000000000000" pitchFamily="2" charset="0"/>
              </a:rPr>
              <a:t> dan yang </a:t>
            </a:r>
            <a:r>
              <a:rPr lang="en-US" sz="2300" b="0" i="0" u="none" strike="noStrike" baseline="0" dirty="0" err="1">
                <a:latin typeface="Montserrat" panose="00000500000000000000" pitchFamily="2" charset="0"/>
              </a:rPr>
              <a:t>menciptakan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roh</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dalam</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diri</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manusia</a:t>
            </a:r>
            <a:r>
              <a:rPr lang="en-US" sz="2300" b="0" i="0" u="none" strike="noStrike" baseline="0" dirty="0">
                <a:latin typeface="Montserrat" panose="00000500000000000000" pitchFamily="2" charset="0"/>
              </a:rPr>
              <a:t>:…"</a:t>
            </a:r>
            <a:r>
              <a:rPr lang="en-US" sz="2300" b="0" i="0" u="none" strike="noStrike" baseline="0" dirty="0" err="1">
                <a:latin typeface="Montserrat" panose="00000500000000000000" pitchFamily="2" charset="0"/>
              </a:rPr>
              <a:t>Aku</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akan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mencurahkan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roh</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pengasihan</a:t>
            </a:r>
            <a:r>
              <a:rPr lang="en-US" sz="2300" b="0" i="0" u="none" strike="noStrike" baseline="0" dirty="0">
                <a:latin typeface="Montserrat" panose="00000500000000000000" pitchFamily="2" charset="0"/>
              </a:rPr>
              <a:t> dan </a:t>
            </a:r>
            <a:r>
              <a:rPr lang="en-US" sz="2300" b="0" i="0" u="none" strike="noStrike" baseline="0" dirty="0" err="1">
                <a:latin typeface="Montserrat" panose="00000500000000000000" pitchFamily="2" charset="0"/>
              </a:rPr>
              <a:t>roh</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permohonan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atas</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keluarga</a:t>
            </a:r>
            <a:r>
              <a:rPr lang="en-US" sz="2300" b="0" i="0" u="none" strike="noStrike" baseline="0" dirty="0">
                <a:latin typeface="Montserrat" panose="00000500000000000000" pitchFamily="2" charset="0"/>
              </a:rPr>
              <a:t> Daud dan </a:t>
            </a:r>
            <a:r>
              <a:rPr lang="en-US" sz="2300" b="0" i="0" u="none" strike="noStrike" baseline="0" dirty="0" err="1">
                <a:latin typeface="Montserrat" panose="00000500000000000000" pitchFamily="2" charset="0"/>
              </a:rPr>
              <a:t>atas</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penduduk</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Yerusalem</a:t>
            </a:r>
            <a:r>
              <a:rPr lang="en-US" sz="2300" b="0" i="0" u="none" strike="noStrike" baseline="0" dirty="0">
                <a:latin typeface="Montserrat" panose="00000500000000000000" pitchFamily="2" charset="0"/>
              </a:rPr>
              <a:t>, dan </a:t>
            </a:r>
            <a:r>
              <a:rPr lang="en-US" sz="2300" b="0" i="0" u="none" strike="noStrike" baseline="0" dirty="0" err="1">
                <a:latin typeface="Montserrat" panose="00000500000000000000" pitchFamily="2" charset="0"/>
              </a:rPr>
              <a:t>mereka</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akan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memandang</a:t>
            </a:r>
            <a:r>
              <a:rPr lang="en-US" sz="2300" b="0" i="0" u="none" strike="noStrike" baseline="0" dirty="0">
                <a:latin typeface="Montserrat" panose="00000500000000000000" pitchFamily="2" charset="0"/>
              </a:rPr>
              <a:t> </a:t>
            </a:r>
            <a:r>
              <a:rPr lang="en-US" sz="2300" b="0" i="0" u="sng" strike="noStrike" baseline="0" dirty="0" err="1">
                <a:latin typeface="Montserrat" panose="00000500000000000000" pitchFamily="2" charset="0"/>
              </a:rPr>
              <a:t>kepada</a:t>
            </a:r>
            <a:r>
              <a:rPr lang="en-US" sz="2300" b="0" i="0" u="sng" strike="noStrike" baseline="0" dirty="0">
                <a:latin typeface="Montserrat" panose="00000500000000000000" pitchFamily="2" charset="0"/>
              </a:rPr>
              <a:t> </a:t>
            </a:r>
            <a:r>
              <a:rPr lang="en-US" sz="2300" b="0" i="0" u="sng" strike="noStrike" baseline="0" dirty="0" err="1">
                <a:latin typeface="Montserrat" panose="00000500000000000000" pitchFamily="2" charset="0"/>
              </a:rPr>
              <a:t>dia</a:t>
            </a:r>
            <a:r>
              <a:rPr lang="en-US" sz="2300" b="0" i="0" u="sng" strike="noStrike" baseline="0" dirty="0">
                <a:latin typeface="Montserrat" panose="00000500000000000000" pitchFamily="2" charset="0"/>
              </a:rPr>
              <a:t> (lit. “</a:t>
            </a:r>
            <a:r>
              <a:rPr lang="en-US" sz="2300" b="0" i="0" u="sng" strike="noStrike" baseline="0" dirty="0" err="1">
                <a:latin typeface="Montserrat" panose="00000500000000000000" pitchFamily="2" charset="0"/>
              </a:rPr>
              <a:t>kepada</a:t>
            </a:r>
            <a:r>
              <a:rPr lang="en-US" sz="2300" b="0" i="0" u="sng" strike="noStrike" baseline="0" dirty="0">
                <a:latin typeface="Montserrat" panose="00000500000000000000" pitchFamily="2" charset="0"/>
              </a:rPr>
              <a:t>-Ku”)</a:t>
            </a:r>
            <a:r>
              <a:rPr lang="en-US" sz="2300" b="0" i="0" u="none" strike="noStrike" baseline="0" dirty="0">
                <a:latin typeface="Montserrat" panose="00000500000000000000" pitchFamily="2" charset="0"/>
              </a:rPr>
              <a:t> yang </a:t>
            </a:r>
            <a:r>
              <a:rPr lang="en-US" sz="2300" b="0" i="0" u="none" strike="noStrike" baseline="0" dirty="0" err="1">
                <a:latin typeface="Montserrat" panose="00000500000000000000" pitchFamily="2" charset="0"/>
              </a:rPr>
              <a:t>telah</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mereka</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tikam</a:t>
            </a:r>
            <a:r>
              <a:rPr lang="en-US" sz="2300" b="0" i="0" u="none" strike="noStrike" baseline="0" dirty="0">
                <a:latin typeface="Montserrat" panose="00000500000000000000" pitchFamily="2" charset="0"/>
              </a:rPr>
              <a:t>, dan </a:t>
            </a:r>
            <a:r>
              <a:rPr lang="en-US" sz="2300" b="0" i="0" u="none" strike="noStrike" baseline="0" dirty="0" err="1">
                <a:latin typeface="Montserrat" panose="00000500000000000000" pitchFamily="2" charset="0"/>
              </a:rPr>
              <a:t>akan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meratapi</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dia</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seperti</a:t>
            </a:r>
            <a:r>
              <a:rPr lang="en-US" sz="2300" b="0" i="0" u="none" strike="noStrike" baseline="0" dirty="0">
                <a:latin typeface="Montserrat" panose="00000500000000000000" pitchFamily="2" charset="0"/>
              </a:rPr>
              <a:t> orang </a:t>
            </a:r>
            <a:r>
              <a:rPr lang="en-US" sz="2300" b="0" i="0" u="none" strike="noStrike" baseline="0" dirty="0" err="1">
                <a:latin typeface="Montserrat" panose="00000500000000000000" pitchFamily="2" charset="0"/>
              </a:rPr>
              <a:t>meratapi</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anak</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tunggal</a:t>
            </a:r>
            <a:r>
              <a:rPr lang="en-US" sz="2300" b="0" i="0" u="none" strike="noStrike" baseline="0" dirty="0">
                <a:latin typeface="Montserrat" panose="00000500000000000000" pitchFamily="2" charset="0"/>
              </a:rPr>
              <a:t>, dan </a:t>
            </a:r>
            <a:r>
              <a:rPr lang="en-US" sz="2300" b="0" i="0" u="none" strike="noStrike" baseline="0" dirty="0" err="1">
                <a:latin typeface="Montserrat" panose="00000500000000000000" pitchFamily="2" charset="0"/>
              </a:rPr>
              <a:t>akan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menangisi</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dia</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dengan</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pedih</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seperti</a:t>
            </a:r>
            <a:r>
              <a:rPr lang="en-US" sz="2300" b="0" i="0" u="none" strike="noStrike" baseline="0" dirty="0">
                <a:latin typeface="Montserrat" panose="00000500000000000000" pitchFamily="2" charset="0"/>
              </a:rPr>
              <a:t> orang </a:t>
            </a:r>
            <a:r>
              <a:rPr lang="en-US" sz="2300" b="0" i="0" u="none" strike="noStrike" baseline="0" dirty="0" err="1">
                <a:latin typeface="Montserrat" panose="00000500000000000000" pitchFamily="2" charset="0"/>
              </a:rPr>
              <a:t>menangisi</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anak</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sulung</a:t>
            </a:r>
            <a:r>
              <a:rPr lang="en-US" sz="2300" b="0" i="0" u="none" strike="noStrike" baseline="0" dirty="0">
                <a:latin typeface="Montserrat" panose="00000500000000000000" pitchFamily="2" charset="0"/>
              </a:rPr>
              <a:t> (</a:t>
            </a:r>
            <a:r>
              <a:rPr lang="en-US" sz="2300" b="0" i="0" u="none" strike="noStrike" baseline="0" dirty="0" err="1">
                <a:latin typeface="Montserrat" panose="00000500000000000000" pitchFamily="2" charset="0"/>
              </a:rPr>
              <a:t>bdk</a:t>
            </a:r>
            <a:r>
              <a:rPr lang="en-US" sz="2300" b="0" i="0" u="none" strike="noStrike" baseline="0" dirty="0">
                <a:latin typeface="Montserrat" panose="00000500000000000000" pitchFamily="2" charset="0"/>
              </a:rPr>
              <a:t>. Yoh. 19:37).</a:t>
            </a:r>
            <a:endParaRPr lang="id-ID" sz="2300" dirty="0">
              <a:latin typeface="Montserrat" panose="00000500000000000000" pitchFamily="2" charset="0"/>
            </a:endParaRPr>
          </a:p>
        </p:txBody>
      </p:sp>
      <p:sp>
        <p:nvSpPr>
          <p:cNvPr id="3" name="Rectangle 2">
            <a:extLst>
              <a:ext uri="{FF2B5EF4-FFF2-40B4-BE49-F238E27FC236}">
                <a16:creationId xmlns:a16="http://schemas.microsoft.com/office/drawing/2014/main" id="{EA40526C-2FB9-4277-A893-A0521342A82B}"/>
              </a:ext>
            </a:extLst>
          </p:cNvPr>
          <p:cNvSpPr/>
          <p:nvPr/>
        </p:nvSpPr>
        <p:spPr>
          <a:xfrm>
            <a:off x="1119805" y="3286540"/>
            <a:ext cx="5208104" cy="336605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17F7DE-2B96-4F54-8626-83789035DE56}"/>
              </a:ext>
            </a:extLst>
          </p:cNvPr>
          <p:cNvSpPr txBox="1"/>
          <p:nvPr/>
        </p:nvSpPr>
        <p:spPr>
          <a:xfrm>
            <a:off x="1560440" y="3720346"/>
            <a:ext cx="4353337" cy="2677656"/>
          </a:xfrm>
          <a:prstGeom prst="rect">
            <a:avLst/>
          </a:prstGeom>
          <a:noFill/>
        </p:spPr>
        <p:txBody>
          <a:bodyPr wrap="square">
            <a:spAutoFit/>
          </a:bodyPr>
          <a:lstStyle/>
          <a:p>
            <a:r>
              <a:rPr lang="en-US" sz="2400" b="1" dirty="0">
                <a:solidFill>
                  <a:schemeClr val="bg1"/>
                </a:solidFill>
                <a:latin typeface="Montserrat ExtraBold" panose="00000900000000000000" pitchFamily="50" charset="0"/>
              </a:rPr>
              <a:t>MALAIKAT TUHAN </a:t>
            </a:r>
            <a:r>
              <a:rPr lang="en-US" sz="2400" b="1" dirty="0">
                <a:solidFill>
                  <a:srgbClr val="C00000"/>
                </a:solidFill>
                <a:latin typeface="Montserrat ExtraBold" panose="00000900000000000000" pitchFamily="50" charset="0"/>
              </a:rPr>
              <a:t>DIIDENTIKKAN</a:t>
            </a:r>
            <a:r>
              <a:rPr lang="en-US" sz="2400" b="1" dirty="0">
                <a:solidFill>
                  <a:schemeClr val="bg1"/>
                </a:solidFill>
                <a:latin typeface="Montserrat ExtraBold" panose="00000900000000000000" pitchFamily="50" charset="0"/>
              </a:rPr>
              <a:t> </a:t>
            </a:r>
            <a:r>
              <a:rPr lang="en-US" sz="2400" dirty="0">
                <a:solidFill>
                  <a:schemeClr val="bg1"/>
                </a:solidFill>
                <a:latin typeface="Montserrat ExtraBold" panose="00000900000000000000" pitchFamily="50" charset="0"/>
              </a:rPr>
              <a:t>(</a:t>
            </a:r>
            <a:r>
              <a:rPr lang="en-US" sz="2400" dirty="0" err="1">
                <a:solidFill>
                  <a:schemeClr val="bg1"/>
                </a:solidFill>
                <a:latin typeface="Montserrat ExtraBold" panose="00000900000000000000" pitchFamily="50" charset="0"/>
              </a:rPr>
              <a:t>Kej</a:t>
            </a:r>
            <a:r>
              <a:rPr lang="en-US" sz="2400" dirty="0">
                <a:solidFill>
                  <a:schemeClr val="bg1"/>
                </a:solidFill>
                <a:latin typeface="Montserrat ExtraBold" panose="00000900000000000000" pitchFamily="50" charset="0"/>
              </a:rPr>
              <a:t>. 16:7-13; 22:11-12; 31:11-13; </a:t>
            </a:r>
            <a:r>
              <a:rPr lang="en-US" sz="2400" dirty="0" err="1">
                <a:solidFill>
                  <a:schemeClr val="bg1"/>
                </a:solidFill>
                <a:latin typeface="Montserrat ExtraBold" panose="00000900000000000000" pitchFamily="50" charset="0"/>
              </a:rPr>
              <a:t>Kel</a:t>
            </a:r>
            <a:r>
              <a:rPr lang="en-US" sz="2400" dirty="0">
                <a:solidFill>
                  <a:schemeClr val="bg1"/>
                </a:solidFill>
                <a:latin typeface="Montserrat ExtraBold" panose="00000900000000000000" pitchFamily="50" charset="0"/>
              </a:rPr>
              <a:t>. 3:2, 6)</a:t>
            </a:r>
            <a:r>
              <a:rPr lang="en-US" sz="2400" b="1" dirty="0">
                <a:solidFill>
                  <a:schemeClr val="bg1"/>
                </a:solidFill>
                <a:latin typeface="Montserrat ExtraBold" panose="00000900000000000000" pitchFamily="50" charset="0"/>
              </a:rPr>
              <a:t> SEKALIGUS </a:t>
            </a:r>
            <a:r>
              <a:rPr lang="en-US" sz="2400" b="1" dirty="0">
                <a:solidFill>
                  <a:srgbClr val="C00000"/>
                </a:solidFill>
                <a:latin typeface="Montserrat ExtraBold" panose="00000900000000000000" pitchFamily="50" charset="0"/>
              </a:rPr>
              <a:t>DIBEDAKAN</a:t>
            </a:r>
            <a:r>
              <a:rPr lang="en-US" sz="2400" b="1" dirty="0">
                <a:solidFill>
                  <a:schemeClr val="bg1"/>
                </a:solidFill>
                <a:latin typeface="Montserrat ExtraBold" panose="00000900000000000000" pitchFamily="50" charset="0"/>
              </a:rPr>
              <a:t> DARI TUHAN</a:t>
            </a:r>
            <a:r>
              <a:rPr lang="en-US" sz="2400" dirty="0">
                <a:solidFill>
                  <a:schemeClr val="bg1"/>
                </a:solidFill>
                <a:latin typeface="Montserrat ExtraBold" panose="00000900000000000000" pitchFamily="50" charset="0"/>
              </a:rPr>
              <a:t> (</a:t>
            </a:r>
            <a:r>
              <a:rPr lang="en-US" sz="2400" dirty="0" err="1">
                <a:solidFill>
                  <a:schemeClr val="bg1"/>
                </a:solidFill>
                <a:latin typeface="Montserrat ExtraBold" panose="00000900000000000000" pitchFamily="50" charset="0"/>
              </a:rPr>
              <a:t>Kel</a:t>
            </a:r>
            <a:r>
              <a:rPr lang="en-US" sz="2400" dirty="0">
                <a:solidFill>
                  <a:schemeClr val="bg1"/>
                </a:solidFill>
                <a:latin typeface="Montserrat ExtraBold" panose="00000900000000000000" pitchFamily="50" charset="0"/>
              </a:rPr>
              <a:t>. 23:20; 32:34; </a:t>
            </a:r>
            <a:r>
              <a:rPr lang="en-US" sz="2400" dirty="0" err="1">
                <a:solidFill>
                  <a:schemeClr val="bg1"/>
                </a:solidFill>
                <a:latin typeface="Montserrat ExtraBold" panose="00000900000000000000" pitchFamily="50" charset="0"/>
              </a:rPr>
              <a:t>Hak</a:t>
            </a:r>
            <a:r>
              <a:rPr lang="en-US" sz="2400" dirty="0">
                <a:solidFill>
                  <a:schemeClr val="bg1"/>
                </a:solidFill>
                <a:latin typeface="Montserrat ExtraBold" panose="00000900000000000000" pitchFamily="50" charset="0"/>
              </a:rPr>
              <a:t>. 13:3-12; Zak. 12:1, 12)</a:t>
            </a:r>
          </a:p>
        </p:txBody>
      </p:sp>
      <p:pic>
        <p:nvPicPr>
          <p:cNvPr id="8" name="Picture 2" descr="Getting 'Unhitched' from the Old Testament? Andy Stanley Aims at Heresy -  AlbertMohler.com">
            <a:extLst>
              <a:ext uri="{FF2B5EF4-FFF2-40B4-BE49-F238E27FC236}">
                <a16:creationId xmlns:a16="http://schemas.microsoft.com/office/drawing/2014/main" id="{7039D96E-BB1E-4AD6-9F4E-526882AD5E2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119805" y="0"/>
            <a:ext cx="5208103" cy="346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6655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CF07D-F0D1-20B6-E4B3-4F40CFCA42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A125C6-64CC-1523-7EDC-D6EDA9DC94D5}"/>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A90110D-7D35-67F8-06D0-54DC8DF5584D}"/>
              </a:ext>
            </a:extLst>
          </p:cNvPr>
          <p:cNvSpPr txBox="1"/>
          <p:nvPr/>
        </p:nvSpPr>
        <p:spPr>
          <a:xfrm>
            <a:off x="254677" y="458956"/>
            <a:ext cx="11682646" cy="5940088"/>
          </a:xfrm>
          <a:prstGeom prst="rect">
            <a:avLst/>
          </a:prstGeom>
          <a:noFill/>
        </p:spPr>
        <p:txBody>
          <a:bodyPr wrap="square">
            <a:spAutoFit/>
          </a:bodyPr>
          <a:lstStyle/>
          <a:p>
            <a:pPr algn="ctr"/>
            <a:r>
              <a:rPr lang="en-US" sz="2000" b="1" dirty="0">
                <a:solidFill>
                  <a:srgbClr val="C00000"/>
                </a:solidFill>
                <a:latin typeface="Montserrat" panose="00000500000000000000" pitchFamily="2" charset="0"/>
              </a:rPr>
              <a:t>Yohanes 19:37</a:t>
            </a:r>
          </a:p>
          <a:p>
            <a:pPr algn="ctr"/>
            <a:r>
              <a:rPr lang="en-US" sz="2000" b="0" i="0" u="none" strike="noStrike" baseline="0" dirty="0">
                <a:latin typeface="Montserrat" panose="00000500000000000000" pitchFamily="2" charset="0"/>
              </a:rPr>
              <a:t>Dan </a:t>
            </a:r>
            <a:r>
              <a:rPr lang="en-US" sz="2000" b="0" i="0" u="none" strike="noStrike" baseline="0" dirty="0" err="1">
                <a:latin typeface="Montserrat" panose="00000500000000000000" pitchFamily="2" charset="0"/>
              </a:rPr>
              <a:t>ada</a:t>
            </a:r>
            <a:r>
              <a:rPr lang="en-US" sz="2000" b="0" i="0" u="none" strike="noStrike" baseline="0" dirty="0">
                <a:latin typeface="Montserrat" panose="00000500000000000000" pitchFamily="2" charset="0"/>
              </a:rPr>
              <a:t> pula </a:t>
            </a:r>
            <a:r>
              <a:rPr lang="en-US" sz="2000" b="0" i="0" u="none" strike="noStrike" baseline="0" dirty="0" err="1">
                <a:latin typeface="Montserrat" panose="00000500000000000000" pitchFamily="2" charset="0"/>
              </a:rPr>
              <a:t>nas</a:t>
            </a:r>
            <a:r>
              <a:rPr lang="en-US" sz="2000" b="0" i="0" u="none" strike="noStrike" baseline="0" dirty="0">
                <a:latin typeface="Montserrat" panose="00000500000000000000" pitchFamily="2" charset="0"/>
              </a:rPr>
              <a:t> yang </a:t>
            </a:r>
            <a:r>
              <a:rPr lang="en-US" sz="2000" b="0" i="0" u="none" strike="noStrike" baseline="0" dirty="0" err="1">
                <a:latin typeface="Montserrat" panose="00000500000000000000" pitchFamily="2" charset="0"/>
              </a:rPr>
              <a:t>mengatakan</a:t>
            </a:r>
            <a:r>
              <a:rPr lang="en-US" sz="2000" b="0" i="0" u="none" strike="noStrike" baseline="0" dirty="0">
                <a:latin typeface="Montserrat" panose="00000500000000000000" pitchFamily="2" charset="0"/>
              </a:rPr>
              <a:t>: ”</a:t>
            </a:r>
            <a:r>
              <a:rPr lang="en-US" sz="2000" b="0" i="0" u="none" strike="noStrike" baseline="0" dirty="0" err="1">
                <a:latin typeface="Montserrat" panose="00000500000000000000" pitchFamily="2" charset="0"/>
              </a:rPr>
              <a:t>Mereka</a:t>
            </a:r>
            <a:r>
              <a:rPr lang="en-US" sz="2000" b="0" i="0" u="none" strike="noStrike" baseline="0" dirty="0">
                <a:latin typeface="Montserrat" panose="00000500000000000000" pitchFamily="2" charset="0"/>
              </a:rPr>
              <a:t> </a:t>
            </a:r>
            <a:r>
              <a:rPr lang="en-US" sz="2000" b="0" i="0" u="none" strike="noStrike" baseline="0" dirty="0" err="1">
                <a:latin typeface="Montserrat" panose="00000500000000000000" pitchFamily="2" charset="0"/>
              </a:rPr>
              <a:t>akan</a:t>
            </a:r>
            <a:r>
              <a:rPr lang="en-US" sz="2000" b="0" i="0" u="none" strike="noStrike" baseline="0" dirty="0">
                <a:latin typeface="Montserrat" panose="00000500000000000000" pitchFamily="2" charset="0"/>
              </a:rPr>
              <a:t> </a:t>
            </a:r>
            <a:r>
              <a:rPr lang="en-US" sz="2000" b="0" i="0" u="none" strike="noStrike" baseline="0" dirty="0" err="1">
                <a:latin typeface="Montserrat" panose="00000500000000000000" pitchFamily="2" charset="0"/>
              </a:rPr>
              <a:t>memandang</a:t>
            </a:r>
            <a:r>
              <a:rPr lang="en-US" sz="2000" b="0" i="0" u="none" strike="noStrike" baseline="0" dirty="0">
                <a:latin typeface="Montserrat" panose="00000500000000000000" pitchFamily="2" charset="0"/>
              </a:rPr>
              <a:t> </a:t>
            </a:r>
            <a:r>
              <a:rPr lang="en-US" sz="2000" b="0" i="0" u="none" strike="noStrike" baseline="0" dirty="0" err="1">
                <a:latin typeface="Montserrat" panose="00000500000000000000" pitchFamily="2" charset="0"/>
              </a:rPr>
              <a:t>kepada</a:t>
            </a:r>
            <a:r>
              <a:rPr lang="en-US" sz="2000" b="0" i="0" u="none" strike="noStrike" baseline="0" dirty="0">
                <a:latin typeface="Montserrat" panose="00000500000000000000" pitchFamily="2" charset="0"/>
              </a:rPr>
              <a:t> Dia yang </a:t>
            </a:r>
            <a:r>
              <a:rPr lang="en-US" sz="2000" b="0" i="0" u="none" strike="noStrike" baseline="0" dirty="0" err="1">
                <a:latin typeface="Montserrat" panose="00000500000000000000" pitchFamily="2" charset="0"/>
              </a:rPr>
              <a:t>telah</a:t>
            </a:r>
            <a:r>
              <a:rPr lang="en-US" sz="2000" b="0" i="0" u="none" strike="noStrike" baseline="0" dirty="0">
                <a:latin typeface="Montserrat" panose="00000500000000000000" pitchFamily="2" charset="0"/>
              </a:rPr>
              <a:t> </a:t>
            </a:r>
            <a:r>
              <a:rPr lang="en-US" sz="2000" b="0" i="0" u="none" strike="noStrike" baseline="0" dirty="0" err="1">
                <a:latin typeface="Montserrat" panose="00000500000000000000" pitchFamily="2" charset="0"/>
              </a:rPr>
              <a:t>mereka</a:t>
            </a:r>
            <a:r>
              <a:rPr lang="en-US" sz="2000" b="0" i="0" u="none" strike="noStrike" baseline="0" dirty="0">
                <a:latin typeface="Montserrat" panose="00000500000000000000" pitchFamily="2" charset="0"/>
              </a:rPr>
              <a:t> </a:t>
            </a:r>
            <a:r>
              <a:rPr lang="en-US" sz="2000" b="0" i="0" u="none" strike="noStrike" baseline="0" dirty="0" err="1">
                <a:latin typeface="Montserrat" panose="00000500000000000000" pitchFamily="2" charset="0"/>
              </a:rPr>
              <a:t>tikam</a:t>
            </a:r>
            <a:r>
              <a:rPr lang="en-US" sz="2000" b="0" i="0" u="none" strike="noStrike" baseline="0" dirty="0">
                <a:latin typeface="Montserrat" panose="00000500000000000000" pitchFamily="2" charset="0"/>
              </a:rPr>
              <a:t>.”</a:t>
            </a:r>
          </a:p>
          <a:p>
            <a:pPr algn="ctr"/>
            <a:endParaRPr lang="en-US" sz="2000" b="0" i="0" u="none" strike="noStrike" baseline="0" dirty="0">
              <a:latin typeface="Montserrat" panose="00000500000000000000" pitchFamily="2" charset="0"/>
            </a:endParaRPr>
          </a:p>
          <a:p>
            <a:pPr algn="ctr"/>
            <a:r>
              <a:rPr lang="en-US" sz="2000" b="1" dirty="0" err="1">
                <a:solidFill>
                  <a:srgbClr val="C00000"/>
                </a:solidFill>
                <a:latin typeface="Montserrat" panose="00000500000000000000" pitchFamily="2" charset="0"/>
              </a:rPr>
              <a:t>Kejadian</a:t>
            </a:r>
            <a:r>
              <a:rPr lang="en-US" sz="2000" b="1" dirty="0">
                <a:solidFill>
                  <a:srgbClr val="C00000"/>
                </a:solidFill>
                <a:latin typeface="Montserrat" panose="00000500000000000000" pitchFamily="2" charset="0"/>
              </a:rPr>
              <a:t> 16:7-13</a:t>
            </a:r>
          </a:p>
          <a:p>
            <a:pPr algn="ctr"/>
            <a:r>
              <a:rPr lang="en-US" sz="2000" dirty="0">
                <a:solidFill>
                  <a:srgbClr val="FF0000"/>
                </a:solidFill>
                <a:latin typeface="Montserrat" panose="00000500000000000000" pitchFamily="2" charset="0"/>
              </a:rPr>
              <a:t>7 </a:t>
            </a:r>
            <a:r>
              <a:rPr lang="id-ID" sz="2000" dirty="0">
                <a:latin typeface="Montserrat" panose="00000500000000000000" pitchFamily="2" charset="0"/>
              </a:rPr>
              <a:t>Lalu Malaikat Tuhan menjumpainya dekat suatu mata air di padang gurun, yakni dekat mata air di jalan ke Syur. </a:t>
            </a:r>
            <a:r>
              <a:rPr lang="id-ID" sz="2000" dirty="0">
                <a:solidFill>
                  <a:srgbClr val="FF0000"/>
                </a:solidFill>
                <a:latin typeface="Montserrat" panose="00000500000000000000" pitchFamily="2" charset="0"/>
              </a:rPr>
              <a:t>8</a:t>
            </a:r>
            <a:r>
              <a:rPr lang="en-US" sz="2000" dirty="0">
                <a:solidFill>
                  <a:srgbClr val="FF0000"/>
                </a:solidFill>
                <a:latin typeface="Montserrat" panose="00000500000000000000" pitchFamily="2" charset="0"/>
              </a:rPr>
              <a:t> </a:t>
            </a:r>
            <a:r>
              <a:rPr lang="id-ID" sz="2000" dirty="0">
                <a:latin typeface="Montserrat" panose="00000500000000000000" pitchFamily="2" charset="0"/>
              </a:rPr>
              <a:t>Katanya: ”Hagar, hamba Sarai, dari manakah datangmu dan ke manakah pergimu?” Jawabnya: ”Aku lari meninggalkan Sarai, nyonyaku.” </a:t>
            </a:r>
            <a:r>
              <a:rPr lang="id-ID" sz="2000" dirty="0">
                <a:solidFill>
                  <a:srgbClr val="FF0000"/>
                </a:solidFill>
                <a:latin typeface="Montserrat" panose="00000500000000000000" pitchFamily="2" charset="0"/>
              </a:rPr>
              <a:t>9</a:t>
            </a:r>
            <a:r>
              <a:rPr lang="en-US" sz="2000" dirty="0">
                <a:solidFill>
                  <a:srgbClr val="FF0000"/>
                </a:solidFill>
                <a:latin typeface="Montserrat" panose="00000500000000000000" pitchFamily="2" charset="0"/>
              </a:rPr>
              <a:t> </a:t>
            </a:r>
            <a:r>
              <a:rPr lang="id-ID" sz="2000" dirty="0">
                <a:latin typeface="Montserrat" panose="00000500000000000000" pitchFamily="2" charset="0"/>
              </a:rPr>
              <a:t>Lalu kata Malaikat Tuhan itu kepadanya: ”Kembalilah kepada nyonyamu, biarkanlah engkau ditindas di bawah kekuasaannya.” </a:t>
            </a:r>
            <a:r>
              <a:rPr lang="id-ID" sz="2000" dirty="0">
                <a:solidFill>
                  <a:srgbClr val="FF0000"/>
                </a:solidFill>
                <a:latin typeface="Montserrat" panose="00000500000000000000" pitchFamily="2" charset="0"/>
              </a:rPr>
              <a:t>10</a:t>
            </a:r>
            <a:r>
              <a:rPr lang="en-US" sz="2000" dirty="0">
                <a:solidFill>
                  <a:srgbClr val="FF0000"/>
                </a:solidFill>
                <a:latin typeface="Montserrat" panose="00000500000000000000" pitchFamily="2" charset="0"/>
              </a:rPr>
              <a:t> </a:t>
            </a:r>
            <a:r>
              <a:rPr lang="id-ID" sz="2000" dirty="0">
                <a:latin typeface="Montserrat" panose="00000500000000000000" pitchFamily="2" charset="0"/>
              </a:rPr>
              <a:t>Lagi kata Malaikat Tuhan itu kepadanya: ”Aku akan membuat sangat banyak keturunanmu, sehingga tidak dapat dihitung karena banyaknya.” </a:t>
            </a:r>
            <a:r>
              <a:rPr lang="id-ID" sz="2000" dirty="0">
                <a:solidFill>
                  <a:srgbClr val="FF0000"/>
                </a:solidFill>
                <a:latin typeface="Montserrat" panose="00000500000000000000" pitchFamily="2" charset="0"/>
              </a:rPr>
              <a:t>11</a:t>
            </a:r>
            <a:r>
              <a:rPr lang="en-US" sz="2000" dirty="0">
                <a:solidFill>
                  <a:srgbClr val="FF0000"/>
                </a:solidFill>
                <a:latin typeface="Montserrat" panose="00000500000000000000" pitchFamily="2" charset="0"/>
              </a:rPr>
              <a:t> </a:t>
            </a:r>
            <a:r>
              <a:rPr lang="id-ID" sz="2000" dirty="0">
                <a:latin typeface="Montserrat" panose="00000500000000000000" pitchFamily="2" charset="0"/>
              </a:rPr>
              <a:t>Selanjutnya kata Malaikat Tuhan itu kepadanya: ”Engkau mengandung dan akan melahirkan seorang anak laki-laki dan akan menamainya Ismael, sebab Tuhan telah mendengar tentang penindasan atasmu itu. </a:t>
            </a:r>
            <a:r>
              <a:rPr lang="id-ID" sz="2000" dirty="0">
                <a:solidFill>
                  <a:srgbClr val="FF0000"/>
                </a:solidFill>
                <a:latin typeface="Montserrat" panose="00000500000000000000" pitchFamily="2" charset="0"/>
              </a:rPr>
              <a:t>12</a:t>
            </a:r>
            <a:r>
              <a:rPr lang="en-US" sz="2000" dirty="0">
                <a:solidFill>
                  <a:srgbClr val="FF0000"/>
                </a:solidFill>
                <a:latin typeface="Montserrat" panose="00000500000000000000" pitchFamily="2" charset="0"/>
              </a:rPr>
              <a:t> </a:t>
            </a:r>
            <a:r>
              <a:rPr lang="id-ID" sz="2000" dirty="0">
                <a:latin typeface="Montserrat" panose="00000500000000000000" pitchFamily="2" charset="0"/>
              </a:rPr>
              <a:t>Seorang laki-laki yang lakunya seperti keledai liar, demikianlah nanti anak itu; tangannya akan melawan tiap-tiap orang dan tangan tiap-tiap orang akan melawan dia, dan di tempat kediamannya ia akan menentang semua saudaranya.” </a:t>
            </a:r>
            <a:r>
              <a:rPr lang="id-ID" sz="2000" dirty="0">
                <a:solidFill>
                  <a:srgbClr val="FF0000"/>
                </a:solidFill>
                <a:latin typeface="Montserrat" panose="00000500000000000000" pitchFamily="2" charset="0"/>
              </a:rPr>
              <a:t>13</a:t>
            </a:r>
            <a:r>
              <a:rPr lang="en-US" sz="2000" dirty="0">
                <a:latin typeface="Montserrat" panose="00000500000000000000" pitchFamily="2" charset="0"/>
              </a:rPr>
              <a:t> </a:t>
            </a:r>
            <a:r>
              <a:rPr lang="id-ID" sz="2000" dirty="0">
                <a:latin typeface="Montserrat" panose="00000500000000000000" pitchFamily="2" charset="0"/>
              </a:rPr>
              <a:t>Kemudian Hagar menamakan Tuhan yang telah berfirman kepadanya itu dengan sebutan: ”Engkaulah El-Roi.” Sebab katanya: ”Bukankah di sini kulihat Dia yang telah melihat aku?”</a:t>
            </a:r>
          </a:p>
        </p:txBody>
      </p:sp>
    </p:spTree>
    <p:extLst>
      <p:ext uri="{BB962C8B-B14F-4D97-AF65-F5344CB8AC3E}">
        <p14:creationId xmlns:p14="http://schemas.microsoft.com/office/powerpoint/2010/main" val="840634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35387-556F-05C0-8C5E-D8BEEF53FBC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7F9294A-1992-DD5F-702B-EEA043BB5FF3}"/>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8D3DF25-A0B9-EE1F-9891-FF323802095E}"/>
              </a:ext>
            </a:extLst>
          </p:cNvPr>
          <p:cNvSpPr txBox="1"/>
          <p:nvPr/>
        </p:nvSpPr>
        <p:spPr>
          <a:xfrm>
            <a:off x="254677" y="197346"/>
            <a:ext cx="11682646" cy="6463308"/>
          </a:xfrm>
          <a:prstGeom prst="rect">
            <a:avLst/>
          </a:prstGeom>
          <a:noFill/>
        </p:spPr>
        <p:txBody>
          <a:bodyPr wrap="square">
            <a:spAutoFit/>
          </a:bodyPr>
          <a:lstStyle/>
          <a:p>
            <a:pPr algn="ctr"/>
            <a:r>
              <a:rPr lang="en-US" b="1" dirty="0" err="1">
                <a:solidFill>
                  <a:srgbClr val="C00000"/>
                </a:solidFill>
                <a:latin typeface="Montserrat" panose="00000500000000000000" pitchFamily="2" charset="0"/>
              </a:rPr>
              <a:t>Kejadian</a:t>
            </a:r>
            <a:r>
              <a:rPr lang="en-US" b="1" dirty="0">
                <a:solidFill>
                  <a:srgbClr val="C00000"/>
                </a:solidFill>
                <a:latin typeface="Montserrat" panose="00000500000000000000" pitchFamily="2" charset="0"/>
              </a:rPr>
              <a:t> 22:11-12</a:t>
            </a:r>
          </a:p>
          <a:p>
            <a:pPr algn="ctr"/>
            <a:r>
              <a:rPr lang="en-US" i="0" u="none" strike="noStrike" baseline="0" dirty="0">
                <a:solidFill>
                  <a:srgbClr val="FF0000"/>
                </a:solidFill>
                <a:latin typeface="Montserrat" panose="00000500000000000000" pitchFamily="2" charset="0"/>
              </a:rPr>
              <a:t>1</a:t>
            </a:r>
            <a:r>
              <a:rPr lang="en-US" b="0" i="0" u="none" strike="noStrike" baseline="0" dirty="0">
                <a:solidFill>
                  <a:srgbClr val="FF0000"/>
                </a:solidFill>
                <a:latin typeface="Montserrat" panose="00000500000000000000" pitchFamily="2" charset="0"/>
              </a:rPr>
              <a:t>1</a:t>
            </a:r>
            <a:r>
              <a:rPr lang="en-US" b="0" i="0" u="none" strike="noStrike" baseline="0" dirty="0">
                <a:latin typeface="Montserrat" panose="00000500000000000000" pitchFamily="2" charset="0"/>
              </a:rPr>
              <a:t>Tetapi </a:t>
            </a:r>
            <a:r>
              <a:rPr lang="en-US" b="0" i="0" u="none" strike="noStrike" baseline="0" dirty="0" err="1">
                <a:latin typeface="Montserrat" panose="00000500000000000000" pitchFamily="2" charset="0"/>
              </a:rPr>
              <a:t>berserulah</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Malaikat</a:t>
            </a:r>
            <a:r>
              <a:rPr lang="en-US" b="0" i="0" u="none" strike="noStrike" baseline="0" dirty="0">
                <a:latin typeface="Montserrat" panose="00000500000000000000" pitchFamily="2" charset="0"/>
              </a:rPr>
              <a:t> Tuhan </a:t>
            </a:r>
            <a:r>
              <a:rPr lang="en-US" b="0" i="0" u="none" strike="noStrike" baseline="0" dirty="0" err="1">
                <a:latin typeface="Montserrat" panose="00000500000000000000" pitchFamily="2" charset="0"/>
              </a:rPr>
              <a:t>dari</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langit</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kepadanya</a:t>
            </a:r>
            <a:r>
              <a:rPr lang="en-US" b="0" i="0" u="none" strike="noStrike" baseline="0" dirty="0">
                <a:latin typeface="Montserrat" panose="00000500000000000000" pitchFamily="2" charset="0"/>
              </a:rPr>
              <a:t>: ”Abraham, Abraham.” </a:t>
            </a:r>
            <a:r>
              <a:rPr lang="en-US" b="0" i="0" u="none" strike="noStrike" baseline="0" dirty="0" err="1">
                <a:latin typeface="Montserrat" panose="00000500000000000000" pitchFamily="2" charset="0"/>
              </a:rPr>
              <a:t>Sahutnya</a:t>
            </a:r>
            <a:r>
              <a:rPr lang="en-US" b="0" i="0" u="none" strike="noStrike" baseline="0" dirty="0">
                <a:latin typeface="Montserrat" panose="00000500000000000000" pitchFamily="2" charset="0"/>
              </a:rPr>
              <a:t>: ”Ya, Tuhan.”</a:t>
            </a:r>
          </a:p>
          <a:p>
            <a:pPr algn="ctr"/>
            <a:r>
              <a:rPr lang="en-US" b="0" i="0" u="none" strike="noStrike" baseline="0" dirty="0">
                <a:solidFill>
                  <a:srgbClr val="FF0000"/>
                </a:solidFill>
                <a:latin typeface="Montserrat" panose="00000500000000000000" pitchFamily="2" charset="0"/>
              </a:rPr>
              <a:t>12</a:t>
            </a:r>
            <a:r>
              <a:rPr lang="en-US" b="0" i="0" u="none" strike="noStrike" baseline="0" dirty="0">
                <a:latin typeface="Montserrat" panose="00000500000000000000" pitchFamily="2" charset="0"/>
              </a:rPr>
              <a:t>Lalu Ia </a:t>
            </a:r>
            <a:r>
              <a:rPr lang="en-US" b="0" i="0" u="none" strike="noStrike" baseline="0" dirty="0" err="1">
                <a:latin typeface="Montserrat" panose="00000500000000000000" pitchFamily="2" charset="0"/>
              </a:rPr>
              <a:t>berfirman</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Jangan</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bunuh</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anak</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itu</a:t>
            </a:r>
            <a:r>
              <a:rPr lang="en-US" b="0" i="0" u="none" strike="noStrike" baseline="0" dirty="0">
                <a:latin typeface="Montserrat" panose="00000500000000000000" pitchFamily="2" charset="0"/>
              </a:rPr>
              <a:t> dan </a:t>
            </a:r>
            <a:r>
              <a:rPr lang="en-US" b="0" i="0" u="none" strike="noStrike" baseline="0" dirty="0" err="1">
                <a:latin typeface="Montserrat" panose="00000500000000000000" pitchFamily="2" charset="0"/>
              </a:rPr>
              <a:t>jangan</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kauapa-apakan</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dia</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sebab</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telah</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Kuketahui</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sekarang</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bahwa</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engkau</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takut</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akan</a:t>
            </a:r>
            <a:r>
              <a:rPr lang="en-US" b="0" i="0" u="none" strike="noStrike" baseline="0" dirty="0">
                <a:latin typeface="Montserrat" panose="00000500000000000000" pitchFamily="2" charset="0"/>
              </a:rPr>
              <a:t> Allah, dan </a:t>
            </a:r>
            <a:r>
              <a:rPr lang="en-US" b="0" i="0" u="none" strike="noStrike" baseline="0" dirty="0" err="1">
                <a:latin typeface="Montserrat" panose="00000500000000000000" pitchFamily="2" charset="0"/>
              </a:rPr>
              <a:t>engkau</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tidak</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segan-segan</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untuk</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menyerahkan</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anakmu</a:t>
            </a:r>
            <a:r>
              <a:rPr lang="en-US" b="0" i="0" u="none" strike="noStrike" baseline="0" dirty="0">
                <a:latin typeface="Montserrat" panose="00000500000000000000" pitchFamily="2" charset="0"/>
              </a:rPr>
              <a:t> yang </a:t>
            </a:r>
            <a:r>
              <a:rPr lang="en-US" b="0" i="0" u="none" strike="noStrike" baseline="0" dirty="0" err="1">
                <a:latin typeface="Montserrat" panose="00000500000000000000" pitchFamily="2" charset="0"/>
              </a:rPr>
              <a:t>tunggal</a:t>
            </a:r>
            <a:r>
              <a:rPr lang="en-US" b="0" i="0" u="none" strike="noStrike" baseline="0" dirty="0">
                <a:latin typeface="Montserrat" panose="00000500000000000000" pitchFamily="2" charset="0"/>
              </a:rPr>
              <a:t> </a:t>
            </a:r>
            <a:r>
              <a:rPr lang="en-US" b="0" i="0" u="none" strike="noStrike" baseline="0" dirty="0" err="1">
                <a:latin typeface="Montserrat" panose="00000500000000000000" pitchFamily="2" charset="0"/>
              </a:rPr>
              <a:t>kepada</a:t>
            </a:r>
            <a:r>
              <a:rPr lang="en-US" b="0" i="0" u="none" strike="noStrike" baseline="0" dirty="0">
                <a:latin typeface="Montserrat" panose="00000500000000000000" pitchFamily="2" charset="0"/>
              </a:rPr>
              <a:t>-Ku.”</a:t>
            </a:r>
          </a:p>
          <a:p>
            <a:pPr algn="ctr"/>
            <a:endParaRPr lang="en-US" b="0" i="0" u="none" strike="noStrike" baseline="0" dirty="0">
              <a:latin typeface="Montserrat" panose="00000500000000000000" pitchFamily="2" charset="0"/>
            </a:endParaRPr>
          </a:p>
          <a:p>
            <a:pPr algn="ctr"/>
            <a:r>
              <a:rPr lang="en-US" b="1" dirty="0" err="1">
                <a:solidFill>
                  <a:srgbClr val="C00000"/>
                </a:solidFill>
                <a:latin typeface="Montserrat" panose="00000500000000000000" pitchFamily="2" charset="0"/>
              </a:rPr>
              <a:t>Kejadian</a:t>
            </a:r>
            <a:r>
              <a:rPr lang="en-US" b="1" dirty="0">
                <a:solidFill>
                  <a:srgbClr val="C00000"/>
                </a:solidFill>
                <a:latin typeface="Montserrat" panose="00000500000000000000" pitchFamily="2" charset="0"/>
              </a:rPr>
              <a:t> 31:11-13</a:t>
            </a:r>
          </a:p>
          <a:p>
            <a:pPr algn="ctr"/>
            <a:r>
              <a:rPr lang="id-ID" dirty="0">
                <a:solidFill>
                  <a:srgbClr val="FF0000"/>
                </a:solidFill>
                <a:latin typeface="Montserrat" panose="00000500000000000000" pitchFamily="2" charset="0"/>
              </a:rPr>
              <a:t>11</a:t>
            </a:r>
            <a:r>
              <a:rPr lang="id-ID" dirty="0">
                <a:latin typeface="Montserrat" panose="00000500000000000000" pitchFamily="2" charset="0"/>
              </a:rPr>
              <a:t>Dan Malaikat Allah berfirman kepadaku dalam mimpi itu: Yakub! Jawabku: Ya Tuhan!</a:t>
            </a:r>
            <a:endParaRPr lang="en-US" dirty="0">
              <a:latin typeface="Montserrat" panose="00000500000000000000" pitchFamily="2" charset="0"/>
            </a:endParaRPr>
          </a:p>
          <a:p>
            <a:pPr algn="ctr"/>
            <a:r>
              <a:rPr lang="id-ID" dirty="0">
                <a:solidFill>
                  <a:srgbClr val="FF0000"/>
                </a:solidFill>
                <a:latin typeface="Montserrat" panose="00000500000000000000" pitchFamily="2" charset="0"/>
              </a:rPr>
              <a:t>12</a:t>
            </a:r>
            <a:r>
              <a:rPr lang="id-ID" dirty="0">
                <a:latin typeface="Montserrat" panose="00000500000000000000" pitchFamily="2" charset="0"/>
              </a:rPr>
              <a:t>Lalu Ia berfirman: Angkatlah mukamu dan lihatlah, bahwa segala jantan yang menjantani kambing domba itu bercoreng-coreng, berbintik-bintik dan berbelang-belang, sebab telah Kulihat semua yang dilakukan oleh Laban itu kepadamu.</a:t>
            </a:r>
            <a:endParaRPr lang="en-US" dirty="0">
              <a:latin typeface="Montserrat" panose="00000500000000000000" pitchFamily="2" charset="0"/>
            </a:endParaRPr>
          </a:p>
          <a:p>
            <a:pPr algn="ctr"/>
            <a:r>
              <a:rPr lang="id-ID" dirty="0">
                <a:solidFill>
                  <a:srgbClr val="FF0000"/>
                </a:solidFill>
                <a:latin typeface="Montserrat" panose="00000500000000000000" pitchFamily="2" charset="0"/>
              </a:rPr>
              <a:t>13</a:t>
            </a:r>
            <a:r>
              <a:rPr lang="id-ID" dirty="0">
                <a:latin typeface="Montserrat" panose="00000500000000000000" pitchFamily="2" charset="0"/>
              </a:rPr>
              <a:t> Akulah Allah yang di Betel itu, di mana engkau mengurapi tugu, dan di mana engkau bernazar kepada-Ku; maka sekarang, bersiaplah engkau, pergilah dari negeri ini dan pulanglah ke negeri sanak saudaramu.”</a:t>
            </a:r>
            <a:endParaRPr lang="en-US" dirty="0">
              <a:latin typeface="Montserrat" panose="00000500000000000000" pitchFamily="2" charset="0"/>
            </a:endParaRPr>
          </a:p>
          <a:p>
            <a:pPr algn="ctr"/>
            <a:endParaRPr lang="en-US" dirty="0">
              <a:latin typeface="Montserrat" panose="00000500000000000000" pitchFamily="2" charset="0"/>
            </a:endParaRPr>
          </a:p>
          <a:p>
            <a:pPr algn="ctr"/>
            <a:r>
              <a:rPr lang="en-US" b="1" dirty="0" err="1">
                <a:solidFill>
                  <a:srgbClr val="C00000"/>
                </a:solidFill>
                <a:latin typeface="Montserrat" panose="00000500000000000000" pitchFamily="2" charset="0"/>
              </a:rPr>
              <a:t>Keluaran</a:t>
            </a:r>
            <a:r>
              <a:rPr lang="en-US" b="1" dirty="0">
                <a:solidFill>
                  <a:srgbClr val="C00000"/>
                </a:solidFill>
                <a:latin typeface="Montserrat" panose="00000500000000000000" pitchFamily="2" charset="0"/>
              </a:rPr>
              <a:t> 3:2</a:t>
            </a:r>
          </a:p>
          <a:p>
            <a:pPr algn="ctr"/>
            <a:r>
              <a:rPr lang="id-ID" dirty="0">
                <a:latin typeface="Montserrat" panose="00000500000000000000" pitchFamily="2" charset="0"/>
              </a:rPr>
              <a:t>Lalu Malaikat Tuhan menampakkan diri kepadanya di dalam nyala api yang keluar dari semak duri. Lalu ia melihat, dan tampaklah: semak duri itu menyala, tetapi tidak dimakan api. </a:t>
            </a:r>
            <a:endParaRPr lang="en-US" dirty="0">
              <a:latin typeface="Montserrat" panose="00000500000000000000" pitchFamily="2" charset="0"/>
            </a:endParaRPr>
          </a:p>
          <a:p>
            <a:pPr algn="ctr"/>
            <a:endParaRPr lang="en-US" dirty="0">
              <a:latin typeface="Montserrat" panose="00000500000000000000" pitchFamily="2" charset="0"/>
            </a:endParaRPr>
          </a:p>
          <a:p>
            <a:pPr algn="ctr"/>
            <a:r>
              <a:rPr lang="en-US" b="1" dirty="0" err="1">
                <a:solidFill>
                  <a:srgbClr val="C00000"/>
                </a:solidFill>
                <a:latin typeface="Montserrat" panose="00000500000000000000" pitchFamily="2" charset="0"/>
              </a:rPr>
              <a:t>Keluaran</a:t>
            </a:r>
            <a:r>
              <a:rPr lang="en-US" b="1" dirty="0">
                <a:solidFill>
                  <a:srgbClr val="C00000"/>
                </a:solidFill>
                <a:latin typeface="Montserrat" panose="00000500000000000000" pitchFamily="2" charset="0"/>
              </a:rPr>
              <a:t> 3:6</a:t>
            </a:r>
            <a:endParaRPr lang="en-US" dirty="0">
              <a:latin typeface="Montserrat" panose="00000500000000000000" pitchFamily="2" charset="0"/>
            </a:endParaRPr>
          </a:p>
          <a:p>
            <a:pPr algn="ctr"/>
            <a:r>
              <a:rPr lang="id-ID" dirty="0">
                <a:latin typeface="Montserrat" panose="00000500000000000000" pitchFamily="2" charset="0"/>
              </a:rPr>
              <a:t>Lagi Ia berfirman: ”Akulah Allah ayahmu, Allah Abraham, Allah Ishak dan Allah Yakub.” Lalu Musa menutupi mukanya, sebab ia takut memandang Allah.</a:t>
            </a:r>
          </a:p>
        </p:txBody>
      </p:sp>
    </p:spTree>
    <p:extLst>
      <p:ext uri="{BB962C8B-B14F-4D97-AF65-F5344CB8AC3E}">
        <p14:creationId xmlns:p14="http://schemas.microsoft.com/office/powerpoint/2010/main" val="2266023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D5D4B-3C90-DA17-7338-1FE766BD98D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336FF2-2BAE-142A-399C-91F4F972A2B5}"/>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6BE675C-3895-6137-BA87-F2DF408C8A3F}"/>
              </a:ext>
            </a:extLst>
          </p:cNvPr>
          <p:cNvSpPr txBox="1"/>
          <p:nvPr/>
        </p:nvSpPr>
        <p:spPr>
          <a:xfrm>
            <a:off x="254677" y="166568"/>
            <a:ext cx="11682646" cy="6524863"/>
          </a:xfrm>
          <a:prstGeom prst="rect">
            <a:avLst/>
          </a:prstGeom>
          <a:noFill/>
        </p:spPr>
        <p:txBody>
          <a:bodyPr wrap="square">
            <a:spAutoFit/>
          </a:bodyPr>
          <a:lstStyle/>
          <a:p>
            <a:pPr algn="ctr"/>
            <a:r>
              <a:rPr lang="en-US" sz="2200" b="1" dirty="0" err="1">
                <a:solidFill>
                  <a:srgbClr val="C00000"/>
                </a:solidFill>
                <a:latin typeface="Montserrat" panose="00000500000000000000" pitchFamily="2" charset="0"/>
              </a:rPr>
              <a:t>Keluaran</a:t>
            </a:r>
            <a:r>
              <a:rPr lang="en-US" sz="2200" b="1" dirty="0">
                <a:solidFill>
                  <a:srgbClr val="C00000"/>
                </a:solidFill>
                <a:latin typeface="Montserrat" panose="00000500000000000000" pitchFamily="2" charset="0"/>
              </a:rPr>
              <a:t> 23:20</a:t>
            </a:r>
          </a:p>
          <a:p>
            <a:pPr algn="ctr"/>
            <a:r>
              <a:rPr lang="id-ID" sz="2200" dirty="0">
                <a:latin typeface="Montserrat" panose="00000500000000000000" pitchFamily="2" charset="0"/>
              </a:rPr>
              <a:t>”Sesungguhnya Aku mengutus seorang malaikat berjalan di depanmu, untuk melindungi engkau di jalan dan untuk membawa engkau ke tempat yang telah Kusediakan. </a:t>
            </a:r>
            <a:endParaRPr lang="en-US" sz="2200" dirty="0">
              <a:latin typeface="Montserrat" panose="00000500000000000000" pitchFamily="2" charset="0"/>
            </a:endParaRPr>
          </a:p>
          <a:p>
            <a:pPr algn="ctr"/>
            <a:endParaRPr lang="en-US" sz="2200" dirty="0">
              <a:latin typeface="Montserrat" panose="00000500000000000000" pitchFamily="2" charset="0"/>
            </a:endParaRPr>
          </a:p>
          <a:p>
            <a:pPr algn="ctr"/>
            <a:r>
              <a:rPr lang="en-US" sz="2200" b="1" dirty="0" err="1">
                <a:solidFill>
                  <a:srgbClr val="C00000"/>
                </a:solidFill>
                <a:latin typeface="Montserrat" panose="00000500000000000000" pitchFamily="2" charset="0"/>
              </a:rPr>
              <a:t>Keluaran</a:t>
            </a:r>
            <a:r>
              <a:rPr lang="en-US" sz="2200" b="1" dirty="0">
                <a:solidFill>
                  <a:srgbClr val="C00000"/>
                </a:solidFill>
                <a:latin typeface="Montserrat" panose="00000500000000000000" pitchFamily="2" charset="0"/>
              </a:rPr>
              <a:t> 32:34</a:t>
            </a:r>
          </a:p>
          <a:p>
            <a:pPr algn="ctr"/>
            <a:r>
              <a:rPr lang="id-ID" sz="2200" dirty="0">
                <a:latin typeface="Montserrat" panose="00000500000000000000" pitchFamily="2" charset="0"/>
              </a:rPr>
              <a:t>Tetapi pergilah sekarang, tuntunlah bangsa itu ke tempat yang telah Kusebutkan kepadamu; akan berjalan malaikat-Ku di depanmu, tetapi pada hari pembalasan-Ku itu Aku akan membalaskan dosa mereka kepada mereka.”</a:t>
            </a:r>
            <a:endParaRPr lang="en-US" sz="2200" dirty="0">
              <a:latin typeface="Montserrat" panose="00000500000000000000" pitchFamily="2" charset="0"/>
            </a:endParaRPr>
          </a:p>
          <a:p>
            <a:pPr algn="ctr"/>
            <a:br>
              <a:rPr lang="en-US" sz="2200" dirty="0">
                <a:latin typeface="Montserrat" panose="00000500000000000000" pitchFamily="2" charset="0"/>
              </a:rPr>
            </a:br>
            <a:r>
              <a:rPr lang="en-US" sz="2200" b="1" dirty="0">
                <a:solidFill>
                  <a:srgbClr val="C00000"/>
                </a:solidFill>
                <a:latin typeface="Montserrat" panose="00000500000000000000" pitchFamily="2" charset="0"/>
              </a:rPr>
              <a:t>Zakharia 12:1</a:t>
            </a:r>
          </a:p>
          <a:p>
            <a:pPr algn="ctr"/>
            <a:r>
              <a:rPr lang="en-US" sz="2200" dirty="0" err="1">
                <a:latin typeface="Montserrat" panose="00000500000000000000" pitchFamily="2" charset="0"/>
              </a:rPr>
              <a:t>Firman</a:t>
            </a:r>
            <a:r>
              <a:rPr lang="en-US" sz="2200" dirty="0">
                <a:latin typeface="Montserrat" panose="00000500000000000000" pitchFamily="2" charset="0"/>
              </a:rPr>
              <a:t> Tuhan </a:t>
            </a:r>
            <a:r>
              <a:rPr lang="en-US" sz="2200" dirty="0" err="1">
                <a:latin typeface="Montserrat" panose="00000500000000000000" pitchFamily="2" charset="0"/>
              </a:rPr>
              <a:t>tentang</a:t>
            </a:r>
            <a:r>
              <a:rPr lang="en-US" sz="2200" dirty="0">
                <a:latin typeface="Montserrat" panose="00000500000000000000" pitchFamily="2" charset="0"/>
              </a:rPr>
              <a:t> Israel: </a:t>
            </a:r>
            <a:r>
              <a:rPr lang="en-US" sz="2200" dirty="0" err="1">
                <a:latin typeface="Montserrat" panose="00000500000000000000" pitchFamily="2" charset="0"/>
              </a:rPr>
              <a:t>Demikianlah</a:t>
            </a:r>
            <a:r>
              <a:rPr lang="en-US" sz="2200" dirty="0">
                <a:latin typeface="Montserrat" panose="00000500000000000000" pitchFamily="2" charset="0"/>
              </a:rPr>
              <a:t> </a:t>
            </a:r>
            <a:r>
              <a:rPr lang="en-US" sz="2200" dirty="0" err="1">
                <a:latin typeface="Montserrat" panose="00000500000000000000" pitchFamily="2" charset="0"/>
              </a:rPr>
              <a:t>firman</a:t>
            </a:r>
            <a:r>
              <a:rPr lang="en-US" sz="2200" dirty="0">
                <a:latin typeface="Montserrat" panose="00000500000000000000" pitchFamily="2" charset="0"/>
              </a:rPr>
              <a:t> Tuhan yang </a:t>
            </a:r>
            <a:r>
              <a:rPr lang="en-US" sz="2200" dirty="0" err="1">
                <a:latin typeface="Montserrat" panose="00000500000000000000" pitchFamily="2" charset="0"/>
              </a:rPr>
              <a:t>membentangkan</a:t>
            </a:r>
            <a:r>
              <a:rPr lang="en-US" sz="2200" dirty="0">
                <a:latin typeface="Montserrat" panose="00000500000000000000" pitchFamily="2" charset="0"/>
              </a:rPr>
              <a:t> </a:t>
            </a:r>
            <a:r>
              <a:rPr lang="en-US" sz="2200" dirty="0" err="1">
                <a:latin typeface="Montserrat" panose="00000500000000000000" pitchFamily="2" charset="0"/>
              </a:rPr>
              <a:t>langit</a:t>
            </a:r>
            <a:r>
              <a:rPr lang="en-US" sz="2200" dirty="0">
                <a:latin typeface="Montserrat" panose="00000500000000000000" pitchFamily="2" charset="0"/>
              </a:rPr>
              <a:t> dan yang </a:t>
            </a:r>
            <a:r>
              <a:rPr lang="en-US" sz="2200" dirty="0" err="1">
                <a:latin typeface="Montserrat" panose="00000500000000000000" pitchFamily="2" charset="0"/>
              </a:rPr>
              <a:t>meletakkan</a:t>
            </a:r>
            <a:r>
              <a:rPr lang="en-US" sz="2200" dirty="0">
                <a:latin typeface="Montserrat" panose="00000500000000000000" pitchFamily="2" charset="0"/>
              </a:rPr>
              <a:t> </a:t>
            </a:r>
            <a:r>
              <a:rPr lang="en-US" sz="2200" dirty="0" err="1">
                <a:latin typeface="Montserrat" panose="00000500000000000000" pitchFamily="2" charset="0"/>
              </a:rPr>
              <a:t>dasar</a:t>
            </a:r>
            <a:r>
              <a:rPr lang="en-US" sz="2200" dirty="0">
                <a:latin typeface="Montserrat" panose="00000500000000000000" pitchFamily="2" charset="0"/>
              </a:rPr>
              <a:t> </a:t>
            </a:r>
            <a:r>
              <a:rPr lang="en-US" sz="2200" dirty="0" err="1">
                <a:latin typeface="Montserrat" panose="00000500000000000000" pitchFamily="2" charset="0"/>
              </a:rPr>
              <a:t>bumi</a:t>
            </a:r>
            <a:r>
              <a:rPr lang="en-US" sz="2200" dirty="0">
                <a:latin typeface="Montserrat" panose="00000500000000000000" pitchFamily="2" charset="0"/>
              </a:rPr>
              <a:t> dan yang </a:t>
            </a:r>
            <a:r>
              <a:rPr lang="en-US" sz="2200" dirty="0" err="1">
                <a:latin typeface="Montserrat" panose="00000500000000000000" pitchFamily="2" charset="0"/>
              </a:rPr>
              <a:t>menciptakan</a:t>
            </a:r>
            <a:r>
              <a:rPr lang="en-US" sz="2200" dirty="0">
                <a:latin typeface="Montserrat" panose="00000500000000000000" pitchFamily="2" charset="0"/>
              </a:rPr>
              <a:t> </a:t>
            </a:r>
            <a:r>
              <a:rPr lang="en-US" sz="2200" dirty="0" err="1">
                <a:latin typeface="Montserrat" panose="00000500000000000000" pitchFamily="2" charset="0"/>
              </a:rPr>
              <a:t>roh</a:t>
            </a:r>
            <a:r>
              <a:rPr lang="en-US" sz="2200" dirty="0">
                <a:latin typeface="Montserrat" panose="00000500000000000000" pitchFamily="2" charset="0"/>
              </a:rPr>
              <a:t> </a:t>
            </a:r>
            <a:r>
              <a:rPr lang="en-US" sz="2200" dirty="0" err="1">
                <a:latin typeface="Montserrat" panose="00000500000000000000" pitchFamily="2" charset="0"/>
              </a:rPr>
              <a:t>dalam</a:t>
            </a:r>
            <a:r>
              <a:rPr lang="en-US" sz="2200" dirty="0">
                <a:latin typeface="Montserrat" panose="00000500000000000000" pitchFamily="2" charset="0"/>
              </a:rPr>
              <a:t> </a:t>
            </a:r>
            <a:r>
              <a:rPr lang="en-US" sz="2200" dirty="0" err="1">
                <a:latin typeface="Montserrat" panose="00000500000000000000" pitchFamily="2" charset="0"/>
              </a:rPr>
              <a:t>diri</a:t>
            </a:r>
            <a:r>
              <a:rPr lang="en-US" sz="2200" dirty="0">
                <a:latin typeface="Montserrat" panose="00000500000000000000" pitchFamily="2" charset="0"/>
              </a:rPr>
              <a:t> </a:t>
            </a:r>
            <a:r>
              <a:rPr lang="en-US" sz="2200" dirty="0" err="1">
                <a:latin typeface="Montserrat" panose="00000500000000000000" pitchFamily="2" charset="0"/>
              </a:rPr>
              <a:t>manusia</a:t>
            </a:r>
            <a:r>
              <a:rPr lang="en-US" sz="2200" dirty="0">
                <a:latin typeface="Montserrat" panose="00000500000000000000" pitchFamily="2" charset="0"/>
              </a:rPr>
              <a:t>:</a:t>
            </a:r>
            <a:br>
              <a:rPr lang="en-US" sz="2200" dirty="0">
                <a:latin typeface="Montserrat" panose="00000500000000000000" pitchFamily="2" charset="0"/>
              </a:rPr>
            </a:br>
            <a:endParaRPr lang="en-US" sz="2200" dirty="0">
              <a:latin typeface="Montserrat" panose="00000500000000000000" pitchFamily="2" charset="0"/>
            </a:endParaRPr>
          </a:p>
          <a:p>
            <a:pPr algn="ctr"/>
            <a:r>
              <a:rPr lang="en-US" sz="2200" b="1" dirty="0">
                <a:solidFill>
                  <a:srgbClr val="C00000"/>
                </a:solidFill>
                <a:latin typeface="Montserrat" panose="00000500000000000000" pitchFamily="2" charset="0"/>
              </a:rPr>
              <a:t>Zakharia 12:12</a:t>
            </a:r>
          </a:p>
          <a:p>
            <a:pPr algn="ctr"/>
            <a:r>
              <a:rPr lang="en-US" sz="2200" dirty="0">
                <a:latin typeface="Montserrat" panose="00000500000000000000" pitchFamily="2" charset="0"/>
              </a:rPr>
              <a:t>Negeri </a:t>
            </a:r>
            <a:r>
              <a:rPr lang="en-US" sz="2200" dirty="0" err="1">
                <a:latin typeface="Montserrat" panose="00000500000000000000" pitchFamily="2" charset="0"/>
              </a:rPr>
              <a:t>itu</a:t>
            </a:r>
            <a:r>
              <a:rPr lang="en-US" sz="2200" dirty="0">
                <a:latin typeface="Montserrat" panose="00000500000000000000" pitchFamily="2" charset="0"/>
              </a:rPr>
              <a:t> </a:t>
            </a:r>
            <a:r>
              <a:rPr lang="en-US" sz="2200" dirty="0" err="1">
                <a:latin typeface="Montserrat" panose="00000500000000000000" pitchFamily="2" charset="0"/>
              </a:rPr>
              <a:t>akan</a:t>
            </a:r>
            <a:r>
              <a:rPr lang="en-US" sz="2200" dirty="0">
                <a:latin typeface="Montserrat" panose="00000500000000000000" pitchFamily="2" charset="0"/>
              </a:rPr>
              <a:t> </a:t>
            </a:r>
            <a:r>
              <a:rPr lang="en-US" sz="2200" dirty="0" err="1">
                <a:latin typeface="Montserrat" panose="00000500000000000000" pitchFamily="2" charset="0"/>
              </a:rPr>
              <a:t>meratap</a:t>
            </a:r>
            <a:r>
              <a:rPr lang="en-US" sz="2200" dirty="0">
                <a:latin typeface="Montserrat" panose="00000500000000000000" pitchFamily="2" charset="0"/>
              </a:rPr>
              <a:t>, </a:t>
            </a:r>
            <a:r>
              <a:rPr lang="en-US" sz="2200" dirty="0" err="1">
                <a:latin typeface="Montserrat" panose="00000500000000000000" pitchFamily="2" charset="0"/>
              </a:rPr>
              <a:t>setiap</a:t>
            </a:r>
            <a:r>
              <a:rPr lang="en-US" sz="2200" dirty="0">
                <a:latin typeface="Montserrat" panose="00000500000000000000" pitchFamily="2" charset="0"/>
              </a:rPr>
              <a:t> </a:t>
            </a:r>
            <a:r>
              <a:rPr lang="en-US" sz="2200" dirty="0" err="1">
                <a:latin typeface="Montserrat" panose="00000500000000000000" pitchFamily="2" charset="0"/>
              </a:rPr>
              <a:t>kaum</a:t>
            </a:r>
            <a:r>
              <a:rPr lang="en-US" sz="2200" dirty="0">
                <a:latin typeface="Montserrat" panose="00000500000000000000" pitchFamily="2" charset="0"/>
              </a:rPr>
              <a:t> </a:t>
            </a:r>
            <a:r>
              <a:rPr lang="en-US" sz="2200" dirty="0" err="1">
                <a:latin typeface="Montserrat" panose="00000500000000000000" pitchFamily="2" charset="0"/>
              </a:rPr>
              <a:t>keluarga</a:t>
            </a:r>
            <a:r>
              <a:rPr lang="en-US" sz="2200" dirty="0">
                <a:latin typeface="Montserrat" panose="00000500000000000000" pitchFamily="2" charset="0"/>
              </a:rPr>
              <a:t> </a:t>
            </a:r>
            <a:r>
              <a:rPr lang="en-US" sz="2200" dirty="0" err="1">
                <a:latin typeface="Montserrat" panose="00000500000000000000" pitchFamily="2" charset="0"/>
              </a:rPr>
              <a:t>tersendiri</a:t>
            </a:r>
            <a:r>
              <a:rPr lang="en-US" sz="2200" dirty="0">
                <a:latin typeface="Montserrat" panose="00000500000000000000" pitchFamily="2" charset="0"/>
              </a:rPr>
              <a:t>; </a:t>
            </a:r>
            <a:r>
              <a:rPr lang="en-US" sz="2200" dirty="0" err="1">
                <a:latin typeface="Montserrat" panose="00000500000000000000" pitchFamily="2" charset="0"/>
              </a:rPr>
              <a:t>kaum</a:t>
            </a:r>
            <a:r>
              <a:rPr lang="en-US" sz="2200" dirty="0">
                <a:latin typeface="Montserrat" panose="00000500000000000000" pitchFamily="2" charset="0"/>
              </a:rPr>
              <a:t> </a:t>
            </a:r>
            <a:r>
              <a:rPr lang="en-US" sz="2200" dirty="0" err="1">
                <a:latin typeface="Montserrat" panose="00000500000000000000" pitchFamily="2" charset="0"/>
              </a:rPr>
              <a:t>keluarga</a:t>
            </a:r>
            <a:r>
              <a:rPr lang="en-US" sz="2200" dirty="0">
                <a:latin typeface="Montserrat" panose="00000500000000000000" pitchFamily="2" charset="0"/>
              </a:rPr>
              <a:t> </a:t>
            </a:r>
            <a:r>
              <a:rPr lang="en-US" sz="2200" dirty="0" err="1">
                <a:latin typeface="Montserrat" panose="00000500000000000000" pitchFamily="2" charset="0"/>
              </a:rPr>
              <a:t>keturunan</a:t>
            </a:r>
            <a:r>
              <a:rPr lang="en-US" sz="2200" dirty="0">
                <a:latin typeface="Montserrat" panose="00000500000000000000" pitchFamily="2" charset="0"/>
              </a:rPr>
              <a:t> Daud </a:t>
            </a:r>
            <a:r>
              <a:rPr lang="en-US" sz="2200" dirty="0" err="1">
                <a:latin typeface="Montserrat" panose="00000500000000000000" pitchFamily="2" charset="0"/>
              </a:rPr>
              <a:t>tersendiri</a:t>
            </a:r>
            <a:r>
              <a:rPr lang="en-US" sz="2200" dirty="0">
                <a:latin typeface="Montserrat" panose="00000500000000000000" pitchFamily="2" charset="0"/>
              </a:rPr>
              <a:t> dan </a:t>
            </a:r>
            <a:r>
              <a:rPr lang="en-US" sz="2200" dirty="0" err="1">
                <a:latin typeface="Montserrat" panose="00000500000000000000" pitchFamily="2" charset="0"/>
              </a:rPr>
              <a:t>isteri</a:t>
            </a:r>
            <a:r>
              <a:rPr lang="en-US" sz="2200" dirty="0">
                <a:latin typeface="Montserrat" panose="00000500000000000000" pitchFamily="2" charset="0"/>
              </a:rPr>
              <a:t> </a:t>
            </a:r>
            <a:r>
              <a:rPr lang="en-US" sz="2200" dirty="0" err="1">
                <a:latin typeface="Montserrat" panose="00000500000000000000" pitchFamily="2" charset="0"/>
              </a:rPr>
              <a:t>mereka</a:t>
            </a:r>
            <a:r>
              <a:rPr lang="en-US" sz="2200" dirty="0">
                <a:latin typeface="Montserrat" panose="00000500000000000000" pitchFamily="2" charset="0"/>
              </a:rPr>
              <a:t> </a:t>
            </a:r>
            <a:r>
              <a:rPr lang="en-US" sz="2200" dirty="0" err="1">
                <a:latin typeface="Montserrat" panose="00000500000000000000" pitchFamily="2" charset="0"/>
              </a:rPr>
              <a:t>tersendiri</a:t>
            </a:r>
            <a:r>
              <a:rPr lang="en-US" sz="2200" dirty="0">
                <a:latin typeface="Montserrat" panose="00000500000000000000" pitchFamily="2" charset="0"/>
              </a:rPr>
              <a:t>; </a:t>
            </a:r>
            <a:r>
              <a:rPr lang="en-US" sz="2200" dirty="0" err="1">
                <a:latin typeface="Montserrat" panose="00000500000000000000" pitchFamily="2" charset="0"/>
              </a:rPr>
              <a:t>kaum</a:t>
            </a:r>
            <a:r>
              <a:rPr lang="en-US" sz="2200" dirty="0">
                <a:latin typeface="Montserrat" panose="00000500000000000000" pitchFamily="2" charset="0"/>
              </a:rPr>
              <a:t> </a:t>
            </a:r>
            <a:r>
              <a:rPr lang="en-US" sz="2200" dirty="0" err="1">
                <a:latin typeface="Montserrat" panose="00000500000000000000" pitchFamily="2" charset="0"/>
              </a:rPr>
              <a:t>keluarga</a:t>
            </a:r>
            <a:r>
              <a:rPr lang="en-US" sz="2200" dirty="0">
                <a:latin typeface="Montserrat" panose="00000500000000000000" pitchFamily="2" charset="0"/>
              </a:rPr>
              <a:t> </a:t>
            </a:r>
            <a:r>
              <a:rPr lang="en-US" sz="2200" dirty="0" err="1">
                <a:latin typeface="Montserrat" panose="00000500000000000000" pitchFamily="2" charset="0"/>
              </a:rPr>
              <a:t>keturunan</a:t>
            </a:r>
            <a:r>
              <a:rPr lang="en-US" sz="2200" dirty="0">
                <a:latin typeface="Montserrat" panose="00000500000000000000" pitchFamily="2" charset="0"/>
              </a:rPr>
              <a:t> Natan </a:t>
            </a:r>
            <a:r>
              <a:rPr lang="en-US" sz="2200" dirty="0" err="1">
                <a:latin typeface="Montserrat" panose="00000500000000000000" pitchFamily="2" charset="0"/>
              </a:rPr>
              <a:t>tersendiri</a:t>
            </a:r>
            <a:r>
              <a:rPr lang="en-US" sz="2200" dirty="0">
                <a:latin typeface="Montserrat" panose="00000500000000000000" pitchFamily="2" charset="0"/>
              </a:rPr>
              <a:t> dan </a:t>
            </a:r>
            <a:r>
              <a:rPr lang="en-US" sz="2200" dirty="0" err="1">
                <a:latin typeface="Montserrat" panose="00000500000000000000" pitchFamily="2" charset="0"/>
              </a:rPr>
              <a:t>isteri</a:t>
            </a:r>
            <a:r>
              <a:rPr lang="en-US" sz="2200" dirty="0">
                <a:latin typeface="Montserrat" panose="00000500000000000000" pitchFamily="2" charset="0"/>
              </a:rPr>
              <a:t> </a:t>
            </a:r>
            <a:r>
              <a:rPr lang="en-US" sz="2200" dirty="0" err="1">
                <a:latin typeface="Montserrat" panose="00000500000000000000" pitchFamily="2" charset="0"/>
              </a:rPr>
              <a:t>mereka</a:t>
            </a:r>
            <a:r>
              <a:rPr lang="en-US" sz="2200" dirty="0">
                <a:latin typeface="Montserrat" panose="00000500000000000000" pitchFamily="2" charset="0"/>
              </a:rPr>
              <a:t> </a:t>
            </a:r>
            <a:r>
              <a:rPr lang="en-US" sz="2200" dirty="0" err="1">
                <a:latin typeface="Montserrat" panose="00000500000000000000" pitchFamily="2" charset="0"/>
              </a:rPr>
              <a:t>tersendiri</a:t>
            </a:r>
            <a:r>
              <a:rPr lang="en-US" sz="2200" dirty="0">
                <a:latin typeface="Montserrat" panose="00000500000000000000" pitchFamily="2" charset="0"/>
              </a:rPr>
              <a:t>; </a:t>
            </a:r>
            <a:endParaRPr lang="id-ID" sz="2200" dirty="0">
              <a:latin typeface="Montserrat" panose="00000500000000000000" pitchFamily="2" charset="0"/>
            </a:endParaRPr>
          </a:p>
        </p:txBody>
      </p:sp>
    </p:spTree>
    <p:extLst>
      <p:ext uri="{BB962C8B-B14F-4D97-AF65-F5344CB8AC3E}">
        <p14:creationId xmlns:p14="http://schemas.microsoft.com/office/powerpoint/2010/main" val="1978205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C131-5C0B-7B0D-A109-A9282E5D2B0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D79664E-3E84-32AC-1E4C-2F1042B119B5}"/>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893C9DE-D4FE-1EBA-CE9A-A0D5D72DC41C}"/>
              </a:ext>
            </a:extLst>
          </p:cNvPr>
          <p:cNvSpPr txBox="1"/>
          <p:nvPr/>
        </p:nvSpPr>
        <p:spPr>
          <a:xfrm>
            <a:off x="254677" y="305068"/>
            <a:ext cx="11682646" cy="6247864"/>
          </a:xfrm>
          <a:prstGeom prst="rect">
            <a:avLst/>
          </a:prstGeom>
          <a:noFill/>
        </p:spPr>
        <p:txBody>
          <a:bodyPr wrap="square">
            <a:spAutoFit/>
          </a:bodyPr>
          <a:lstStyle/>
          <a:p>
            <a:pPr algn="ctr"/>
            <a:r>
              <a:rPr lang="en-US" sz="1600" b="1" dirty="0">
                <a:solidFill>
                  <a:srgbClr val="C00000"/>
                </a:solidFill>
                <a:latin typeface="Montserrat" panose="00000500000000000000" pitchFamily="2" charset="0"/>
              </a:rPr>
              <a:t>Hakim-hakim 13:3-12</a:t>
            </a:r>
          </a:p>
          <a:p>
            <a:pPr algn="ctr"/>
            <a:r>
              <a:rPr lang="id-ID" sz="1600" dirty="0">
                <a:solidFill>
                  <a:srgbClr val="FF0000"/>
                </a:solidFill>
                <a:latin typeface="Montserrat" panose="00000500000000000000" pitchFamily="2" charset="0"/>
              </a:rPr>
              <a:t>3</a:t>
            </a:r>
            <a:r>
              <a:rPr lang="en-US" sz="1600" dirty="0">
                <a:solidFill>
                  <a:srgbClr val="FF0000"/>
                </a:solidFill>
                <a:latin typeface="Montserrat" panose="00000500000000000000" pitchFamily="2" charset="0"/>
              </a:rPr>
              <a:t> </a:t>
            </a:r>
            <a:r>
              <a:rPr lang="id-ID" sz="1600" dirty="0">
                <a:latin typeface="Montserrat" panose="00000500000000000000" pitchFamily="2" charset="0"/>
              </a:rPr>
              <a:t>Dan Malaikat Tuhan menampakkan diri kepada perempuan itu dan berfirman kepadanya, demikian: ”Memang engkau mandul, tidak beranak, tetapi engkau akan mengandung dan melahirkan seorang anak laki-laki.</a:t>
            </a:r>
            <a:endParaRPr lang="en-US" sz="1600" dirty="0">
              <a:latin typeface="Montserrat" panose="00000500000000000000" pitchFamily="2" charset="0"/>
            </a:endParaRPr>
          </a:p>
          <a:p>
            <a:pPr algn="ctr"/>
            <a:r>
              <a:rPr lang="id-ID" sz="1600" dirty="0">
                <a:solidFill>
                  <a:srgbClr val="FF0000"/>
                </a:solidFill>
                <a:latin typeface="Montserrat" panose="00000500000000000000" pitchFamily="2" charset="0"/>
              </a:rPr>
              <a:t>4</a:t>
            </a:r>
            <a:r>
              <a:rPr lang="en-US" sz="1600" dirty="0">
                <a:latin typeface="Montserrat" panose="00000500000000000000" pitchFamily="2" charset="0"/>
              </a:rPr>
              <a:t> </a:t>
            </a:r>
            <a:r>
              <a:rPr lang="id-ID" sz="1600" dirty="0">
                <a:latin typeface="Montserrat" panose="00000500000000000000" pitchFamily="2" charset="0"/>
              </a:rPr>
              <a:t>Oleh sebab itu, peliharalah dirimu, jangan minum anggur atau minuman yang memabukkan dan jangan makan sesuatu yang haram.</a:t>
            </a:r>
            <a:endParaRPr lang="en-US" sz="1600" dirty="0">
              <a:latin typeface="Montserrat" panose="00000500000000000000" pitchFamily="2" charset="0"/>
            </a:endParaRPr>
          </a:p>
          <a:p>
            <a:pPr algn="ctr"/>
            <a:r>
              <a:rPr lang="id-ID" sz="1600" dirty="0">
                <a:solidFill>
                  <a:srgbClr val="FF0000"/>
                </a:solidFill>
                <a:latin typeface="Montserrat" panose="00000500000000000000" pitchFamily="2" charset="0"/>
              </a:rPr>
              <a:t>5</a:t>
            </a:r>
            <a:r>
              <a:rPr lang="id-ID" sz="1600" dirty="0">
                <a:latin typeface="Montserrat" panose="00000500000000000000" pitchFamily="2" charset="0"/>
              </a:rPr>
              <a:t> Sebab engkau akan mengandung dan melahirkan seorang anak laki-laki; kepalanya takkan kena pisau cukur, sebab sejak dari kandungan ibunya anak itu akan menjadi seorang nazir Allah dan dengan dia akan mulai penyelamatan orang Israel dari tangan orang Filistin.”</a:t>
            </a:r>
          </a:p>
          <a:p>
            <a:pPr algn="ctr"/>
            <a:r>
              <a:rPr lang="id-ID" sz="1600" dirty="0">
                <a:solidFill>
                  <a:srgbClr val="FF0000"/>
                </a:solidFill>
                <a:latin typeface="Montserrat" panose="00000500000000000000" pitchFamily="2" charset="0"/>
              </a:rPr>
              <a:t>6</a:t>
            </a:r>
            <a:r>
              <a:rPr lang="en-US" sz="1600" dirty="0">
                <a:latin typeface="Montserrat" panose="00000500000000000000" pitchFamily="2" charset="0"/>
              </a:rPr>
              <a:t> </a:t>
            </a:r>
            <a:r>
              <a:rPr lang="id-ID" sz="1600" dirty="0">
                <a:latin typeface="Montserrat" panose="00000500000000000000" pitchFamily="2" charset="0"/>
              </a:rPr>
              <a:t>Kemudian perempuan itu datang kepada suaminya dan berkata: ”Telah datang kepadaku seorang abdi Allah, yang rupanya sebagai rupa malaikat Allah, amat menakutkan. Tidak kutanyakan dari mana datangnya, dan tidak juga diberitahukannya namanya kepadaku.</a:t>
            </a:r>
            <a:endParaRPr lang="en-US" sz="1600" dirty="0">
              <a:latin typeface="Montserrat" panose="00000500000000000000" pitchFamily="2" charset="0"/>
            </a:endParaRPr>
          </a:p>
          <a:p>
            <a:pPr algn="ctr"/>
            <a:r>
              <a:rPr lang="id-ID" sz="1600" dirty="0">
                <a:solidFill>
                  <a:srgbClr val="FF0000"/>
                </a:solidFill>
                <a:latin typeface="Montserrat" panose="00000500000000000000" pitchFamily="2" charset="0"/>
              </a:rPr>
              <a:t>7</a:t>
            </a:r>
            <a:r>
              <a:rPr lang="en-US" sz="1600" dirty="0">
                <a:latin typeface="Montserrat" panose="00000500000000000000" pitchFamily="2" charset="0"/>
              </a:rPr>
              <a:t> </a:t>
            </a:r>
            <a:r>
              <a:rPr lang="id-ID" sz="1600" dirty="0">
                <a:latin typeface="Montserrat" panose="00000500000000000000" pitchFamily="2" charset="0"/>
              </a:rPr>
              <a:t>Tetapi ia berkata kepadaku: Engkau akan mengandung dan melahirkan seorang anak laki-laki; oleh sebab itu janganlah minum anggur atau minuman yang memabukkan dan janganlah makan sesuatu yang haram, sebab sejak dari kandungan ibunya sampai pada hari matinya, anak itu akan menjadi seorang nazir Allah.”</a:t>
            </a:r>
          </a:p>
          <a:p>
            <a:pPr algn="ctr"/>
            <a:r>
              <a:rPr lang="id-ID" sz="1600" dirty="0">
                <a:solidFill>
                  <a:srgbClr val="FF0000"/>
                </a:solidFill>
                <a:latin typeface="Montserrat" panose="00000500000000000000" pitchFamily="2" charset="0"/>
              </a:rPr>
              <a:t>8</a:t>
            </a:r>
            <a:r>
              <a:rPr lang="en-US" sz="1600" dirty="0">
                <a:latin typeface="Montserrat" panose="00000500000000000000" pitchFamily="2" charset="0"/>
              </a:rPr>
              <a:t> </a:t>
            </a:r>
            <a:r>
              <a:rPr lang="id-ID" sz="1600" dirty="0">
                <a:latin typeface="Montserrat" panose="00000500000000000000" pitchFamily="2" charset="0"/>
              </a:rPr>
              <a:t>Lalu Manoah memohon kepada Tuhan, katanya: ”Ya Tuhan, berilah kiranya abdi Allah, yang Kauutus itu, datang pula kepada kami dan mengajar kami, apa yang harus kami perbuat kepada anak yang akan lahir itu.”</a:t>
            </a:r>
            <a:endParaRPr lang="en-US" sz="1600" dirty="0">
              <a:latin typeface="Montserrat" panose="00000500000000000000" pitchFamily="2" charset="0"/>
            </a:endParaRPr>
          </a:p>
          <a:p>
            <a:pPr algn="ctr"/>
            <a:r>
              <a:rPr lang="id-ID" sz="1600" dirty="0">
                <a:solidFill>
                  <a:srgbClr val="FF0000"/>
                </a:solidFill>
                <a:latin typeface="Montserrat" panose="00000500000000000000" pitchFamily="2" charset="0"/>
              </a:rPr>
              <a:t>9</a:t>
            </a:r>
            <a:r>
              <a:rPr lang="en-US" sz="1600" dirty="0">
                <a:latin typeface="Montserrat" panose="00000500000000000000" pitchFamily="2" charset="0"/>
              </a:rPr>
              <a:t> </a:t>
            </a:r>
            <a:r>
              <a:rPr lang="id-ID" sz="1600" dirty="0">
                <a:latin typeface="Montserrat" panose="00000500000000000000" pitchFamily="2" charset="0"/>
              </a:rPr>
              <a:t>Maka Allah mendengarkan permohonan Manoah, sehingga Malaikat Allah datang pula kepada perempuan itu, ketika ia duduk di padang dan ketika Manoah, suaminya itu, tidak ada bersama-sama dengan dia.</a:t>
            </a:r>
            <a:endParaRPr lang="en-US" sz="1600" dirty="0">
              <a:latin typeface="Montserrat" panose="00000500000000000000" pitchFamily="2" charset="0"/>
            </a:endParaRPr>
          </a:p>
          <a:p>
            <a:pPr algn="ctr"/>
            <a:r>
              <a:rPr lang="id-ID" sz="1600" dirty="0">
                <a:solidFill>
                  <a:srgbClr val="FF0000"/>
                </a:solidFill>
                <a:latin typeface="Montserrat" panose="00000500000000000000" pitchFamily="2" charset="0"/>
              </a:rPr>
              <a:t>10</a:t>
            </a:r>
            <a:r>
              <a:rPr lang="en-US" sz="1600" dirty="0">
                <a:latin typeface="Montserrat" panose="00000500000000000000" pitchFamily="2" charset="0"/>
              </a:rPr>
              <a:t> </a:t>
            </a:r>
            <a:r>
              <a:rPr lang="id-ID" sz="1600" dirty="0">
                <a:latin typeface="Montserrat" panose="00000500000000000000" pitchFamily="2" charset="0"/>
              </a:rPr>
              <a:t>Kemudian perempuan itu segera berlari memberitahukan kepada suaminya, katanya kepadanya: ”Orang yang datang kepadaku baru-baru ini menampakkan diri pula kepadaku.” </a:t>
            </a:r>
            <a:endParaRPr lang="en-US" sz="1600" dirty="0">
              <a:latin typeface="Montserrat" panose="00000500000000000000" pitchFamily="2" charset="0"/>
            </a:endParaRPr>
          </a:p>
          <a:p>
            <a:pPr algn="ctr"/>
            <a:r>
              <a:rPr lang="id-ID" sz="1600" dirty="0">
                <a:solidFill>
                  <a:srgbClr val="FF0000"/>
                </a:solidFill>
                <a:latin typeface="Montserrat" panose="00000500000000000000" pitchFamily="2" charset="0"/>
              </a:rPr>
              <a:t>11</a:t>
            </a:r>
            <a:r>
              <a:rPr lang="en-US" sz="1600" dirty="0">
                <a:solidFill>
                  <a:srgbClr val="FF0000"/>
                </a:solidFill>
                <a:latin typeface="Montserrat" panose="00000500000000000000" pitchFamily="2" charset="0"/>
              </a:rPr>
              <a:t> </a:t>
            </a:r>
            <a:r>
              <a:rPr lang="id-ID" sz="1600" dirty="0">
                <a:latin typeface="Montserrat" panose="00000500000000000000" pitchFamily="2" charset="0"/>
              </a:rPr>
              <a:t>Lalu bangunlah Manoah dan mengikuti isterinya. Setelah sampai kepada orang itu, berkatalah ia kepadanya: ”Engkaukah orang yang telah berbicara kepada perempuan ini?” Jawabnya: ”Benar!</a:t>
            </a:r>
            <a:endParaRPr lang="en-US" sz="1600" dirty="0">
              <a:latin typeface="Montserrat" panose="00000500000000000000" pitchFamily="2" charset="0"/>
            </a:endParaRPr>
          </a:p>
          <a:p>
            <a:pPr algn="ctr"/>
            <a:r>
              <a:rPr lang="id-ID" sz="1600" dirty="0">
                <a:solidFill>
                  <a:srgbClr val="FF0000"/>
                </a:solidFill>
                <a:latin typeface="Montserrat" panose="00000500000000000000" pitchFamily="2" charset="0"/>
              </a:rPr>
              <a:t>12</a:t>
            </a:r>
            <a:r>
              <a:rPr lang="en-US" sz="1600" dirty="0">
                <a:latin typeface="Montserrat" panose="00000500000000000000" pitchFamily="2" charset="0"/>
              </a:rPr>
              <a:t> </a:t>
            </a:r>
            <a:r>
              <a:rPr lang="id-ID" sz="1600" dirty="0">
                <a:latin typeface="Montserrat" panose="00000500000000000000" pitchFamily="2" charset="0"/>
              </a:rPr>
              <a:t>Lalu kata Manoah: ”Dan apabila terjadi yang Kaukatakan itu, bagaimanakah nanti cara hidup anak itu dan tingkah lakunya?”</a:t>
            </a:r>
          </a:p>
        </p:txBody>
      </p:sp>
    </p:spTree>
    <p:extLst>
      <p:ext uri="{BB962C8B-B14F-4D97-AF65-F5344CB8AC3E}">
        <p14:creationId xmlns:p14="http://schemas.microsoft.com/office/powerpoint/2010/main" val="2726631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Trinity, like a C-major - The Southern Cross">
            <a:extLst>
              <a:ext uri="{FF2B5EF4-FFF2-40B4-BE49-F238E27FC236}">
                <a16:creationId xmlns:a16="http://schemas.microsoft.com/office/drawing/2014/main" id="{619230B4-37E7-44FA-A7B4-25BBAE770F61}"/>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9674" r="17935"/>
          <a:stretch/>
        </p:blipFill>
        <p:spPr bwMode="auto">
          <a:xfrm>
            <a:off x="848139" y="0"/>
            <a:ext cx="4189226" cy="37768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DE676DC-29D1-4E20-9755-35049AD665F9}"/>
              </a:ext>
            </a:extLst>
          </p:cNvPr>
          <p:cNvSpPr/>
          <p:nvPr/>
        </p:nvSpPr>
        <p:spPr>
          <a:xfrm>
            <a:off x="848139" y="3776870"/>
            <a:ext cx="4200939" cy="24781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24AA2E1-4C19-46E0-8CAA-FA8A0B33800A}"/>
              </a:ext>
            </a:extLst>
          </p:cNvPr>
          <p:cNvSpPr txBox="1"/>
          <p:nvPr/>
        </p:nvSpPr>
        <p:spPr>
          <a:xfrm>
            <a:off x="1312734" y="4231118"/>
            <a:ext cx="3260035" cy="1569660"/>
          </a:xfrm>
          <a:prstGeom prst="rect">
            <a:avLst/>
          </a:prstGeom>
          <a:noFill/>
        </p:spPr>
        <p:txBody>
          <a:bodyPr wrap="square">
            <a:spAutoFit/>
          </a:bodyPr>
          <a:lstStyle/>
          <a:p>
            <a:pPr algn="ctr"/>
            <a:r>
              <a:rPr lang="en-US" sz="2400" b="1" dirty="0">
                <a:solidFill>
                  <a:schemeClr val="bg2">
                    <a:lumMod val="75000"/>
                  </a:schemeClr>
                </a:solidFill>
                <a:latin typeface="Montserrat ExtraBold" panose="00000900000000000000" pitchFamily="50" charset="0"/>
              </a:rPr>
              <a:t>BENTUK</a:t>
            </a:r>
            <a:r>
              <a:rPr lang="en-US" sz="2400" b="1" dirty="0">
                <a:solidFill>
                  <a:schemeClr val="tx1">
                    <a:lumMod val="75000"/>
                    <a:lumOff val="25000"/>
                  </a:schemeClr>
                </a:solidFill>
                <a:latin typeface="Montserrat ExtraBold" panose="00000900000000000000" pitchFamily="50" charset="0"/>
              </a:rPr>
              <a:t> </a:t>
            </a:r>
            <a:r>
              <a:rPr lang="en-US" sz="2400" b="1" dirty="0">
                <a:solidFill>
                  <a:schemeClr val="bg1"/>
                </a:solidFill>
                <a:latin typeface="Montserrat ExtraBold" panose="00000900000000000000" pitchFamily="50" charset="0"/>
              </a:rPr>
              <a:t>TUNGGAL </a:t>
            </a:r>
            <a:r>
              <a:rPr lang="en-US" sz="2400" b="1" dirty="0">
                <a:solidFill>
                  <a:schemeClr val="bg2">
                    <a:lumMod val="75000"/>
                  </a:schemeClr>
                </a:solidFill>
                <a:latin typeface="Montserrat ExtraBold" panose="00000900000000000000" pitchFamily="50" charset="0"/>
              </a:rPr>
              <a:t>UNTUK</a:t>
            </a:r>
            <a:r>
              <a:rPr lang="en-US" sz="2400" b="1" dirty="0">
                <a:solidFill>
                  <a:schemeClr val="tx1">
                    <a:lumMod val="75000"/>
                    <a:lumOff val="25000"/>
                  </a:schemeClr>
                </a:solidFill>
                <a:latin typeface="Montserrat ExtraBold" panose="00000900000000000000" pitchFamily="50" charset="0"/>
              </a:rPr>
              <a:t> </a:t>
            </a:r>
            <a:r>
              <a:rPr lang="en-US" sz="2400" b="1" dirty="0">
                <a:solidFill>
                  <a:schemeClr val="bg1"/>
                </a:solidFill>
                <a:latin typeface="Montserrat ExtraBold" panose="00000900000000000000" pitchFamily="50" charset="0"/>
              </a:rPr>
              <a:t>SEMUA </a:t>
            </a:r>
            <a:r>
              <a:rPr lang="en-US" sz="2400" b="1" dirty="0">
                <a:solidFill>
                  <a:schemeClr val="bg2">
                    <a:lumMod val="75000"/>
                  </a:schemeClr>
                </a:solidFill>
                <a:latin typeface="Montserrat ExtraBold" panose="00000900000000000000" pitchFamily="50" charset="0"/>
              </a:rPr>
              <a:t>PRIBADI </a:t>
            </a:r>
            <a:r>
              <a:rPr lang="en-US" sz="2400" dirty="0">
                <a:solidFill>
                  <a:schemeClr val="bg2">
                    <a:lumMod val="75000"/>
                  </a:schemeClr>
                </a:solidFill>
                <a:latin typeface="Montserrat ExtraBold" panose="00000900000000000000" pitchFamily="50" charset="0"/>
              </a:rPr>
              <a:t>(Mat. 28:19-20)</a:t>
            </a:r>
            <a:endParaRPr lang="id-ID" sz="2400" dirty="0">
              <a:solidFill>
                <a:schemeClr val="bg2">
                  <a:lumMod val="75000"/>
                </a:schemeClr>
              </a:solidFill>
              <a:latin typeface="Montserrat ExtraBold" panose="00000900000000000000" pitchFamily="50" charset="0"/>
            </a:endParaRPr>
          </a:p>
        </p:txBody>
      </p:sp>
      <p:sp>
        <p:nvSpPr>
          <p:cNvPr id="7" name="TextBox 6">
            <a:extLst>
              <a:ext uri="{FF2B5EF4-FFF2-40B4-BE49-F238E27FC236}">
                <a16:creationId xmlns:a16="http://schemas.microsoft.com/office/drawing/2014/main" id="{76BEBE17-5A27-4D78-882C-D9EC7284DADA}"/>
              </a:ext>
            </a:extLst>
          </p:cNvPr>
          <p:cNvSpPr txBox="1"/>
          <p:nvPr/>
        </p:nvSpPr>
        <p:spPr>
          <a:xfrm>
            <a:off x="6096000" y="2669429"/>
            <a:ext cx="4745817" cy="3077766"/>
          </a:xfrm>
          <a:prstGeom prst="rect">
            <a:avLst/>
          </a:prstGeom>
          <a:noFill/>
        </p:spPr>
        <p:txBody>
          <a:bodyPr wrap="square">
            <a:spAutoFit/>
          </a:bodyPr>
          <a:lstStyle/>
          <a:p>
            <a:r>
              <a:rPr lang="en-US" sz="3200" b="1" dirty="0" err="1">
                <a:solidFill>
                  <a:srgbClr val="C00000"/>
                </a:solidFill>
                <a:latin typeface="Montserrat ExtraBold" panose="00000900000000000000" pitchFamily="50" charset="0"/>
              </a:rPr>
              <a:t>Matius</a:t>
            </a:r>
            <a:r>
              <a:rPr lang="en-US" sz="3200" b="1" dirty="0">
                <a:solidFill>
                  <a:srgbClr val="C00000"/>
                </a:solidFill>
                <a:latin typeface="Montserrat ExtraBold" panose="00000900000000000000" pitchFamily="50" charset="0"/>
              </a:rPr>
              <a:t> 28:19 </a:t>
            </a:r>
            <a:r>
              <a:rPr lang="en-US" sz="3200" dirty="0">
                <a:solidFill>
                  <a:srgbClr val="C00000"/>
                </a:solidFill>
                <a:latin typeface="Montserrat ExtraBold" panose="00000900000000000000" pitchFamily="50" charset="0"/>
              </a:rPr>
              <a:t> </a:t>
            </a:r>
          </a:p>
          <a:p>
            <a:endParaRPr lang="en-US" dirty="0">
              <a:latin typeface="Century Gothic" panose="020B0502020202020204" pitchFamily="34" charset="0"/>
            </a:endParaRPr>
          </a:p>
          <a:p>
            <a:r>
              <a:rPr lang="en-US" sz="2400" dirty="0">
                <a:latin typeface="Montserrat" panose="00000500000000000000" pitchFamily="50" charset="0"/>
              </a:rPr>
              <a:t>Karena </a:t>
            </a:r>
            <a:r>
              <a:rPr lang="en-US" sz="2400" dirty="0" err="1">
                <a:latin typeface="Montserrat" panose="00000500000000000000" pitchFamily="50" charset="0"/>
              </a:rPr>
              <a:t>itu</a:t>
            </a:r>
            <a:r>
              <a:rPr lang="en-US" sz="2400" dirty="0">
                <a:latin typeface="Montserrat" panose="00000500000000000000" pitchFamily="50" charset="0"/>
              </a:rPr>
              <a:t> </a:t>
            </a:r>
            <a:r>
              <a:rPr lang="en-US" sz="2400" dirty="0" err="1">
                <a:latin typeface="Montserrat" panose="00000500000000000000" pitchFamily="50" charset="0"/>
              </a:rPr>
              <a:t>pergilah</a:t>
            </a:r>
            <a:r>
              <a:rPr lang="en-US" sz="2400" dirty="0">
                <a:latin typeface="Montserrat" panose="00000500000000000000" pitchFamily="50" charset="0"/>
              </a:rPr>
              <a:t>, </a:t>
            </a:r>
            <a:r>
              <a:rPr lang="en-US" sz="2400" dirty="0" err="1">
                <a:latin typeface="Montserrat" panose="00000500000000000000" pitchFamily="50" charset="0"/>
              </a:rPr>
              <a:t>jadikanlah</a:t>
            </a:r>
            <a:r>
              <a:rPr lang="en-US" sz="2400" dirty="0">
                <a:latin typeface="Montserrat" panose="00000500000000000000" pitchFamily="50" charset="0"/>
              </a:rPr>
              <a:t> </a:t>
            </a:r>
            <a:r>
              <a:rPr lang="en-US" sz="2400" dirty="0" err="1">
                <a:latin typeface="Montserrat" panose="00000500000000000000" pitchFamily="50" charset="0"/>
              </a:rPr>
              <a:t>semua</a:t>
            </a:r>
            <a:r>
              <a:rPr lang="en-US" sz="2400" dirty="0">
                <a:latin typeface="Montserrat" panose="00000500000000000000" pitchFamily="50" charset="0"/>
              </a:rPr>
              <a:t> </a:t>
            </a:r>
            <a:r>
              <a:rPr lang="en-US" sz="2400" dirty="0" err="1">
                <a:latin typeface="Montserrat" panose="00000500000000000000" pitchFamily="50" charset="0"/>
              </a:rPr>
              <a:t>bangsa</a:t>
            </a:r>
            <a:r>
              <a:rPr lang="en-US" sz="2400" dirty="0">
                <a:latin typeface="Montserrat" panose="00000500000000000000" pitchFamily="50" charset="0"/>
              </a:rPr>
              <a:t> murid-Ku dan </a:t>
            </a:r>
            <a:r>
              <a:rPr lang="en-US" sz="2400" dirty="0" err="1">
                <a:latin typeface="Montserrat" panose="00000500000000000000" pitchFamily="50" charset="0"/>
              </a:rPr>
              <a:t>baptislah</a:t>
            </a:r>
            <a:r>
              <a:rPr lang="en-US" sz="2400" dirty="0">
                <a:latin typeface="Montserrat" panose="00000500000000000000" pitchFamily="50" charset="0"/>
              </a:rPr>
              <a:t> </a:t>
            </a:r>
            <a:r>
              <a:rPr lang="en-US" sz="2400" dirty="0" err="1">
                <a:latin typeface="Montserrat" panose="00000500000000000000" pitchFamily="50" charset="0"/>
              </a:rPr>
              <a:t>mereka</a:t>
            </a:r>
            <a:r>
              <a:rPr lang="en-US" sz="2400" dirty="0">
                <a:latin typeface="Montserrat" panose="00000500000000000000" pitchFamily="50" charset="0"/>
              </a:rPr>
              <a:t> </a:t>
            </a:r>
            <a:r>
              <a:rPr lang="en-US" sz="2400" dirty="0" err="1">
                <a:latin typeface="Montserrat" panose="00000500000000000000" pitchFamily="50" charset="0"/>
              </a:rPr>
              <a:t>dalam</a:t>
            </a:r>
            <a:r>
              <a:rPr lang="en-US" sz="2400" dirty="0">
                <a:latin typeface="Montserrat" panose="00000500000000000000" pitchFamily="50" charset="0"/>
              </a:rPr>
              <a:t> </a:t>
            </a:r>
            <a:r>
              <a:rPr lang="en-US" sz="2400" b="1" u="sng" dirty="0" err="1">
                <a:latin typeface="Montserrat" panose="00000500000000000000" pitchFamily="50" charset="0"/>
              </a:rPr>
              <a:t>nama</a:t>
            </a:r>
            <a:r>
              <a:rPr lang="en-US" sz="2400" b="1" dirty="0">
                <a:latin typeface="Montserrat" panose="00000500000000000000" pitchFamily="50" charset="0"/>
              </a:rPr>
              <a:t> </a:t>
            </a:r>
            <a:r>
              <a:rPr lang="en-US" sz="2400" dirty="0">
                <a:latin typeface="Montserrat" panose="00000500000000000000" pitchFamily="50" charset="0"/>
              </a:rPr>
              <a:t>(</a:t>
            </a:r>
            <a:r>
              <a:rPr lang="en-US" sz="2400" dirty="0" err="1">
                <a:latin typeface="Montserrat" panose="00000500000000000000" pitchFamily="50" charset="0"/>
              </a:rPr>
              <a:t>tunggal</a:t>
            </a:r>
            <a:r>
              <a:rPr lang="en-US" sz="2400" dirty="0">
                <a:latin typeface="Montserrat" panose="00000500000000000000" pitchFamily="50" charset="0"/>
              </a:rPr>
              <a:t>) </a:t>
            </a:r>
            <a:r>
              <a:rPr lang="en-US" sz="2400" dirty="0" err="1">
                <a:latin typeface="Montserrat" panose="00000500000000000000" pitchFamily="50" charset="0"/>
              </a:rPr>
              <a:t>Bapa</a:t>
            </a:r>
            <a:r>
              <a:rPr lang="en-US" sz="2400" dirty="0">
                <a:latin typeface="Montserrat" panose="00000500000000000000" pitchFamily="50" charset="0"/>
              </a:rPr>
              <a:t> dan Anak dan </a:t>
            </a:r>
            <a:r>
              <a:rPr lang="en-US" sz="2400" dirty="0" err="1">
                <a:latin typeface="Montserrat" panose="00000500000000000000" pitchFamily="50" charset="0"/>
              </a:rPr>
              <a:t>Roh</a:t>
            </a:r>
            <a:r>
              <a:rPr lang="en-US" sz="2400" dirty="0">
                <a:latin typeface="Montserrat" panose="00000500000000000000" pitchFamily="50" charset="0"/>
              </a:rPr>
              <a:t> Kudus.</a:t>
            </a:r>
            <a:endParaRPr lang="id-ID" sz="2400" dirty="0">
              <a:latin typeface="Montserrat" panose="00000500000000000000" pitchFamily="50" charset="0"/>
            </a:endParaRPr>
          </a:p>
        </p:txBody>
      </p:sp>
    </p:spTree>
    <p:extLst>
      <p:ext uri="{BB962C8B-B14F-4D97-AF65-F5344CB8AC3E}">
        <p14:creationId xmlns:p14="http://schemas.microsoft.com/office/powerpoint/2010/main" val="3752934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Trinity, like a C-major - The Southern Cross">
            <a:extLst>
              <a:ext uri="{FF2B5EF4-FFF2-40B4-BE49-F238E27FC236}">
                <a16:creationId xmlns:a16="http://schemas.microsoft.com/office/drawing/2014/main" id="{619230B4-37E7-44FA-A7B4-25BBAE770F61}"/>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9674" r="17935"/>
          <a:stretch/>
        </p:blipFill>
        <p:spPr bwMode="auto">
          <a:xfrm>
            <a:off x="848139" y="0"/>
            <a:ext cx="4189226" cy="37768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DE676DC-29D1-4E20-9755-35049AD665F9}"/>
              </a:ext>
            </a:extLst>
          </p:cNvPr>
          <p:cNvSpPr/>
          <p:nvPr/>
        </p:nvSpPr>
        <p:spPr>
          <a:xfrm>
            <a:off x="848139" y="3776870"/>
            <a:ext cx="4200939" cy="24781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24AA2E1-4C19-46E0-8CAA-FA8A0B33800A}"/>
              </a:ext>
            </a:extLst>
          </p:cNvPr>
          <p:cNvSpPr txBox="1"/>
          <p:nvPr/>
        </p:nvSpPr>
        <p:spPr>
          <a:xfrm>
            <a:off x="1312734" y="4045587"/>
            <a:ext cx="3260035" cy="2308324"/>
          </a:xfrm>
          <a:prstGeom prst="rect">
            <a:avLst/>
          </a:prstGeom>
          <a:noFill/>
        </p:spPr>
        <p:txBody>
          <a:bodyPr wrap="square">
            <a:spAutoFit/>
          </a:bodyPr>
          <a:lstStyle/>
          <a:p>
            <a:pPr algn="ctr"/>
            <a:r>
              <a:rPr lang="en-US" sz="2400" b="1" dirty="0">
                <a:solidFill>
                  <a:schemeClr val="bg1"/>
                </a:solidFill>
                <a:latin typeface="Montserrat ExtraBold" panose="00000900000000000000" pitchFamily="50" charset="0"/>
              </a:rPr>
              <a:t>SUMBER</a:t>
            </a:r>
            <a:r>
              <a:rPr lang="en-US" sz="2400" b="1" dirty="0">
                <a:solidFill>
                  <a:schemeClr val="tx1">
                    <a:lumMod val="75000"/>
                    <a:lumOff val="25000"/>
                  </a:schemeClr>
                </a:solidFill>
                <a:latin typeface="Montserrat ExtraBold" panose="00000900000000000000" pitchFamily="50" charset="0"/>
              </a:rPr>
              <a:t> </a:t>
            </a:r>
            <a:r>
              <a:rPr lang="en-US" sz="2400" b="1" dirty="0">
                <a:solidFill>
                  <a:schemeClr val="bg2">
                    <a:lumMod val="75000"/>
                  </a:schemeClr>
                </a:solidFill>
                <a:latin typeface="Montserrat ExtraBold" panose="00000900000000000000" pitchFamily="50" charset="0"/>
              </a:rPr>
              <a:t>KARUNIA-KARUNIA ROHANI</a:t>
            </a:r>
            <a:r>
              <a:rPr lang="en-US" sz="2400" dirty="0">
                <a:solidFill>
                  <a:schemeClr val="bg2">
                    <a:lumMod val="75000"/>
                  </a:schemeClr>
                </a:solidFill>
                <a:latin typeface="Montserrat ExtraBold" panose="00000900000000000000" pitchFamily="50" charset="0"/>
              </a:rPr>
              <a:t> (1Kor. 12:4-6; </a:t>
            </a:r>
            <a:r>
              <a:rPr lang="en-US" sz="2400" dirty="0" err="1">
                <a:solidFill>
                  <a:schemeClr val="bg2">
                    <a:lumMod val="75000"/>
                  </a:schemeClr>
                </a:solidFill>
                <a:latin typeface="Montserrat ExtraBold" panose="00000900000000000000" pitchFamily="50" charset="0"/>
              </a:rPr>
              <a:t>Ef</a:t>
            </a:r>
            <a:r>
              <a:rPr lang="en-US" sz="2400" dirty="0">
                <a:solidFill>
                  <a:schemeClr val="bg2">
                    <a:lumMod val="75000"/>
                  </a:schemeClr>
                </a:solidFill>
                <a:latin typeface="Montserrat ExtraBold" panose="00000900000000000000" pitchFamily="50" charset="0"/>
              </a:rPr>
              <a:t>. 4:4-6)</a:t>
            </a:r>
            <a:endParaRPr lang="id-ID" sz="2400" dirty="0">
              <a:solidFill>
                <a:schemeClr val="bg2">
                  <a:lumMod val="75000"/>
                </a:schemeClr>
              </a:solidFill>
              <a:latin typeface="Montserrat ExtraBold" panose="00000900000000000000" pitchFamily="50" charset="0"/>
            </a:endParaRPr>
          </a:p>
          <a:p>
            <a:pPr algn="ctr"/>
            <a:endParaRPr lang="id-ID" sz="2400" dirty="0">
              <a:solidFill>
                <a:schemeClr val="tx1">
                  <a:lumMod val="75000"/>
                  <a:lumOff val="25000"/>
                </a:schemeClr>
              </a:solidFill>
              <a:latin typeface="Montserrat ExtraBold" panose="00000900000000000000" pitchFamily="50" charset="0"/>
            </a:endParaRPr>
          </a:p>
        </p:txBody>
      </p:sp>
      <p:sp>
        <p:nvSpPr>
          <p:cNvPr id="7" name="TextBox 6">
            <a:extLst>
              <a:ext uri="{FF2B5EF4-FFF2-40B4-BE49-F238E27FC236}">
                <a16:creationId xmlns:a16="http://schemas.microsoft.com/office/drawing/2014/main" id="{76BEBE17-5A27-4D78-882C-D9EC7284DADA}"/>
              </a:ext>
            </a:extLst>
          </p:cNvPr>
          <p:cNvSpPr txBox="1"/>
          <p:nvPr/>
        </p:nvSpPr>
        <p:spPr>
          <a:xfrm>
            <a:off x="6096000" y="2377880"/>
            <a:ext cx="5009321" cy="3580467"/>
          </a:xfrm>
          <a:prstGeom prst="rect">
            <a:avLst/>
          </a:prstGeom>
          <a:noFill/>
        </p:spPr>
        <p:txBody>
          <a:bodyPr wrap="square">
            <a:spAutoFit/>
          </a:bodyPr>
          <a:lstStyle/>
          <a:p>
            <a:r>
              <a:rPr lang="en-US" sz="3200" b="1" dirty="0">
                <a:solidFill>
                  <a:srgbClr val="C00000"/>
                </a:solidFill>
                <a:latin typeface="Montserrat ExtraBold" panose="00000900000000000000" pitchFamily="50" charset="0"/>
              </a:rPr>
              <a:t>1 </a:t>
            </a:r>
            <a:r>
              <a:rPr lang="en-US" sz="3200" b="1" dirty="0" err="1">
                <a:solidFill>
                  <a:srgbClr val="C00000"/>
                </a:solidFill>
                <a:latin typeface="Montserrat ExtraBold" panose="00000900000000000000" pitchFamily="50" charset="0"/>
              </a:rPr>
              <a:t>Korintus</a:t>
            </a:r>
            <a:r>
              <a:rPr lang="en-US" sz="3200" b="1" dirty="0">
                <a:solidFill>
                  <a:srgbClr val="C00000"/>
                </a:solidFill>
                <a:latin typeface="Montserrat ExtraBold" panose="00000900000000000000" pitchFamily="50" charset="0"/>
              </a:rPr>
              <a:t> 12:4-6 </a:t>
            </a:r>
            <a:r>
              <a:rPr lang="en-US" sz="3200" dirty="0">
                <a:solidFill>
                  <a:srgbClr val="C00000"/>
                </a:solidFill>
                <a:latin typeface="Montserrat ExtraBold" panose="00000900000000000000" pitchFamily="50" charset="0"/>
              </a:rPr>
              <a:t> </a:t>
            </a:r>
          </a:p>
          <a:p>
            <a:endParaRPr lang="en-US" sz="2000" baseline="30000" dirty="0">
              <a:solidFill>
                <a:schemeClr val="tx1">
                  <a:lumMod val="75000"/>
                  <a:lumOff val="25000"/>
                </a:schemeClr>
              </a:solidFill>
              <a:latin typeface="Century Gothic" panose="020B0502020202020204" pitchFamily="34" charset="0"/>
            </a:endParaRPr>
          </a:p>
          <a:p>
            <a:endParaRPr lang="en-US" sz="2000" baseline="30000" dirty="0">
              <a:solidFill>
                <a:schemeClr val="tx1">
                  <a:lumMod val="75000"/>
                  <a:lumOff val="25000"/>
                </a:schemeClr>
              </a:solidFill>
              <a:latin typeface="Century Gothic" panose="020B0502020202020204" pitchFamily="34" charset="0"/>
            </a:endParaRPr>
          </a:p>
          <a:p>
            <a:r>
              <a:rPr lang="en-US" sz="2400" baseline="30000" dirty="0">
                <a:solidFill>
                  <a:schemeClr val="tx1">
                    <a:lumMod val="75000"/>
                    <a:lumOff val="25000"/>
                  </a:schemeClr>
                </a:solidFill>
                <a:latin typeface="Montserrat" panose="00000500000000000000" pitchFamily="50" charset="0"/>
              </a:rPr>
              <a:t>4</a:t>
            </a:r>
            <a:r>
              <a:rPr lang="en-US" sz="2400" dirty="0">
                <a:solidFill>
                  <a:schemeClr val="tx1">
                    <a:lumMod val="75000"/>
                    <a:lumOff val="25000"/>
                  </a:schemeClr>
                </a:solidFill>
                <a:latin typeface="Montserrat" panose="00000500000000000000" pitchFamily="50" charset="0"/>
              </a:rPr>
              <a:t> Ada </a:t>
            </a:r>
            <a:r>
              <a:rPr lang="en-US" sz="2400" dirty="0" err="1">
                <a:solidFill>
                  <a:schemeClr val="tx1">
                    <a:lumMod val="75000"/>
                    <a:lumOff val="25000"/>
                  </a:schemeClr>
                </a:solidFill>
                <a:latin typeface="Montserrat" panose="00000500000000000000" pitchFamily="50" charset="0"/>
              </a:rPr>
              <a:t>rupa-rupa</a:t>
            </a:r>
            <a:r>
              <a:rPr lang="en-US" sz="2400" dirty="0">
                <a:solidFill>
                  <a:schemeClr val="tx1">
                    <a:lumMod val="75000"/>
                    <a:lumOff val="25000"/>
                  </a:schemeClr>
                </a:solidFill>
                <a:latin typeface="Montserrat" panose="00000500000000000000" pitchFamily="50" charset="0"/>
              </a:rPr>
              <a:t> </a:t>
            </a:r>
            <a:r>
              <a:rPr lang="en-US" sz="2400" b="1" u="sng" dirty="0" err="1">
                <a:solidFill>
                  <a:schemeClr val="tx1">
                    <a:lumMod val="75000"/>
                    <a:lumOff val="25000"/>
                  </a:schemeClr>
                </a:solidFill>
                <a:latin typeface="Montserrat" panose="00000500000000000000" pitchFamily="50" charset="0"/>
              </a:rPr>
              <a:t>karunia</a:t>
            </a:r>
            <a:r>
              <a:rPr lang="en-US" sz="2400" u="sng" dirty="0">
                <a:solidFill>
                  <a:schemeClr val="tx1">
                    <a:lumMod val="75000"/>
                    <a:lumOff val="25000"/>
                  </a:schemeClr>
                </a:solidFill>
                <a:latin typeface="Montserrat" panose="00000500000000000000" pitchFamily="50" charset="0"/>
              </a:rPr>
              <a:t>,</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tetapi</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satu</a:t>
            </a:r>
            <a:r>
              <a:rPr lang="en-US" sz="2400" dirty="0">
                <a:solidFill>
                  <a:schemeClr val="tx1">
                    <a:lumMod val="75000"/>
                    <a:lumOff val="25000"/>
                  </a:schemeClr>
                </a:solidFill>
                <a:latin typeface="Montserrat" panose="00000500000000000000" pitchFamily="50" charset="0"/>
              </a:rPr>
              <a:t> </a:t>
            </a:r>
            <a:r>
              <a:rPr lang="en-US" sz="2400" b="1" u="sng" dirty="0" err="1">
                <a:solidFill>
                  <a:schemeClr val="tx1">
                    <a:lumMod val="75000"/>
                    <a:lumOff val="25000"/>
                  </a:schemeClr>
                </a:solidFill>
                <a:latin typeface="Montserrat" panose="00000500000000000000" pitchFamily="50" charset="0"/>
              </a:rPr>
              <a:t>Roh</a:t>
            </a:r>
            <a:r>
              <a:rPr lang="en-US" sz="2400" u="sng" dirty="0">
                <a:solidFill>
                  <a:schemeClr val="tx1">
                    <a:lumMod val="75000"/>
                    <a:lumOff val="25000"/>
                  </a:schemeClr>
                </a:solidFill>
                <a:latin typeface="Montserrat" panose="00000500000000000000" pitchFamily="50" charset="0"/>
              </a:rPr>
              <a:t>.</a:t>
            </a:r>
            <a:r>
              <a:rPr lang="en-US" sz="2400" dirty="0">
                <a:solidFill>
                  <a:schemeClr val="tx1">
                    <a:lumMod val="75000"/>
                    <a:lumOff val="25000"/>
                  </a:schemeClr>
                </a:solidFill>
                <a:latin typeface="Montserrat" panose="00000500000000000000" pitchFamily="50" charset="0"/>
              </a:rPr>
              <a:t>  </a:t>
            </a:r>
            <a:r>
              <a:rPr lang="en-US" sz="2400" baseline="30000" dirty="0">
                <a:solidFill>
                  <a:schemeClr val="tx1">
                    <a:lumMod val="75000"/>
                    <a:lumOff val="25000"/>
                  </a:schemeClr>
                </a:solidFill>
                <a:latin typeface="Montserrat" panose="00000500000000000000" pitchFamily="50" charset="0"/>
              </a:rPr>
              <a:t>5</a:t>
            </a:r>
            <a:r>
              <a:rPr lang="en-US" sz="2400" dirty="0">
                <a:solidFill>
                  <a:schemeClr val="tx1">
                    <a:lumMod val="75000"/>
                    <a:lumOff val="25000"/>
                  </a:schemeClr>
                </a:solidFill>
                <a:latin typeface="Montserrat" panose="00000500000000000000" pitchFamily="50" charset="0"/>
              </a:rPr>
              <a:t> Dan </a:t>
            </a:r>
            <a:r>
              <a:rPr lang="en-US" sz="2400" dirty="0" err="1">
                <a:solidFill>
                  <a:schemeClr val="tx1">
                    <a:lumMod val="75000"/>
                    <a:lumOff val="25000"/>
                  </a:schemeClr>
                </a:solidFill>
                <a:latin typeface="Montserrat" panose="00000500000000000000" pitchFamily="50" charset="0"/>
              </a:rPr>
              <a:t>ada</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rupa-rupa</a:t>
            </a:r>
            <a:r>
              <a:rPr lang="en-US" sz="2400" dirty="0">
                <a:solidFill>
                  <a:schemeClr val="tx1">
                    <a:lumMod val="75000"/>
                    <a:lumOff val="25000"/>
                  </a:schemeClr>
                </a:solidFill>
                <a:latin typeface="Montserrat" panose="00000500000000000000" pitchFamily="50" charset="0"/>
              </a:rPr>
              <a:t> </a:t>
            </a:r>
            <a:r>
              <a:rPr lang="en-US" sz="2400" b="1" u="sng" dirty="0" err="1">
                <a:solidFill>
                  <a:schemeClr val="tx1">
                    <a:lumMod val="75000"/>
                    <a:lumOff val="25000"/>
                  </a:schemeClr>
                </a:solidFill>
                <a:latin typeface="Montserrat" panose="00000500000000000000" pitchFamily="50" charset="0"/>
              </a:rPr>
              <a:t>pelayanan</a:t>
            </a:r>
            <a:r>
              <a:rPr lang="en-US" sz="2400" u="sng" dirty="0">
                <a:solidFill>
                  <a:schemeClr val="tx1">
                    <a:lumMod val="75000"/>
                    <a:lumOff val="25000"/>
                  </a:schemeClr>
                </a:solidFill>
                <a:latin typeface="Montserrat" panose="00000500000000000000" pitchFamily="50" charset="0"/>
              </a:rPr>
              <a:t>,</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tetapi</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satu</a:t>
            </a:r>
            <a:r>
              <a:rPr lang="en-US" sz="2400" dirty="0">
                <a:solidFill>
                  <a:schemeClr val="tx1">
                    <a:lumMod val="75000"/>
                    <a:lumOff val="25000"/>
                  </a:schemeClr>
                </a:solidFill>
                <a:latin typeface="Montserrat" panose="00000500000000000000" pitchFamily="50" charset="0"/>
              </a:rPr>
              <a:t> </a:t>
            </a:r>
            <a:r>
              <a:rPr lang="en-US" sz="2400" b="1" u="sng" dirty="0" err="1">
                <a:solidFill>
                  <a:schemeClr val="tx1">
                    <a:lumMod val="75000"/>
                    <a:lumOff val="25000"/>
                  </a:schemeClr>
                </a:solidFill>
                <a:latin typeface="Montserrat" panose="00000500000000000000" pitchFamily="50" charset="0"/>
              </a:rPr>
              <a:t>Tuhan</a:t>
            </a:r>
            <a:r>
              <a:rPr lang="en-US" sz="2400" dirty="0">
                <a:solidFill>
                  <a:schemeClr val="tx1">
                    <a:lumMod val="75000"/>
                    <a:lumOff val="25000"/>
                  </a:schemeClr>
                </a:solidFill>
                <a:latin typeface="Montserrat" panose="00000500000000000000" pitchFamily="50" charset="0"/>
              </a:rPr>
              <a:t>.  </a:t>
            </a:r>
            <a:r>
              <a:rPr lang="en-US" sz="2400" baseline="30000" dirty="0">
                <a:solidFill>
                  <a:schemeClr val="tx1">
                    <a:lumMod val="75000"/>
                    <a:lumOff val="25000"/>
                  </a:schemeClr>
                </a:solidFill>
                <a:latin typeface="Montserrat" panose="00000500000000000000" pitchFamily="50" charset="0"/>
              </a:rPr>
              <a:t>6</a:t>
            </a:r>
            <a:r>
              <a:rPr lang="en-US" sz="2400" dirty="0">
                <a:solidFill>
                  <a:schemeClr val="tx1">
                    <a:lumMod val="75000"/>
                    <a:lumOff val="25000"/>
                  </a:schemeClr>
                </a:solidFill>
                <a:latin typeface="Montserrat" panose="00000500000000000000" pitchFamily="50" charset="0"/>
              </a:rPr>
              <a:t> Dan </a:t>
            </a:r>
            <a:r>
              <a:rPr lang="en-US" sz="2400" dirty="0" err="1">
                <a:solidFill>
                  <a:schemeClr val="tx1">
                    <a:lumMod val="75000"/>
                    <a:lumOff val="25000"/>
                  </a:schemeClr>
                </a:solidFill>
                <a:latin typeface="Montserrat" panose="00000500000000000000" pitchFamily="50" charset="0"/>
              </a:rPr>
              <a:t>ada</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berbagai-bagai</a:t>
            </a:r>
            <a:r>
              <a:rPr lang="en-US" sz="2400" dirty="0">
                <a:solidFill>
                  <a:schemeClr val="tx1">
                    <a:lumMod val="75000"/>
                    <a:lumOff val="25000"/>
                  </a:schemeClr>
                </a:solidFill>
                <a:latin typeface="Montserrat" panose="00000500000000000000" pitchFamily="50" charset="0"/>
              </a:rPr>
              <a:t> </a:t>
            </a:r>
            <a:r>
              <a:rPr lang="en-US" sz="2400" b="1" u="sng" dirty="0" err="1">
                <a:solidFill>
                  <a:schemeClr val="tx1">
                    <a:lumMod val="75000"/>
                    <a:lumOff val="25000"/>
                  </a:schemeClr>
                </a:solidFill>
                <a:latin typeface="Montserrat" panose="00000500000000000000" pitchFamily="50" charset="0"/>
              </a:rPr>
              <a:t>perbuatan</a:t>
            </a:r>
            <a:r>
              <a:rPr lang="en-US" sz="2400" b="1" u="sng" dirty="0">
                <a:solidFill>
                  <a:schemeClr val="tx1">
                    <a:lumMod val="75000"/>
                    <a:lumOff val="25000"/>
                  </a:schemeClr>
                </a:solidFill>
                <a:latin typeface="Montserrat" panose="00000500000000000000" pitchFamily="50" charset="0"/>
              </a:rPr>
              <a:t> </a:t>
            </a:r>
            <a:r>
              <a:rPr lang="en-US" sz="2400" b="1" u="sng" dirty="0" err="1">
                <a:solidFill>
                  <a:schemeClr val="tx1">
                    <a:lumMod val="75000"/>
                    <a:lumOff val="25000"/>
                  </a:schemeClr>
                </a:solidFill>
                <a:latin typeface="Montserrat" panose="00000500000000000000" pitchFamily="50" charset="0"/>
              </a:rPr>
              <a:t>ajaib</a:t>
            </a:r>
            <a:r>
              <a:rPr lang="en-US" sz="2400" u="sng" dirty="0">
                <a:solidFill>
                  <a:schemeClr val="tx1">
                    <a:lumMod val="75000"/>
                    <a:lumOff val="25000"/>
                  </a:schemeClr>
                </a:solidFill>
                <a:latin typeface="Montserrat" panose="00000500000000000000" pitchFamily="50" charset="0"/>
              </a:rPr>
              <a:t>,</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tetapi</a:t>
            </a:r>
            <a:r>
              <a:rPr lang="en-US" sz="2400" dirty="0">
                <a:solidFill>
                  <a:schemeClr val="tx1">
                    <a:lumMod val="75000"/>
                    <a:lumOff val="25000"/>
                  </a:schemeClr>
                </a:solidFill>
                <a:latin typeface="Montserrat" panose="00000500000000000000" pitchFamily="50" charset="0"/>
              </a:rPr>
              <a:t> </a:t>
            </a:r>
            <a:r>
              <a:rPr lang="en-US" sz="2400" b="1" u="sng" dirty="0">
                <a:solidFill>
                  <a:schemeClr val="tx1">
                    <a:lumMod val="75000"/>
                    <a:lumOff val="25000"/>
                  </a:schemeClr>
                </a:solidFill>
                <a:latin typeface="Montserrat" panose="00000500000000000000" pitchFamily="50" charset="0"/>
              </a:rPr>
              <a:t>Allah</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adalah</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satu</a:t>
            </a:r>
            <a:r>
              <a:rPr lang="en-US" sz="2400" dirty="0">
                <a:solidFill>
                  <a:schemeClr val="tx1">
                    <a:lumMod val="75000"/>
                    <a:lumOff val="25000"/>
                  </a:schemeClr>
                </a:solidFill>
                <a:latin typeface="Montserrat" panose="00000500000000000000" pitchFamily="50" charset="0"/>
              </a:rPr>
              <a:t> yang </a:t>
            </a:r>
            <a:r>
              <a:rPr lang="en-US" sz="2400" dirty="0" err="1">
                <a:solidFill>
                  <a:schemeClr val="tx1">
                    <a:lumMod val="75000"/>
                    <a:lumOff val="25000"/>
                  </a:schemeClr>
                </a:solidFill>
                <a:latin typeface="Montserrat" panose="00000500000000000000" pitchFamily="50" charset="0"/>
              </a:rPr>
              <a:t>mengerjakan</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semuanya</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dalam</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semua</a:t>
            </a:r>
            <a:r>
              <a:rPr lang="en-US" sz="2400" dirty="0">
                <a:solidFill>
                  <a:schemeClr val="tx1">
                    <a:lumMod val="75000"/>
                    <a:lumOff val="25000"/>
                  </a:schemeClr>
                </a:solidFill>
                <a:latin typeface="Montserrat" panose="00000500000000000000" pitchFamily="50" charset="0"/>
              </a:rPr>
              <a:t> orang.</a:t>
            </a:r>
            <a:endParaRPr lang="id-ID" sz="2400" dirty="0">
              <a:solidFill>
                <a:schemeClr val="tx1">
                  <a:lumMod val="75000"/>
                  <a:lumOff val="25000"/>
                </a:schemeClr>
              </a:solidFill>
              <a:latin typeface="Montserrat" panose="00000500000000000000" pitchFamily="50" charset="0"/>
            </a:endParaRPr>
          </a:p>
        </p:txBody>
      </p:sp>
    </p:spTree>
    <p:extLst>
      <p:ext uri="{BB962C8B-B14F-4D97-AF65-F5344CB8AC3E}">
        <p14:creationId xmlns:p14="http://schemas.microsoft.com/office/powerpoint/2010/main" val="280843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83245-95D9-8AA4-C897-CF179814A564}"/>
            </a:ext>
          </a:extLst>
        </p:cNvPr>
        <p:cNvGrpSpPr/>
        <p:nvPr/>
      </p:nvGrpSpPr>
      <p:grpSpPr>
        <a:xfrm>
          <a:off x="0" y="0"/>
          <a:ext cx="0" cy="0"/>
          <a:chOff x="0" y="0"/>
          <a:chExt cx="0" cy="0"/>
        </a:xfrm>
      </p:grpSpPr>
      <p:pic>
        <p:nvPicPr>
          <p:cNvPr id="2050" name="Picture 2" descr="The Trinity, like a C-major - The Southern Cross">
            <a:extLst>
              <a:ext uri="{FF2B5EF4-FFF2-40B4-BE49-F238E27FC236}">
                <a16:creationId xmlns:a16="http://schemas.microsoft.com/office/drawing/2014/main" id="{9A330F68-4BB0-9BB7-36E4-54D65837ABB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9674" r="17935"/>
          <a:stretch/>
        </p:blipFill>
        <p:spPr bwMode="auto">
          <a:xfrm>
            <a:off x="848139" y="0"/>
            <a:ext cx="4189226" cy="37768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5E8A00A-264A-2909-5F85-C1D74D5112AB}"/>
              </a:ext>
            </a:extLst>
          </p:cNvPr>
          <p:cNvSpPr/>
          <p:nvPr/>
        </p:nvSpPr>
        <p:spPr>
          <a:xfrm>
            <a:off x="848139" y="3776870"/>
            <a:ext cx="4200939" cy="24781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981FC06-B07A-E919-E698-E30E75556574}"/>
              </a:ext>
            </a:extLst>
          </p:cNvPr>
          <p:cNvSpPr txBox="1"/>
          <p:nvPr/>
        </p:nvSpPr>
        <p:spPr>
          <a:xfrm>
            <a:off x="1312734" y="4045587"/>
            <a:ext cx="3260035" cy="2308324"/>
          </a:xfrm>
          <a:prstGeom prst="rect">
            <a:avLst/>
          </a:prstGeom>
          <a:noFill/>
        </p:spPr>
        <p:txBody>
          <a:bodyPr wrap="square">
            <a:spAutoFit/>
          </a:bodyPr>
          <a:lstStyle/>
          <a:p>
            <a:pPr algn="ctr"/>
            <a:r>
              <a:rPr lang="en-US" sz="2400" b="1" dirty="0">
                <a:solidFill>
                  <a:schemeClr val="bg1"/>
                </a:solidFill>
                <a:latin typeface="Montserrat ExtraBold" panose="00000900000000000000" pitchFamily="50" charset="0"/>
              </a:rPr>
              <a:t>SUMBER</a:t>
            </a:r>
            <a:r>
              <a:rPr lang="en-US" sz="2400" b="1" dirty="0">
                <a:solidFill>
                  <a:schemeClr val="tx1">
                    <a:lumMod val="75000"/>
                    <a:lumOff val="25000"/>
                  </a:schemeClr>
                </a:solidFill>
                <a:latin typeface="Montserrat ExtraBold" panose="00000900000000000000" pitchFamily="50" charset="0"/>
              </a:rPr>
              <a:t> </a:t>
            </a:r>
            <a:r>
              <a:rPr lang="en-US" sz="2400" b="1" dirty="0">
                <a:solidFill>
                  <a:schemeClr val="bg2">
                    <a:lumMod val="75000"/>
                  </a:schemeClr>
                </a:solidFill>
                <a:latin typeface="Montserrat ExtraBold" panose="00000900000000000000" pitchFamily="50" charset="0"/>
              </a:rPr>
              <a:t>KARUNIA-KARUNIA ROHANI</a:t>
            </a:r>
            <a:r>
              <a:rPr lang="en-US" sz="2400" dirty="0">
                <a:solidFill>
                  <a:schemeClr val="bg2">
                    <a:lumMod val="75000"/>
                  </a:schemeClr>
                </a:solidFill>
                <a:latin typeface="Montserrat ExtraBold" panose="00000900000000000000" pitchFamily="50" charset="0"/>
              </a:rPr>
              <a:t> (1Kor. 12:4-6; </a:t>
            </a:r>
            <a:r>
              <a:rPr lang="en-US" sz="2400" dirty="0" err="1">
                <a:solidFill>
                  <a:schemeClr val="bg2">
                    <a:lumMod val="75000"/>
                  </a:schemeClr>
                </a:solidFill>
                <a:latin typeface="Montserrat ExtraBold" panose="00000900000000000000" pitchFamily="50" charset="0"/>
              </a:rPr>
              <a:t>Ef</a:t>
            </a:r>
            <a:r>
              <a:rPr lang="en-US" sz="2400" dirty="0">
                <a:solidFill>
                  <a:schemeClr val="bg2">
                    <a:lumMod val="75000"/>
                  </a:schemeClr>
                </a:solidFill>
                <a:latin typeface="Montserrat ExtraBold" panose="00000900000000000000" pitchFamily="50" charset="0"/>
              </a:rPr>
              <a:t>. 4:4-6)</a:t>
            </a:r>
            <a:endParaRPr lang="id-ID" sz="2400" dirty="0">
              <a:solidFill>
                <a:schemeClr val="bg2">
                  <a:lumMod val="75000"/>
                </a:schemeClr>
              </a:solidFill>
              <a:latin typeface="Montserrat ExtraBold" panose="00000900000000000000" pitchFamily="50" charset="0"/>
            </a:endParaRPr>
          </a:p>
          <a:p>
            <a:pPr algn="ctr"/>
            <a:endParaRPr lang="id-ID" sz="2400" dirty="0">
              <a:solidFill>
                <a:schemeClr val="tx1">
                  <a:lumMod val="75000"/>
                  <a:lumOff val="25000"/>
                </a:schemeClr>
              </a:solidFill>
              <a:latin typeface="Montserrat ExtraBold" panose="00000900000000000000" pitchFamily="50" charset="0"/>
            </a:endParaRPr>
          </a:p>
        </p:txBody>
      </p:sp>
      <p:sp>
        <p:nvSpPr>
          <p:cNvPr id="7" name="TextBox 6">
            <a:extLst>
              <a:ext uri="{FF2B5EF4-FFF2-40B4-BE49-F238E27FC236}">
                <a16:creationId xmlns:a16="http://schemas.microsoft.com/office/drawing/2014/main" id="{6C7DA6A5-5761-6256-A32C-E8320CB30D3F}"/>
              </a:ext>
            </a:extLst>
          </p:cNvPr>
          <p:cNvSpPr txBox="1"/>
          <p:nvPr/>
        </p:nvSpPr>
        <p:spPr>
          <a:xfrm>
            <a:off x="6096000" y="1617304"/>
            <a:ext cx="5378245" cy="4319131"/>
          </a:xfrm>
          <a:prstGeom prst="rect">
            <a:avLst/>
          </a:prstGeom>
          <a:noFill/>
        </p:spPr>
        <p:txBody>
          <a:bodyPr wrap="square">
            <a:spAutoFit/>
          </a:bodyPr>
          <a:lstStyle/>
          <a:p>
            <a:r>
              <a:rPr lang="en-US" sz="3200" b="1" dirty="0" err="1">
                <a:solidFill>
                  <a:srgbClr val="C00000"/>
                </a:solidFill>
                <a:latin typeface="Montserrat ExtraBold" panose="00000900000000000000" pitchFamily="50" charset="0"/>
              </a:rPr>
              <a:t>Efesus</a:t>
            </a:r>
            <a:r>
              <a:rPr lang="en-US" sz="3200" b="1" dirty="0">
                <a:solidFill>
                  <a:srgbClr val="C00000"/>
                </a:solidFill>
                <a:latin typeface="Montserrat ExtraBold" panose="00000900000000000000" pitchFamily="50" charset="0"/>
              </a:rPr>
              <a:t> 4:4-6</a:t>
            </a:r>
            <a:endParaRPr lang="en-US" sz="3200" dirty="0">
              <a:solidFill>
                <a:srgbClr val="C00000"/>
              </a:solidFill>
              <a:latin typeface="Montserrat ExtraBold" panose="00000900000000000000" pitchFamily="50" charset="0"/>
            </a:endParaRPr>
          </a:p>
          <a:p>
            <a:endParaRPr lang="en-US" sz="2000" baseline="30000" dirty="0">
              <a:solidFill>
                <a:schemeClr val="tx1">
                  <a:lumMod val="75000"/>
                  <a:lumOff val="25000"/>
                </a:schemeClr>
              </a:solidFill>
              <a:latin typeface="Century Gothic" panose="020B0502020202020204" pitchFamily="34" charset="0"/>
            </a:endParaRPr>
          </a:p>
          <a:p>
            <a:endParaRPr lang="en-US" sz="2000" baseline="30000" dirty="0">
              <a:solidFill>
                <a:schemeClr val="tx1">
                  <a:lumMod val="75000"/>
                  <a:lumOff val="25000"/>
                </a:schemeClr>
              </a:solidFill>
              <a:latin typeface="Century Gothic" panose="020B0502020202020204" pitchFamily="34" charset="0"/>
            </a:endParaRPr>
          </a:p>
          <a:p>
            <a:r>
              <a:rPr lang="en-US" sz="2400" baseline="30000" dirty="0">
                <a:solidFill>
                  <a:schemeClr val="tx1">
                    <a:lumMod val="75000"/>
                    <a:lumOff val="25000"/>
                  </a:schemeClr>
                </a:solidFill>
                <a:latin typeface="Montserrat" panose="00000500000000000000" pitchFamily="50" charset="0"/>
              </a:rPr>
              <a:t>4</a:t>
            </a:r>
            <a:r>
              <a:rPr lang="en-US" sz="2400" dirty="0">
                <a:solidFill>
                  <a:schemeClr val="tx1">
                    <a:lumMod val="75000"/>
                    <a:lumOff val="25000"/>
                  </a:schemeClr>
                </a:solidFill>
                <a:latin typeface="Montserrat" panose="00000500000000000000" pitchFamily="50" charset="0"/>
              </a:rPr>
              <a:t>satu </a:t>
            </a:r>
            <a:r>
              <a:rPr lang="en-US" sz="2400" dirty="0" err="1">
                <a:solidFill>
                  <a:schemeClr val="tx1">
                    <a:lumMod val="75000"/>
                    <a:lumOff val="25000"/>
                  </a:schemeClr>
                </a:solidFill>
                <a:latin typeface="Montserrat" panose="00000500000000000000" pitchFamily="50" charset="0"/>
              </a:rPr>
              <a:t>tubuh</a:t>
            </a:r>
            <a:r>
              <a:rPr lang="en-US" sz="2400" dirty="0">
                <a:solidFill>
                  <a:schemeClr val="tx1">
                    <a:lumMod val="75000"/>
                    <a:lumOff val="25000"/>
                  </a:schemeClr>
                </a:solidFill>
                <a:latin typeface="Montserrat" panose="00000500000000000000" pitchFamily="50" charset="0"/>
              </a:rPr>
              <a:t>, dan </a:t>
            </a:r>
            <a:r>
              <a:rPr lang="en-US" sz="2400" dirty="0" err="1">
                <a:solidFill>
                  <a:schemeClr val="tx1">
                    <a:lumMod val="75000"/>
                    <a:lumOff val="25000"/>
                  </a:schemeClr>
                </a:solidFill>
                <a:latin typeface="Montserrat" panose="00000500000000000000" pitchFamily="50" charset="0"/>
              </a:rPr>
              <a:t>satu</a:t>
            </a:r>
            <a:r>
              <a:rPr lang="en-US" sz="2400" dirty="0">
                <a:solidFill>
                  <a:schemeClr val="tx1">
                    <a:lumMod val="75000"/>
                    <a:lumOff val="25000"/>
                  </a:schemeClr>
                </a:solidFill>
                <a:latin typeface="Montserrat" panose="00000500000000000000" pitchFamily="50" charset="0"/>
              </a:rPr>
              <a:t> Roh, </a:t>
            </a:r>
            <a:r>
              <a:rPr lang="en-US" sz="2400" dirty="0" err="1">
                <a:solidFill>
                  <a:schemeClr val="tx1">
                    <a:lumMod val="75000"/>
                    <a:lumOff val="25000"/>
                  </a:schemeClr>
                </a:solidFill>
                <a:latin typeface="Montserrat" panose="00000500000000000000" pitchFamily="50" charset="0"/>
              </a:rPr>
              <a:t>sebagaimana</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kamu</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telah</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dipanggil</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kepada</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satu</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pengharapan</a:t>
            </a:r>
            <a:r>
              <a:rPr lang="en-US" sz="2400" dirty="0">
                <a:solidFill>
                  <a:schemeClr val="tx1">
                    <a:lumMod val="75000"/>
                    <a:lumOff val="25000"/>
                  </a:schemeClr>
                </a:solidFill>
                <a:latin typeface="Montserrat" panose="00000500000000000000" pitchFamily="50" charset="0"/>
              </a:rPr>
              <a:t> yang </a:t>
            </a:r>
            <a:r>
              <a:rPr lang="en-US" sz="2400" dirty="0" err="1">
                <a:solidFill>
                  <a:schemeClr val="tx1">
                    <a:lumMod val="75000"/>
                    <a:lumOff val="25000"/>
                  </a:schemeClr>
                </a:solidFill>
                <a:latin typeface="Montserrat" panose="00000500000000000000" pitchFamily="50" charset="0"/>
              </a:rPr>
              <a:t>terkandung</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dalam</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panggilanmu</a:t>
            </a:r>
            <a:r>
              <a:rPr lang="en-US" sz="2400" dirty="0">
                <a:solidFill>
                  <a:schemeClr val="tx1">
                    <a:lumMod val="75000"/>
                    <a:lumOff val="25000"/>
                  </a:schemeClr>
                </a:solidFill>
                <a:latin typeface="Montserrat" panose="00000500000000000000" pitchFamily="50" charset="0"/>
              </a:rPr>
              <a:t>, </a:t>
            </a:r>
            <a:r>
              <a:rPr lang="en-US" sz="2400" baseline="30000" dirty="0">
                <a:solidFill>
                  <a:schemeClr val="tx1">
                    <a:lumMod val="75000"/>
                    <a:lumOff val="25000"/>
                  </a:schemeClr>
                </a:solidFill>
                <a:latin typeface="Montserrat" panose="00000500000000000000" pitchFamily="50" charset="0"/>
              </a:rPr>
              <a:t>5</a:t>
            </a:r>
            <a:r>
              <a:rPr lang="en-US" sz="2400" dirty="0">
                <a:solidFill>
                  <a:schemeClr val="tx1">
                    <a:lumMod val="75000"/>
                    <a:lumOff val="25000"/>
                  </a:schemeClr>
                </a:solidFill>
                <a:latin typeface="Montserrat" panose="00000500000000000000" pitchFamily="50" charset="0"/>
              </a:rPr>
              <a:t>satu Tuhan, </a:t>
            </a:r>
            <a:r>
              <a:rPr lang="en-US" sz="2400" dirty="0" err="1">
                <a:solidFill>
                  <a:schemeClr val="tx1">
                    <a:lumMod val="75000"/>
                    <a:lumOff val="25000"/>
                  </a:schemeClr>
                </a:solidFill>
                <a:latin typeface="Montserrat" panose="00000500000000000000" pitchFamily="50" charset="0"/>
              </a:rPr>
              <a:t>satu</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iman</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satu</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baptisan</a:t>
            </a:r>
            <a:r>
              <a:rPr lang="en-US" sz="2400" dirty="0">
                <a:solidFill>
                  <a:schemeClr val="tx1">
                    <a:lumMod val="75000"/>
                    <a:lumOff val="25000"/>
                  </a:schemeClr>
                </a:solidFill>
                <a:latin typeface="Montserrat" panose="00000500000000000000" pitchFamily="50" charset="0"/>
              </a:rPr>
              <a:t>, </a:t>
            </a:r>
            <a:r>
              <a:rPr lang="en-US" sz="2400" baseline="30000" dirty="0">
                <a:solidFill>
                  <a:schemeClr val="tx1">
                    <a:lumMod val="75000"/>
                    <a:lumOff val="25000"/>
                  </a:schemeClr>
                </a:solidFill>
                <a:latin typeface="Montserrat" panose="00000500000000000000" pitchFamily="50" charset="0"/>
              </a:rPr>
              <a:t>6</a:t>
            </a:r>
            <a:r>
              <a:rPr lang="en-US" sz="2400" dirty="0">
                <a:solidFill>
                  <a:schemeClr val="tx1">
                    <a:lumMod val="75000"/>
                    <a:lumOff val="25000"/>
                  </a:schemeClr>
                </a:solidFill>
                <a:latin typeface="Montserrat" panose="00000500000000000000" pitchFamily="50" charset="0"/>
              </a:rPr>
              <a:t>satu Allah dan Bapa </a:t>
            </a:r>
            <a:r>
              <a:rPr lang="en-US" sz="2400" dirty="0" err="1">
                <a:solidFill>
                  <a:schemeClr val="tx1">
                    <a:lumMod val="75000"/>
                    <a:lumOff val="25000"/>
                  </a:schemeClr>
                </a:solidFill>
                <a:latin typeface="Montserrat" panose="00000500000000000000" pitchFamily="50" charset="0"/>
              </a:rPr>
              <a:t>dari</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semua</a:t>
            </a:r>
            <a:r>
              <a:rPr lang="en-US" sz="2400" dirty="0">
                <a:solidFill>
                  <a:schemeClr val="tx1">
                    <a:lumMod val="75000"/>
                    <a:lumOff val="25000"/>
                  </a:schemeClr>
                </a:solidFill>
                <a:latin typeface="Montserrat" panose="00000500000000000000" pitchFamily="50" charset="0"/>
              </a:rPr>
              <a:t>, Allah yang di </a:t>
            </a:r>
            <a:r>
              <a:rPr lang="en-US" sz="2400" dirty="0" err="1">
                <a:solidFill>
                  <a:schemeClr val="tx1">
                    <a:lumMod val="75000"/>
                    <a:lumOff val="25000"/>
                  </a:schemeClr>
                </a:solidFill>
                <a:latin typeface="Montserrat" panose="00000500000000000000" pitchFamily="50" charset="0"/>
              </a:rPr>
              <a:t>atas</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semua</a:t>
            </a:r>
            <a:r>
              <a:rPr lang="en-US" sz="2400" dirty="0">
                <a:solidFill>
                  <a:schemeClr val="tx1">
                    <a:lumMod val="75000"/>
                    <a:lumOff val="25000"/>
                  </a:schemeClr>
                </a:solidFill>
                <a:latin typeface="Montserrat" panose="00000500000000000000" pitchFamily="50" charset="0"/>
              </a:rPr>
              <a:t> dan oleh </a:t>
            </a:r>
            <a:r>
              <a:rPr lang="en-US" sz="2400" dirty="0" err="1">
                <a:solidFill>
                  <a:schemeClr val="tx1">
                    <a:lumMod val="75000"/>
                    <a:lumOff val="25000"/>
                  </a:schemeClr>
                </a:solidFill>
                <a:latin typeface="Montserrat" panose="00000500000000000000" pitchFamily="50" charset="0"/>
              </a:rPr>
              <a:t>semua</a:t>
            </a:r>
            <a:r>
              <a:rPr lang="en-US" sz="2400" dirty="0">
                <a:solidFill>
                  <a:schemeClr val="tx1">
                    <a:lumMod val="75000"/>
                    <a:lumOff val="25000"/>
                  </a:schemeClr>
                </a:solidFill>
                <a:latin typeface="Montserrat" panose="00000500000000000000" pitchFamily="50" charset="0"/>
              </a:rPr>
              <a:t> dan di </a:t>
            </a:r>
            <a:r>
              <a:rPr lang="en-US" sz="2400" dirty="0" err="1">
                <a:solidFill>
                  <a:schemeClr val="tx1">
                    <a:lumMod val="75000"/>
                    <a:lumOff val="25000"/>
                  </a:schemeClr>
                </a:solidFill>
                <a:latin typeface="Montserrat" panose="00000500000000000000" pitchFamily="50" charset="0"/>
              </a:rPr>
              <a:t>dalam</a:t>
            </a:r>
            <a:r>
              <a:rPr lang="en-US" sz="2400" dirty="0">
                <a:solidFill>
                  <a:schemeClr val="tx1">
                    <a:lumMod val="75000"/>
                    <a:lumOff val="25000"/>
                  </a:schemeClr>
                </a:solidFill>
                <a:latin typeface="Montserrat" panose="00000500000000000000" pitchFamily="50" charset="0"/>
              </a:rPr>
              <a:t> </a:t>
            </a:r>
            <a:r>
              <a:rPr lang="en-US" sz="2400" dirty="0" err="1">
                <a:solidFill>
                  <a:schemeClr val="tx1">
                    <a:lumMod val="75000"/>
                    <a:lumOff val="25000"/>
                  </a:schemeClr>
                </a:solidFill>
                <a:latin typeface="Montserrat" panose="00000500000000000000" pitchFamily="50" charset="0"/>
              </a:rPr>
              <a:t>semua</a:t>
            </a:r>
            <a:r>
              <a:rPr lang="en-US" sz="2400" dirty="0">
                <a:solidFill>
                  <a:schemeClr val="tx1">
                    <a:lumMod val="75000"/>
                    <a:lumOff val="25000"/>
                  </a:schemeClr>
                </a:solidFill>
                <a:latin typeface="Montserrat" panose="00000500000000000000" pitchFamily="50" charset="0"/>
              </a:rPr>
              <a:t>.</a:t>
            </a:r>
            <a:endParaRPr lang="id-ID" sz="2400" dirty="0">
              <a:solidFill>
                <a:schemeClr val="tx1">
                  <a:lumMod val="75000"/>
                  <a:lumOff val="25000"/>
                </a:schemeClr>
              </a:solidFill>
              <a:latin typeface="Montserrat" panose="00000500000000000000" pitchFamily="50" charset="0"/>
            </a:endParaRPr>
          </a:p>
        </p:txBody>
      </p:sp>
    </p:spTree>
    <p:extLst>
      <p:ext uri="{BB962C8B-B14F-4D97-AF65-F5344CB8AC3E}">
        <p14:creationId xmlns:p14="http://schemas.microsoft.com/office/powerpoint/2010/main" val="1446609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Trinity, like a C-major - The Southern Cross">
            <a:extLst>
              <a:ext uri="{FF2B5EF4-FFF2-40B4-BE49-F238E27FC236}">
                <a16:creationId xmlns:a16="http://schemas.microsoft.com/office/drawing/2014/main" id="{619230B4-37E7-44FA-A7B4-25BBAE770F61}"/>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9674" r="17935"/>
          <a:stretch/>
        </p:blipFill>
        <p:spPr bwMode="auto">
          <a:xfrm>
            <a:off x="848139" y="0"/>
            <a:ext cx="4189226" cy="37768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DE676DC-29D1-4E20-9755-35049AD665F9}"/>
              </a:ext>
            </a:extLst>
          </p:cNvPr>
          <p:cNvSpPr/>
          <p:nvPr/>
        </p:nvSpPr>
        <p:spPr>
          <a:xfrm>
            <a:off x="848139" y="3776870"/>
            <a:ext cx="4200939" cy="24781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24AA2E1-4C19-46E0-8CAA-FA8A0B33800A}"/>
              </a:ext>
            </a:extLst>
          </p:cNvPr>
          <p:cNvSpPr txBox="1"/>
          <p:nvPr/>
        </p:nvSpPr>
        <p:spPr>
          <a:xfrm>
            <a:off x="1160334" y="3921892"/>
            <a:ext cx="3564835" cy="2246769"/>
          </a:xfrm>
          <a:prstGeom prst="rect">
            <a:avLst/>
          </a:prstGeom>
          <a:noFill/>
        </p:spPr>
        <p:txBody>
          <a:bodyPr wrap="square">
            <a:spAutoFit/>
          </a:bodyPr>
          <a:lstStyle/>
          <a:p>
            <a:r>
              <a:rPr lang="en-US" sz="2800" b="1" dirty="0">
                <a:solidFill>
                  <a:schemeClr val="bg2">
                    <a:lumMod val="75000"/>
                  </a:schemeClr>
                </a:solidFill>
                <a:latin typeface="Montserrat ExtraBold" panose="00000900000000000000" pitchFamily="50" charset="0"/>
              </a:rPr>
              <a:t>SUMBER SEGALA </a:t>
            </a:r>
            <a:r>
              <a:rPr lang="en-US" sz="2800" b="1" dirty="0">
                <a:solidFill>
                  <a:schemeClr val="bg1"/>
                </a:solidFill>
                <a:latin typeface="Montserrat ExtraBold" panose="00000900000000000000" pitchFamily="50" charset="0"/>
              </a:rPr>
              <a:t>BERKAT ROHANI </a:t>
            </a:r>
            <a:r>
              <a:rPr lang="en-US" sz="2800" dirty="0">
                <a:solidFill>
                  <a:schemeClr val="bg2">
                    <a:lumMod val="75000"/>
                  </a:schemeClr>
                </a:solidFill>
                <a:latin typeface="Montserrat ExtraBold" panose="00000900000000000000" pitchFamily="50" charset="0"/>
              </a:rPr>
              <a:t>(</a:t>
            </a:r>
            <a:r>
              <a:rPr lang="id-ID" altLang="en-US" sz="2800" dirty="0">
                <a:solidFill>
                  <a:schemeClr val="bg2">
                    <a:lumMod val="75000"/>
                  </a:schemeClr>
                </a:solidFill>
                <a:latin typeface="Montserrat ExtraBold" panose="00000900000000000000" pitchFamily="50" charset="0"/>
              </a:rPr>
              <a:t>1</a:t>
            </a:r>
            <a:r>
              <a:rPr lang="en-US" altLang="en-US" sz="2800" dirty="0">
                <a:solidFill>
                  <a:schemeClr val="bg2">
                    <a:lumMod val="75000"/>
                  </a:schemeClr>
                </a:solidFill>
                <a:latin typeface="Montserrat ExtraBold" panose="00000900000000000000" pitchFamily="50" charset="0"/>
              </a:rPr>
              <a:t>Kor.</a:t>
            </a:r>
            <a:r>
              <a:rPr lang="id-ID" altLang="en-US" sz="2800" dirty="0">
                <a:solidFill>
                  <a:schemeClr val="bg2">
                    <a:lumMod val="75000"/>
                  </a:schemeClr>
                </a:solidFill>
                <a:latin typeface="Montserrat ExtraBold" panose="00000900000000000000" pitchFamily="50" charset="0"/>
              </a:rPr>
              <a:t> 1:3; 2</a:t>
            </a:r>
            <a:r>
              <a:rPr lang="en-US" altLang="en-US" sz="2800" dirty="0">
                <a:solidFill>
                  <a:schemeClr val="bg2">
                    <a:lumMod val="75000"/>
                  </a:schemeClr>
                </a:solidFill>
                <a:latin typeface="Montserrat ExtraBold" panose="00000900000000000000" pitchFamily="50" charset="0"/>
              </a:rPr>
              <a:t>Kor.</a:t>
            </a:r>
            <a:r>
              <a:rPr lang="id-ID" altLang="en-US" sz="2800" dirty="0">
                <a:solidFill>
                  <a:schemeClr val="bg2">
                    <a:lumMod val="75000"/>
                  </a:schemeClr>
                </a:solidFill>
                <a:latin typeface="Montserrat ExtraBold" panose="00000900000000000000" pitchFamily="50" charset="0"/>
              </a:rPr>
              <a:t> 1:2; Gal</a:t>
            </a:r>
            <a:r>
              <a:rPr lang="en-US" altLang="en-US" sz="2800" dirty="0">
                <a:solidFill>
                  <a:schemeClr val="bg2">
                    <a:lumMod val="75000"/>
                  </a:schemeClr>
                </a:solidFill>
                <a:latin typeface="Montserrat ExtraBold" panose="00000900000000000000" pitchFamily="50" charset="0"/>
              </a:rPr>
              <a:t>.</a:t>
            </a:r>
            <a:r>
              <a:rPr lang="id-ID" altLang="en-US" sz="2800" dirty="0">
                <a:solidFill>
                  <a:schemeClr val="bg2">
                    <a:lumMod val="75000"/>
                  </a:schemeClr>
                </a:solidFill>
                <a:latin typeface="Montserrat ExtraBold" panose="00000900000000000000" pitchFamily="50" charset="0"/>
              </a:rPr>
              <a:t> 1:3; E</a:t>
            </a:r>
            <a:r>
              <a:rPr lang="en-US" altLang="en-US" sz="2800" dirty="0">
                <a:solidFill>
                  <a:schemeClr val="bg2">
                    <a:lumMod val="75000"/>
                  </a:schemeClr>
                </a:solidFill>
                <a:latin typeface="Montserrat ExtraBold" panose="00000900000000000000" pitchFamily="50" charset="0"/>
              </a:rPr>
              <a:t>f.</a:t>
            </a:r>
            <a:r>
              <a:rPr lang="id-ID" altLang="en-US" sz="2800" dirty="0">
                <a:solidFill>
                  <a:schemeClr val="bg2">
                    <a:lumMod val="75000"/>
                  </a:schemeClr>
                </a:solidFill>
                <a:latin typeface="Montserrat ExtraBold" panose="00000900000000000000" pitchFamily="50" charset="0"/>
              </a:rPr>
              <a:t> 1:3; 6:23-24</a:t>
            </a:r>
            <a:r>
              <a:rPr lang="en-US" altLang="en-US" sz="2800" dirty="0">
                <a:solidFill>
                  <a:schemeClr val="bg2">
                    <a:lumMod val="75000"/>
                  </a:schemeClr>
                </a:solidFill>
                <a:latin typeface="Montserrat ExtraBold" panose="00000900000000000000" pitchFamily="50" charset="0"/>
              </a:rPr>
              <a:t>; </a:t>
            </a:r>
            <a:r>
              <a:rPr lang="en-US" altLang="en-US" sz="2800" dirty="0" err="1">
                <a:solidFill>
                  <a:schemeClr val="bg2">
                    <a:lumMod val="75000"/>
                  </a:schemeClr>
                </a:solidFill>
                <a:latin typeface="Montserrat ExtraBold" panose="00000900000000000000" pitchFamily="50" charset="0"/>
              </a:rPr>
              <a:t>dsb</a:t>
            </a:r>
            <a:r>
              <a:rPr lang="en-US" altLang="en-US" sz="2800" dirty="0">
                <a:solidFill>
                  <a:schemeClr val="bg2">
                    <a:lumMod val="75000"/>
                  </a:schemeClr>
                </a:solidFill>
                <a:latin typeface="Montserrat ExtraBold" panose="00000900000000000000" pitchFamily="50" charset="0"/>
              </a:rPr>
              <a:t>). </a:t>
            </a:r>
            <a:endParaRPr lang="id-ID" sz="1600" dirty="0">
              <a:solidFill>
                <a:schemeClr val="bg2">
                  <a:lumMod val="75000"/>
                </a:schemeClr>
              </a:solidFill>
              <a:latin typeface="Montserrat ExtraBold" panose="00000900000000000000" pitchFamily="50" charset="0"/>
            </a:endParaRPr>
          </a:p>
        </p:txBody>
      </p:sp>
      <p:sp>
        <p:nvSpPr>
          <p:cNvPr id="7" name="TextBox 6">
            <a:extLst>
              <a:ext uri="{FF2B5EF4-FFF2-40B4-BE49-F238E27FC236}">
                <a16:creationId xmlns:a16="http://schemas.microsoft.com/office/drawing/2014/main" id="{76BEBE17-5A27-4D78-882C-D9EC7284DADA}"/>
              </a:ext>
            </a:extLst>
          </p:cNvPr>
          <p:cNvSpPr txBox="1"/>
          <p:nvPr/>
        </p:nvSpPr>
        <p:spPr>
          <a:xfrm>
            <a:off x="6096000" y="2377880"/>
            <a:ext cx="5009321" cy="2708434"/>
          </a:xfrm>
          <a:prstGeom prst="rect">
            <a:avLst/>
          </a:prstGeom>
          <a:noFill/>
        </p:spPr>
        <p:txBody>
          <a:bodyPr wrap="square">
            <a:spAutoFit/>
          </a:bodyPr>
          <a:lstStyle/>
          <a:p>
            <a:r>
              <a:rPr lang="en-US" sz="3200" b="1" dirty="0">
                <a:solidFill>
                  <a:srgbClr val="C00000"/>
                </a:solidFill>
                <a:latin typeface="Montserrat ExtraBold" panose="00000900000000000000" pitchFamily="50" charset="0"/>
              </a:rPr>
              <a:t>2 </a:t>
            </a:r>
            <a:r>
              <a:rPr lang="en-US" sz="3200" b="1" dirty="0" err="1">
                <a:solidFill>
                  <a:srgbClr val="C00000"/>
                </a:solidFill>
                <a:latin typeface="Montserrat ExtraBold" panose="00000900000000000000" pitchFamily="50" charset="0"/>
              </a:rPr>
              <a:t>Korintus</a:t>
            </a:r>
            <a:r>
              <a:rPr lang="en-US" sz="3200" b="1" dirty="0">
                <a:solidFill>
                  <a:srgbClr val="C00000"/>
                </a:solidFill>
                <a:latin typeface="Montserrat ExtraBold" panose="00000900000000000000" pitchFamily="50" charset="0"/>
              </a:rPr>
              <a:t> 13:14 </a:t>
            </a:r>
            <a:r>
              <a:rPr lang="en-US" sz="3200" dirty="0">
                <a:solidFill>
                  <a:srgbClr val="C00000"/>
                </a:solidFill>
                <a:latin typeface="Montserrat ExtraBold" panose="00000900000000000000" pitchFamily="50" charset="0"/>
              </a:rPr>
              <a:t> </a:t>
            </a:r>
          </a:p>
          <a:p>
            <a:endParaRPr lang="en-US" sz="2000" dirty="0">
              <a:latin typeface="Century Gothic" panose="020B0502020202020204" pitchFamily="34" charset="0"/>
            </a:endParaRPr>
          </a:p>
          <a:p>
            <a:r>
              <a:rPr lang="en-US" sz="2400" u="sng" dirty="0">
                <a:latin typeface="Montserrat" panose="00000500000000000000" pitchFamily="50" charset="0"/>
              </a:rPr>
              <a:t>Kasih </a:t>
            </a:r>
            <a:r>
              <a:rPr lang="en-US" sz="2400" u="sng" dirty="0" err="1">
                <a:latin typeface="Montserrat" panose="00000500000000000000" pitchFamily="50" charset="0"/>
              </a:rPr>
              <a:t>karunia</a:t>
            </a:r>
            <a:r>
              <a:rPr lang="en-US" sz="2400" dirty="0">
                <a:latin typeface="Montserrat" panose="00000500000000000000" pitchFamily="50" charset="0"/>
              </a:rPr>
              <a:t> </a:t>
            </a:r>
            <a:r>
              <a:rPr lang="en-US" sz="2400" dirty="0" err="1">
                <a:latin typeface="Montserrat" panose="00000500000000000000" pitchFamily="50" charset="0"/>
              </a:rPr>
              <a:t>Tuhan</a:t>
            </a:r>
            <a:r>
              <a:rPr lang="en-US" sz="2400" dirty="0">
                <a:latin typeface="Montserrat" panose="00000500000000000000" pitchFamily="50" charset="0"/>
              </a:rPr>
              <a:t> </a:t>
            </a:r>
            <a:r>
              <a:rPr lang="en-US" sz="2400" dirty="0" err="1">
                <a:latin typeface="Montserrat" panose="00000500000000000000" pitchFamily="50" charset="0"/>
              </a:rPr>
              <a:t>Yesus</a:t>
            </a:r>
            <a:r>
              <a:rPr lang="en-US" sz="2400" dirty="0">
                <a:latin typeface="Montserrat" panose="00000500000000000000" pitchFamily="50" charset="0"/>
              </a:rPr>
              <a:t> </a:t>
            </a:r>
            <a:r>
              <a:rPr lang="en-US" sz="2400" dirty="0" err="1">
                <a:latin typeface="Montserrat" panose="00000500000000000000" pitchFamily="50" charset="0"/>
              </a:rPr>
              <a:t>Kristus</a:t>
            </a:r>
            <a:r>
              <a:rPr lang="en-US" sz="2400" dirty="0">
                <a:latin typeface="Montserrat" panose="00000500000000000000" pitchFamily="50" charset="0"/>
              </a:rPr>
              <a:t>, dan </a:t>
            </a:r>
            <a:r>
              <a:rPr lang="en-US" sz="2400" u="sng" dirty="0" err="1">
                <a:latin typeface="Montserrat" panose="00000500000000000000" pitchFamily="50" charset="0"/>
              </a:rPr>
              <a:t>kasih</a:t>
            </a:r>
            <a:r>
              <a:rPr lang="en-US" sz="2400" dirty="0">
                <a:latin typeface="Montserrat" panose="00000500000000000000" pitchFamily="50" charset="0"/>
              </a:rPr>
              <a:t> Allah, dan </a:t>
            </a:r>
            <a:r>
              <a:rPr lang="en-US" sz="2400" u="sng" dirty="0" err="1">
                <a:latin typeface="Montserrat" panose="00000500000000000000" pitchFamily="50" charset="0"/>
              </a:rPr>
              <a:t>persekutuan</a:t>
            </a:r>
            <a:r>
              <a:rPr lang="en-US" sz="2400" dirty="0">
                <a:latin typeface="Montserrat" panose="00000500000000000000" pitchFamily="50" charset="0"/>
              </a:rPr>
              <a:t> </a:t>
            </a:r>
            <a:r>
              <a:rPr lang="en-US" sz="2400" dirty="0" err="1">
                <a:latin typeface="Montserrat" panose="00000500000000000000" pitchFamily="50" charset="0"/>
              </a:rPr>
              <a:t>Roh</a:t>
            </a:r>
            <a:r>
              <a:rPr lang="en-US" sz="2400" dirty="0">
                <a:latin typeface="Montserrat" panose="00000500000000000000" pitchFamily="50" charset="0"/>
              </a:rPr>
              <a:t> Kudus </a:t>
            </a:r>
            <a:r>
              <a:rPr lang="en-US" sz="2400" dirty="0" err="1">
                <a:latin typeface="Montserrat" panose="00000500000000000000" pitchFamily="50" charset="0"/>
              </a:rPr>
              <a:t>menyertai</a:t>
            </a:r>
            <a:r>
              <a:rPr lang="en-US" sz="2400" dirty="0">
                <a:latin typeface="Montserrat" panose="00000500000000000000" pitchFamily="50" charset="0"/>
              </a:rPr>
              <a:t> </a:t>
            </a:r>
            <a:r>
              <a:rPr lang="en-US" sz="2400" dirty="0" err="1">
                <a:latin typeface="Montserrat" panose="00000500000000000000" pitchFamily="50" charset="0"/>
              </a:rPr>
              <a:t>kamu</a:t>
            </a:r>
            <a:r>
              <a:rPr lang="en-US" sz="2400" dirty="0">
                <a:latin typeface="Montserrat" panose="00000500000000000000" pitchFamily="50" charset="0"/>
              </a:rPr>
              <a:t> </a:t>
            </a:r>
            <a:r>
              <a:rPr lang="en-US" sz="2400" dirty="0" err="1">
                <a:latin typeface="Montserrat" panose="00000500000000000000" pitchFamily="50" charset="0"/>
              </a:rPr>
              <a:t>sekalian</a:t>
            </a:r>
            <a:r>
              <a:rPr lang="en-US" sz="2400" dirty="0">
                <a:latin typeface="Montserrat" panose="00000500000000000000" pitchFamily="50" charset="0"/>
              </a:rPr>
              <a:t>.</a:t>
            </a:r>
            <a:endParaRPr lang="id-ID" sz="2400" dirty="0">
              <a:latin typeface="Montserrat" panose="00000500000000000000" pitchFamily="50" charset="0"/>
            </a:endParaRPr>
          </a:p>
          <a:p>
            <a:endParaRPr lang="id-ID" sz="2200" dirty="0">
              <a:solidFill>
                <a:schemeClr val="tx1">
                  <a:lumMod val="75000"/>
                  <a:lumOff val="25000"/>
                </a:schemeClr>
              </a:solidFill>
              <a:latin typeface="Montserrat" panose="00000500000000000000" pitchFamily="50" charset="0"/>
            </a:endParaRPr>
          </a:p>
        </p:txBody>
      </p:sp>
    </p:spTree>
    <p:extLst>
      <p:ext uri="{BB962C8B-B14F-4D97-AF65-F5344CB8AC3E}">
        <p14:creationId xmlns:p14="http://schemas.microsoft.com/office/powerpoint/2010/main" val="2059972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131BA-0E0B-D7F0-BD34-D395DEFE306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97EBED1-4162-7959-DBD9-0EB73F40B03F}"/>
              </a:ext>
            </a:extLst>
          </p:cNvPr>
          <p:cNvSpPr txBox="1"/>
          <p:nvPr/>
        </p:nvSpPr>
        <p:spPr>
          <a:xfrm>
            <a:off x="571553" y="305068"/>
            <a:ext cx="11048893" cy="6247864"/>
          </a:xfrm>
          <a:prstGeom prst="rect">
            <a:avLst/>
          </a:prstGeom>
          <a:noFill/>
        </p:spPr>
        <p:txBody>
          <a:bodyPr wrap="square">
            <a:spAutoFit/>
          </a:bodyPr>
          <a:lstStyle/>
          <a:p>
            <a:r>
              <a:rPr lang="en-US" sz="2000" b="1" dirty="0">
                <a:solidFill>
                  <a:srgbClr val="C00000"/>
                </a:solidFill>
                <a:latin typeface="Montserrat ExtraBold" panose="00000900000000000000" pitchFamily="50" charset="0"/>
              </a:rPr>
              <a:t>1 </a:t>
            </a:r>
            <a:r>
              <a:rPr lang="en-US" sz="2000" b="1" dirty="0" err="1">
                <a:solidFill>
                  <a:srgbClr val="C00000"/>
                </a:solidFill>
                <a:latin typeface="Montserrat ExtraBold" panose="00000900000000000000" pitchFamily="50" charset="0"/>
              </a:rPr>
              <a:t>Korintus</a:t>
            </a:r>
            <a:r>
              <a:rPr lang="en-US" sz="2000" b="1" dirty="0">
                <a:solidFill>
                  <a:srgbClr val="C00000"/>
                </a:solidFill>
                <a:latin typeface="Montserrat ExtraBold" panose="00000900000000000000" pitchFamily="50" charset="0"/>
              </a:rPr>
              <a:t> 1:3</a:t>
            </a:r>
            <a:endParaRPr lang="en-US" sz="2000" dirty="0">
              <a:solidFill>
                <a:srgbClr val="C00000"/>
              </a:solidFill>
              <a:latin typeface="Montserrat ExtraBold" panose="00000900000000000000" pitchFamily="50" charset="0"/>
            </a:endParaRPr>
          </a:p>
          <a:p>
            <a:r>
              <a:rPr lang="en-US" sz="2000" dirty="0">
                <a:latin typeface="Montserrat" panose="00000500000000000000" pitchFamily="50" charset="0"/>
              </a:rPr>
              <a:t>Kasih </a:t>
            </a:r>
            <a:r>
              <a:rPr lang="en-US" sz="2000" dirty="0" err="1">
                <a:latin typeface="Montserrat" panose="00000500000000000000" pitchFamily="50" charset="0"/>
              </a:rPr>
              <a:t>karunia</a:t>
            </a:r>
            <a:r>
              <a:rPr lang="en-US" sz="2000" dirty="0">
                <a:latin typeface="Montserrat" panose="00000500000000000000" pitchFamily="50" charset="0"/>
              </a:rPr>
              <a:t> dan </a:t>
            </a:r>
            <a:r>
              <a:rPr lang="en-US" sz="2000" dirty="0" err="1">
                <a:latin typeface="Montserrat" panose="00000500000000000000" pitchFamily="50" charset="0"/>
              </a:rPr>
              <a:t>damai</a:t>
            </a:r>
            <a:r>
              <a:rPr lang="en-US" sz="2000" dirty="0">
                <a:latin typeface="Montserrat" panose="00000500000000000000" pitchFamily="50" charset="0"/>
              </a:rPr>
              <a:t> </a:t>
            </a:r>
            <a:r>
              <a:rPr lang="en-US" sz="2000" dirty="0" err="1">
                <a:latin typeface="Montserrat" panose="00000500000000000000" pitchFamily="50" charset="0"/>
              </a:rPr>
              <a:t>sejahtera</a:t>
            </a:r>
            <a:r>
              <a:rPr lang="en-US" sz="2000" dirty="0">
                <a:latin typeface="Montserrat" panose="00000500000000000000" pitchFamily="50" charset="0"/>
              </a:rPr>
              <a:t> </a:t>
            </a:r>
            <a:r>
              <a:rPr lang="en-US" sz="2000" dirty="0" err="1">
                <a:latin typeface="Montserrat" panose="00000500000000000000" pitchFamily="50" charset="0"/>
              </a:rPr>
              <a:t>dari</a:t>
            </a:r>
            <a:r>
              <a:rPr lang="en-US" sz="2000" dirty="0">
                <a:latin typeface="Montserrat" panose="00000500000000000000" pitchFamily="50" charset="0"/>
              </a:rPr>
              <a:t> Allah, Bapa </a:t>
            </a:r>
            <a:r>
              <a:rPr lang="en-US" sz="2000" dirty="0" err="1">
                <a:latin typeface="Montserrat" panose="00000500000000000000" pitchFamily="50" charset="0"/>
              </a:rPr>
              <a:t>kita</a:t>
            </a:r>
            <a:r>
              <a:rPr lang="en-US" sz="2000" dirty="0">
                <a:latin typeface="Montserrat" panose="00000500000000000000" pitchFamily="50" charset="0"/>
              </a:rPr>
              <a:t>, dan </a:t>
            </a:r>
            <a:r>
              <a:rPr lang="en-US" sz="2000" dirty="0" err="1">
                <a:latin typeface="Montserrat" panose="00000500000000000000" pitchFamily="50" charset="0"/>
              </a:rPr>
              <a:t>dari</a:t>
            </a:r>
            <a:r>
              <a:rPr lang="en-US" sz="2000" dirty="0">
                <a:latin typeface="Montserrat" panose="00000500000000000000" pitchFamily="50" charset="0"/>
              </a:rPr>
              <a:t> Tuhan </a:t>
            </a:r>
            <a:r>
              <a:rPr lang="en-US" sz="2000" dirty="0" err="1">
                <a:latin typeface="Montserrat" panose="00000500000000000000" pitchFamily="50" charset="0"/>
              </a:rPr>
              <a:t>Yesus</a:t>
            </a:r>
            <a:r>
              <a:rPr lang="en-US" sz="2000" dirty="0">
                <a:latin typeface="Montserrat" panose="00000500000000000000" pitchFamily="50" charset="0"/>
              </a:rPr>
              <a:t> </a:t>
            </a:r>
            <a:r>
              <a:rPr lang="en-US" sz="2000" dirty="0" err="1">
                <a:latin typeface="Montserrat" panose="00000500000000000000" pitchFamily="50" charset="0"/>
              </a:rPr>
              <a:t>Kristus</a:t>
            </a:r>
            <a:r>
              <a:rPr lang="en-US" sz="2000" dirty="0">
                <a:latin typeface="Montserrat" panose="00000500000000000000" pitchFamily="50" charset="0"/>
              </a:rPr>
              <a:t> </a:t>
            </a:r>
            <a:r>
              <a:rPr lang="en-US" sz="2000" dirty="0" err="1">
                <a:latin typeface="Montserrat" panose="00000500000000000000" pitchFamily="50" charset="0"/>
              </a:rPr>
              <a:t>menyertai</a:t>
            </a:r>
            <a:r>
              <a:rPr lang="en-US" sz="2000" dirty="0">
                <a:latin typeface="Montserrat" panose="00000500000000000000" pitchFamily="50" charset="0"/>
              </a:rPr>
              <a:t> </a:t>
            </a:r>
            <a:r>
              <a:rPr lang="en-US" sz="2000" dirty="0" err="1">
                <a:latin typeface="Montserrat" panose="00000500000000000000" pitchFamily="50" charset="0"/>
              </a:rPr>
              <a:t>kamu</a:t>
            </a:r>
            <a:r>
              <a:rPr lang="en-US" sz="2000" dirty="0">
                <a:latin typeface="Montserrat" panose="00000500000000000000" pitchFamily="50" charset="0"/>
              </a:rPr>
              <a:t>.</a:t>
            </a:r>
            <a:endParaRPr lang="id-ID" sz="2000" dirty="0">
              <a:latin typeface="Montserrat" panose="00000500000000000000" pitchFamily="50" charset="0"/>
            </a:endParaRPr>
          </a:p>
          <a:p>
            <a:endParaRPr lang="en-US" sz="2000" dirty="0">
              <a:solidFill>
                <a:schemeClr val="tx1">
                  <a:lumMod val="75000"/>
                  <a:lumOff val="25000"/>
                </a:schemeClr>
              </a:solidFill>
              <a:latin typeface="Montserrat" panose="00000500000000000000" pitchFamily="50" charset="0"/>
            </a:endParaRPr>
          </a:p>
          <a:p>
            <a:r>
              <a:rPr lang="en-US" sz="2000" b="1" dirty="0">
                <a:solidFill>
                  <a:srgbClr val="C00000"/>
                </a:solidFill>
                <a:latin typeface="Montserrat ExtraBold" panose="00000900000000000000" pitchFamily="50" charset="0"/>
              </a:rPr>
              <a:t>2 </a:t>
            </a:r>
            <a:r>
              <a:rPr lang="en-US" sz="2000" b="1" dirty="0" err="1">
                <a:solidFill>
                  <a:srgbClr val="C00000"/>
                </a:solidFill>
                <a:latin typeface="Montserrat ExtraBold" panose="00000900000000000000" pitchFamily="50" charset="0"/>
              </a:rPr>
              <a:t>Korintus</a:t>
            </a:r>
            <a:r>
              <a:rPr lang="en-US" sz="2000" b="1" dirty="0">
                <a:solidFill>
                  <a:srgbClr val="C00000"/>
                </a:solidFill>
                <a:latin typeface="Montserrat ExtraBold" panose="00000900000000000000" pitchFamily="50" charset="0"/>
              </a:rPr>
              <a:t> 1:2</a:t>
            </a:r>
            <a:endParaRPr lang="en-US" sz="2000" dirty="0">
              <a:solidFill>
                <a:srgbClr val="C00000"/>
              </a:solidFill>
              <a:latin typeface="Montserrat ExtraBold" panose="00000900000000000000" pitchFamily="50" charset="0"/>
            </a:endParaRPr>
          </a:p>
          <a:p>
            <a:r>
              <a:rPr lang="id-ID" sz="2000" dirty="0">
                <a:solidFill>
                  <a:schemeClr val="tx1">
                    <a:lumMod val="75000"/>
                    <a:lumOff val="25000"/>
                  </a:schemeClr>
                </a:solidFill>
                <a:latin typeface="Montserrat" panose="00000500000000000000" pitchFamily="50" charset="0"/>
              </a:rPr>
              <a:t>Kasih karunia dan damai sejahtera dari Allah, Bapa kita, dan dari Tuhan Yesus Kristus menyertai kamu.</a:t>
            </a:r>
            <a:endParaRPr lang="en-US" sz="2000" dirty="0">
              <a:solidFill>
                <a:schemeClr val="tx1">
                  <a:lumMod val="75000"/>
                  <a:lumOff val="25000"/>
                </a:schemeClr>
              </a:solidFill>
              <a:latin typeface="Montserrat" panose="00000500000000000000" pitchFamily="50" charset="0"/>
            </a:endParaRPr>
          </a:p>
          <a:p>
            <a:endParaRPr lang="en-US" sz="2000" dirty="0">
              <a:solidFill>
                <a:schemeClr val="tx1">
                  <a:lumMod val="75000"/>
                  <a:lumOff val="25000"/>
                </a:schemeClr>
              </a:solidFill>
              <a:latin typeface="Montserrat" panose="00000500000000000000" pitchFamily="50" charset="0"/>
            </a:endParaRPr>
          </a:p>
          <a:p>
            <a:r>
              <a:rPr lang="en-US" sz="2000" b="1" dirty="0">
                <a:solidFill>
                  <a:srgbClr val="C00000"/>
                </a:solidFill>
                <a:latin typeface="Montserrat ExtraBold" panose="00000900000000000000" pitchFamily="50" charset="0"/>
              </a:rPr>
              <a:t>Galatia 1:3</a:t>
            </a:r>
            <a:endParaRPr lang="en-US" sz="2000" dirty="0">
              <a:solidFill>
                <a:srgbClr val="C00000"/>
              </a:solidFill>
              <a:latin typeface="Montserrat ExtraBold" panose="00000900000000000000" pitchFamily="50" charset="0"/>
            </a:endParaRPr>
          </a:p>
          <a:p>
            <a:r>
              <a:rPr lang="id-ID" sz="2000" dirty="0">
                <a:solidFill>
                  <a:schemeClr val="tx1">
                    <a:lumMod val="75000"/>
                    <a:lumOff val="25000"/>
                  </a:schemeClr>
                </a:solidFill>
                <a:latin typeface="Montserrat" panose="00000500000000000000" pitchFamily="50" charset="0"/>
              </a:rPr>
              <a:t>kasih karunia menyertai kamu dan damai sejahtera dari Allah, Bapa kita, dan dari Tuhan Yesus Kristus,</a:t>
            </a:r>
            <a:endParaRPr lang="en-US" sz="2000" dirty="0">
              <a:solidFill>
                <a:schemeClr val="tx1">
                  <a:lumMod val="75000"/>
                  <a:lumOff val="25000"/>
                </a:schemeClr>
              </a:solidFill>
              <a:latin typeface="Montserrat" panose="00000500000000000000" pitchFamily="50" charset="0"/>
            </a:endParaRPr>
          </a:p>
          <a:p>
            <a:endParaRPr lang="en-US" sz="2000" dirty="0">
              <a:solidFill>
                <a:schemeClr val="tx1">
                  <a:lumMod val="75000"/>
                  <a:lumOff val="25000"/>
                </a:schemeClr>
              </a:solidFill>
              <a:latin typeface="Montserrat" panose="00000500000000000000" pitchFamily="50" charset="0"/>
            </a:endParaRPr>
          </a:p>
          <a:p>
            <a:r>
              <a:rPr lang="en-US" sz="2000" b="1" dirty="0" err="1">
                <a:solidFill>
                  <a:srgbClr val="C00000"/>
                </a:solidFill>
                <a:latin typeface="Montserrat ExtraBold" panose="00000900000000000000" pitchFamily="50" charset="0"/>
              </a:rPr>
              <a:t>Efesus</a:t>
            </a:r>
            <a:r>
              <a:rPr lang="en-US" sz="2000" b="1" dirty="0">
                <a:solidFill>
                  <a:srgbClr val="C00000"/>
                </a:solidFill>
                <a:latin typeface="Montserrat ExtraBold" panose="00000900000000000000" pitchFamily="50" charset="0"/>
              </a:rPr>
              <a:t> 1:3</a:t>
            </a:r>
            <a:endParaRPr lang="en-US" sz="2000" dirty="0">
              <a:solidFill>
                <a:srgbClr val="C00000"/>
              </a:solidFill>
              <a:latin typeface="Montserrat ExtraBold" panose="00000900000000000000" pitchFamily="50" charset="0"/>
            </a:endParaRPr>
          </a:p>
          <a:p>
            <a:r>
              <a:rPr lang="id-ID" sz="2000" dirty="0">
                <a:solidFill>
                  <a:schemeClr val="tx1">
                    <a:lumMod val="75000"/>
                    <a:lumOff val="25000"/>
                  </a:schemeClr>
                </a:solidFill>
                <a:latin typeface="Montserrat" panose="00000500000000000000" pitchFamily="50" charset="0"/>
              </a:rPr>
              <a:t>Terpujilah Allah dan Bapa Tuhan kita Yesus Kristus yang dalam Kristus telah mengaruniakan kepada kita segala berkat rohani di dalam sorga.</a:t>
            </a:r>
            <a:endParaRPr lang="en-US" sz="2000" dirty="0">
              <a:solidFill>
                <a:schemeClr val="tx1">
                  <a:lumMod val="75000"/>
                  <a:lumOff val="25000"/>
                </a:schemeClr>
              </a:solidFill>
              <a:latin typeface="Montserrat" panose="00000500000000000000" pitchFamily="50" charset="0"/>
            </a:endParaRPr>
          </a:p>
          <a:p>
            <a:endParaRPr lang="en-US" sz="2000" dirty="0">
              <a:solidFill>
                <a:schemeClr val="tx1">
                  <a:lumMod val="75000"/>
                  <a:lumOff val="25000"/>
                </a:schemeClr>
              </a:solidFill>
              <a:latin typeface="Montserrat" panose="00000500000000000000" pitchFamily="50" charset="0"/>
            </a:endParaRPr>
          </a:p>
          <a:p>
            <a:r>
              <a:rPr lang="en-US" sz="2000" b="1" dirty="0" err="1">
                <a:solidFill>
                  <a:srgbClr val="C00000"/>
                </a:solidFill>
                <a:latin typeface="Montserrat ExtraBold" panose="00000900000000000000" pitchFamily="50" charset="0"/>
              </a:rPr>
              <a:t>Efesus</a:t>
            </a:r>
            <a:r>
              <a:rPr lang="en-US" sz="2000" b="1" dirty="0">
                <a:solidFill>
                  <a:srgbClr val="C00000"/>
                </a:solidFill>
                <a:latin typeface="Montserrat ExtraBold" panose="00000900000000000000" pitchFamily="50" charset="0"/>
              </a:rPr>
              <a:t> 6:23-24</a:t>
            </a:r>
            <a:endParaRPr lang="en-US" sz="2000" dirty="0">
              <a:solidFill>
                <a:srgbClr val="C00000"/>
              </a:solidFill>
              <a:latin typeface="Montserrat ExtraBold" panose="00000900000000000000" pitchFamily="50" charset="0"/>
            </a:endParaRPr>
          </a:p>
          <a:p>
            <a:r>
              <a:rPr lang="id-ID" sz="2000" dirty="0">
                <a:solidFill>
                  <a:schemeClr val="tx1">
                    <a:lumMod val="75000"/>
                    <a:lumOff val="25000"/>
                  </a:schemeClr>
                </a:solidFill>
                <a:latin typeface="Montserrat" panose="00000500000000000000" pitchFamily="50" charset="0"/>
              </a:rPr>
              <a:t> </a:t>
            </a:r>
            <a:r>
              <a:rPr lang="id-ID" sz="2000" dirty="0">
                <a:solidFill>
                  <a:srgbClr val="FF0000"/>
                </a:solidFill>
                <a:latin typeface="Montserrat" panose="00000500000000000000" pitchFamily="50" charset="0"/>
              </a:rPr>
              <a:t>23</a:t>
            </a:r>
            <a:r>
              <a:rPr lang="id-ID" sz="2000" dirty="0">
                <a:solidFill>
                  <a:schemeClr val="tx1">
                    <a:lumMod val="75000"/>
                    <a:lumOff val="25000"/>
                  </a:schemeClr>
                </a:solidFill>
                <a:latin typeface="Montserrat" panose="00000500000000000000" pitchFamily="50" charset="0"/>
              </a:rPr>
              <a:t>Damai sejahtera dan kasih dengan iman dari Allah, Bapa dan dari Tuhan Yesus Kristus menyertai sekalian saudara. </a:t>
            </a:r>
            <a:r>
              <a:rPr lang="id-ID" sz="2000" dirty="0">
                <a:solidFill>
                  <a:srgbClr val="FF0000"/>
                </a:solidFill>
                <a:latin typeface="Montserrat" panose="00000500000000000000" pitchFamily="50" charset="0"/>
              </a:rPr>
              <a:t>24</a:t>
            </a:r>
            <a:r>
              <a:rPr lang="id-ID" sz="2000" dirty="0">
                <a:solidFill>
                  <a:schemeClr val="tx1">
                    <a:lumMod val="75000"/>
                    <a:lumOff val="25000"/>
                  </a:schemeClr>
                </a:solidFill>
                <a:latin typeface="Montserrat" panose="00000500000000000000" pitchFamily="50" charset="0"/>
              </a:rPr>
              <a:t>Kasih karunia menyertai semua orang, yang mengasihi Tuhan kita Yesus Kristus dengan kasih yang tidak binasa.</a:t>
            </a:r>
          </a:p>
        </p:txBody>
      </p:sp>
    </p:spTree>
    <p:extLst>
      <p:ext uri="{BB962C8B-B14F-4D97-AF65-F5344CB8AC3E}">
        <p14:creationId xmlns:p14="http://schemas.microsoft.com/office/powerpoint/2010/main" val="2703960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Trinity, like a C-major - The Southern Cross">
            <a:extLst>
              <a:ext uri="{FF2B5EF4-FFF2-40B4-BE49-F238E27FC236}">
                <a16:creationId xmlns:a16="http://schemas.microsoft.com/office/drawing/2014/main" id="{619230B4-37E7-44FA-A7B4-25BBAE770F61}"/>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9674" r="17935"/>
          <a:stretch/>
        </p:blipFill>
        <p:spPr bwMode="auto">
          <a:xfrm>
            <a:off x="848139" y="0"/>
            <a:ext cx="4189226" cy="37768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DE676DC-29D1-4E20-9755-35049AD665F9}"/>
              </a:ext>
            </a:extLst>
          </p:cNvPr>
          <p:cNvSpPr/>
          <p:nvPr/>
        </p:nvSpPr>
        <p:spPr>
          <a:xfrm>
            <a:off x="848139" y="3776870"/>
            <a:ext cx="4200939" cy="24781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24AA2E1-4C19-46E0-8CAA-FA8A0B33800A}"/>
              </a:ext>
            </a:extLst>
          </p:cNvPr>
          <p:cNvSpPr txBox="1"/>
          <p:nvPr/>
        </p:nvSpPr>
        <p:spPr>
          <a:xfrm>
            <a:off x="1412126" y="4107422"/>
            <a:ext cx="3305649" cy="1815882"/>
          </a:xfrm>
          <a:prstGeom prst="rect">
            <a:avLst/>
          </a:prstGeom>
          <a:noFill/>
        </p:spPr>
        <p:txBody>
          <a:bodyPr wrap="square">
            <a:spAutoFit/>
          </a:bodyPr>
          <a:lstStyle/>
          <a:p>
            <a:r>
              <a:rPr lang="en-US" sz="2800" b="1" dirty="0">
                <a:solidFill>
                  <a:schemeClr val="bg1"/>
                </a:solidFill>
                <a:latin typeface="Montserrat ExtraBold" panose="00000900000000000000" pitchFamily="50" charset="0"/>
              </a:rPr>
              <a:t>KESATUAN IDENTIFIKASI UNTUK YHWH </a:t>
            </a:r>
            <a:r>
              <a:rPr lang="en-US" sz="2800" dirty="0">
                <a:solidFill>
                  <a:schemeClr val="bg1"/>
                </a:solidFill>
                <a:latin typeface="Montserrat ExtraBold" panose="00000900000000000000" pitchFamily="50" charset="0"/>
              </a:rPr>
              <a:t>(Yes. 6:1-8)</a:t>
            </a:r>
            <a:endParaRPr lang="id-ID" sz="2800" dirty="0">
              <a:solidFill>
                <a:schemeClr val="bg2">
                  <a:lumMod val="75000"/>
                </a:schemeClr>
              </a:solidFill>
              <a:latin typeface="Montserrat ExtraBold" panose="00000900000000000000" pitchFamily="50" charset="0"/>
            </a:endParaRPr>
          </a:p>
        </p:txBody>
      </p:sp>
      <p:sp>
        <p:nvSpPr>
          <p:cNvPr id="7" name="TextBox 6">
            <a:extLst>
              <a:ext uri="{FF2B5EF4-FFF2-40B4-BE49-F238E27FC236}">
                <a16:creationId xmlns:a16="http://schemas.microsoft.com/office/drawing/2014/main" id="{76BEBE17-5A27-4D78-882C-D9EC7284DADA}"/>
              </a:ext>
            </a:extLst>
          </p:cNvPr>
          <p:cNvSpPr txBox="1"/>
          <p:nvPr/>
        </p:nvSpPr>
        <p:spPr>
          <a:xfrm>
            <a:off x="5744049" y="2807374"/>
            <a:ext cx="5772090" cy="1938992"/>
          </a:xfrm>
          <a:prstGeom prst="rect">
            <a:avLst/>
          </a:prstGeom>
          <a:noFill/>
        </p:spPr>
        <p:txBody>
          <a:bodyPr wrap="square">
            <a:spAutoFit/>
          </a:bodyPr>
          <a:lstStyle/>
          <a:p>
            <a:pPr marL="725576" lvl="1" indent="-342900">
              <a:buFont typeface="Arial" panose="020B0604020202020204" pitchFamily="34" charset="0"/>
              <a:buChar char="•"/>
            </a:pPr>
            <a:r>
              <a:rPr lang="en-US" sz="2400" dirty="0" err="1">
                <a:latin typeface="Montserrat" panose="00000500000000000000" pitchFamily="50" charset="0"/>
              </a:rPr>
              <a:t>Yesaya</a:t>
            </a:r>
            <a:r>
              <a:rPr lang="en-US" sz="2400" dirty="0">
                <a:latin typeface="Montserrat" panose="00000500000000000000" pitchFamily="50" charset="0"/>
              </a:rPr>
              <a:t> </a:t>
            </a:r>
            <a:r>
              <a:rPr lang="en-US" sz="2400" dirty="0" err="1">
                <a:latin typeface="Montserrat" panose="00000500000000000000" pitchFamily="50" charset="0"/>
              </a:rPr>
              <a:t>melihat</a:t>
            </a:r>
            <a:r>
              <a:rPr lang="en-US" sz="2400" dirty="0">
                <a:latin typeface="Montserrat" panose="00000500000000000000" pitchFamily="50" charset="0"/>
              </a:rPr>
              <a:t> </a:t>
            </a:r>
            <a:r>
              <a:rPr lang="en-US" sz="2400" u="sng" dirty="0">
                <a:latin typeface="Montserrat" panose="00000500000000000000" pitchFamily="50" charset="0"/>
              </a:rPr>
              <a:t>TUHAN</a:t>
            </a:r>
            <a:r>
              <a:rPr lang="en-US" sz="2400" dirty="0">
                <a:latin typeface="Montserrat" panose="00000500000000000000" pitchFamily="50" charset="0"/>
              </a:rPr>
              <a:t> (Yes. 6:1)</a:t>
            </a:r>
          </a:p>
          <a:p>
            <a:pPr marL="725576" lvl="1" indent="-342900">
              <a:buFont typeface="Arial" panose="020B0604020202020204" pitchFamily="34" charset="0"/>
              <a:buChar char="•"/>
            </a:pPr>
            <a:r>
              <a:rPr lang="en-US" sz="2400" u="sng" dirty="0" err="1">
                <a:latin typeface="Montserrat" panose="00000500000000000000" pitchFamily="50" charset="0"/>
              </a:rPr>
              <a:t>Roh</a:t>
            </a:r>
            <a:r>
              <a:rPr lang="en-US" sz="2400" u="sng" dirty="0">
                <a:latin typeface="Montserrat" panose="00000500000000000000" pitchFamily="50" charset="0"/>
              </a:rPr>
              <a:t> Kudus</a:t>
            </a:r>
            <a:r>
              <a:rPr lang="en-US" sz="2400" dirty="0">
                <a:latin typeface="Montserrat" panose="00000500000000000000" pitchFamily="50" charset="0"/>
              </a:rPr>
              <a:t> </a:t>
            </a:r>
            <a:r>
              <a:rPr lang="en-US" sz="2400" dirty="0" err="1">
                <a:latin typeface="Montserrat" panose="00000500000000000000" pitchFamily="50" charset="0"/>
              </a:rPr>
              <a:t>berfirman</a:t>
            </a:r>
            <a:r>
              <a:rPr lang="en-US" sz="2400" dirty="0">
                <a:latin typeface="Montserrat" panose="00000500000000000000" pitchFamily="50" charset="0"/>
              </a:rPr>
              <a:t> </a:t>
            </a:r>
            <a:r>
              <a:rPr lang="en-US" sz="2400" dirty="0" err="1">
                <a:latin typeface="Montserrat" panose="00000500000000000000" pitchFamily="50" charset="0"/>
              </a:rPr>
              <a:t>kepada</a:t>
            </a:r>
            <a:r>
              <a:rPr lang="en-US" sz="2400" dirty="0">
                <a:latin typeface="Montserrat" panose="00000500000000000000" pitchFamily="50" charset="0"/>
              </a:rPr>
              <a:t> </a:t>
            </a:r>
            <a:r>
              <a:rPr lang="en-US" sz="2400" dirty="0" err="1">
                <a:latin typeface="Montserrat" panose="00000500000000000000" pitchFamily="50" charset="0"/>
              </a:rPr>
              <a:t>Yesaya</a:t>
            </a:r>
            <a:r>
              <a:rPr lang="en-US" sz="2400" dirty="0">
                <a:latin typeface="Montserrat" panose="00000500000000000000" pitchFamily="50" charset="0"/>
              </a:rPr>
              <a:t> (</a:t>
            </a:r>
            <a:r>
              <a:rPr lang="en-US" sz="2400" dirty="0" err="1">
                <a:latin typeface="Montserrat" panose="00000500000000000000" pitchFamily="50" charset="0"/>
              </a:rPr>
              <a:t>Kis</a:t>
            </a:r>
            <a:r>
              <a:rPr lang="en-US" sz="2400" dirty="0">
                <a:latin typeface="Montserrat" panose="00000500000000000000" pitchFamily="50" charset="0"/>
              </a:rPr>
              <a:t>. 28:25-27)</a:t>
            </a:r>
          </a:p>
          <a:p>
            <a:pPr marL="725576" lvl="1" indent="-342900">
              <a:buFont typeface="Arial" panose="020B0604020202020204" pitchFamily="34" charset="0"/>
              <a:buChar char="•"/>
            </a:pPr>
            <a:r>
              <a:rPr lang="en-US" sz="2400" dirty="0" err="1">
                <a:latin typeface="Montserrat" panose="00000500000000000000" pitchFamily="50" charset="0"/>
              </a:rPr>
              <a:t>Yesaya</a:t>
            </a:r>
            <a:r>
              <a:rPr lang="en-US" sz="2400" dirty="0">
                <a:latin typeface="Montserrat" panose="00000500000000000000" pitchFamily="50" charset="0"/>
              </a:rPr>
              <a:t> </a:t>
            </a:r>
            <a:r>
              <a:rPr lang="en-US" sz="2400" dirty="0" err="1">
                <a:latin typeface="Montserrat" panose="00000500000000000000" pitchFamily="50" charset="0"/>
              </a:rPr>
              <a:t>melihat</a:t>
            </a:r>
            <a:r>
              <a:rPr lang="en-US" sz="2400" dirty="0">
                <a:latin typeface="Montserrat" panose="00000500000000000000" pitchFamily="50" charset="0"/>
              </a:rPr>
              <a:t> </a:t>
            </a:r>
            <a:r>
              <a:rPr lang="en-US" sz="2400" dirty="0" err="1">
                <a:latin typeface="Montserrat" panose="00000500000000000000" pitchFamily="50" charset="0"/>
              </a:rPr>
              <a:t>kemuliaan</a:t>
            </a:r>
            <a:r>
              <a:rPr lang="en-US" sz="2400" dirty="0">
                <a:latin typeface="Montserrat" panose="00000500000000000000" pitchFamily="50" charset="0"/>
              </a:rPr>
              <a:t> </a:t>
            </a:r>
            <a:r>
              <a:rPr lang="en-US" sz="2400" u="sng" dirty="0" err="1">
                <a:latin typeface="Montserrat" panose="00000500000000000000" pitchFamily="50" charset="0"/>
              </a:rPr>
              <a:t>Kristus</a:t>
            </a:r>
            <a:r>
              <a:rPr lang="en-US" sz="2400" dirty="0">
                <a:latin typeface="Montserrat" panose="00000500000000000000" pitchFamily="50" charset="0"/>
              </a:rPr>
              <a:t> (Yoh. 12:39-41</a:t>
            </a:r>
            <a:r>
              <a:rPr lang="id-ID" altLang="en-US" sz="2400" dirty="0">
                <a:latin typeface="Montserrat" panose="00000500000000000000" pitchFamily="50" charset="0"/>
              </a:rPr>
              <a:t>)</a:t>
            </a:r>
            <a:endParaRPr lang="id-ID" sz="2200" dirty="0">
              <a:solidFill>
                <a:schemeClr val="tx1">
                  <a:lumMod val="75000"/>
                  <a:lumOff val="25000"/>
                </a:schemeClr>
              </a:solidFill>
              <a:latin typeface="Montserrat" panose="00000500000000000000" pitchFamily="50" charset="0"/>
            </a:endParaRPr>
          </a:p>
        </p:txBody>
      </p:sp>
    </p:spTree>
    <p:extLst>
      <p:ext uri="{BB962C8B-B14F-4D97-AF65-F5344CB8AC3E}">
        <p14:creationId xmlns:p14="http://schemas.microsoft.com/office/powerpoint/2010/main" val="3221467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9B8E5-CBCA-307E-2C0E-40211EA953F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BE76EE1-E053-6CEF-C31B-6918AF6C9C17}"/>
              </a:ext>
            </a:extLst>
          </p:cNvPr>
          <p:cNvSpPr txBox="1"/>
          <p:nvPr/>
        </p:nvSpPr>
        <p:spPr>
          <a:xfrm>
            <a:off x="706640" y="474345"/>
            <a:ext cx="10778720" cy="6001643"/>
          </a:xfrm>
          <a:prstGeom prst="rect">
            <a:avLst/>
          </a:prstGeom>
          <a:noFill/>
        </p:spPr>
        <p:txBody>
          <a:bodyPr wrap="square">
            <a:spAutoFit/>
          </a:bodyPr>
          <a:lstStyle/>
          <a:p>
            <a:pPr marL="382676" lvl="1" algn="ctr"/>
            <a:r>
              <a:rPr lang="en-US" sz="2400" b="1" dirty="0" err="1">
                <a:solidFill>
                  <a:srgbClr val="C00000"/>
                </a:solidFill>
                <a:latin typeface="Montserrat ExtraBold" panose="00000900000000000000" pitchFamily="50" charset="0"/>
              </a:rPr>
              <a:t>Yesaya</a:t>
            </a:r>
            <a:r>
              <a:rPr lang="en-US" sz="2400" b="1" dirty="0">
                <a:solidFill>
                  <a:srgbClr val="C00000"/>
                </a:solidFill>
                <a:latin typeface="Montserrat ExtraBold" panose="00000900000000000000" pitchFamily="50" charset="0"/>
              </a:rPr>
              <a:t> 6:1-8</a:t>
            </a:r>
            <a:endParaRPr lang="en-US" sz="2400" dirty="0">
              <a:solidFill>
                <a:srgbClr val="C00000"/>
              </a:solidFill>
              <a:latin typeface="Montserrat ExtraBold" panose="00000900000000000000" pitchFamily="50" charset="0"/>
            </a:endParaRPr>
          </a:p>
          <a:p>
            <a:pPr marL="382676" lvl="1" algn="ctr"/>
            <a:endParaRPr lang="en-US" b="1" dirty="0">
              <a:solidFill>
                <a:srgbClr val="FF0000"/>
              </a:solidFill>
              <a:latin typeface="Montserrat" panose="00000500000000000000" pitchFamily="50" charset="0"/>
            </a:endParaRPr>
          </a:p>
          <a:p>
            <a:pPr marL="382676" lvl="1" algn="ctr"/>
            <a:r>
              <a:rPr lang="id-ID" dirty="0">
                <a:solidFill>
                  <a:srgbClr val="FF0000"/>
                </a:solidFill>
                <a:latin typeface="Montserrat" panose="00000500000000000000" pitchFamily="50" charset="0"/>
              </a:rPr>
              <a:t>1</a:t>
            </a:r>
            <a:r>
              <a:rPr lang="id-ID" dirty="0">
                <a:solidFill>
                  <a:schemeClr val="tx1">
                    <a:lumMod val="75000"/>
                    <a:lumOff val="25000"/>
                  </a:schemeClr>
                </a:solidFill>
                <a:latin typeface="Montserrat" panose="00000500000000000000" pitchFamily="50" charset="0"/>
              </a:rPr>
              <a:t> Dalam tahun matinya raja Uzia aku melihat Tuhan duduk di atas takhta yang tinggi dan menjulang, dan ujung jubah-Nya memenuhi Bait Suci.</a:t>
            </a:r>
            <a:endParaRPr lang="en-US" dirty="0">
              <a:solidFill>
                <a:schemeClr val="tx1">
                  <a:lumMod val="75000"/>
                  <a:lumOff val="25000"/>
                </a:schemeClr>
              </a:solidFill>
              <a:latin typeface="Montserrat" panose="00000500000000000000" pitchFamily="50" charset="0"/>
            </a:endParaRPr>
          </a:p>
          <a:p>
            <a:pPr marL="382676" lvl="1" algn="ctr"/>
            <a:r>
              <a:rPr lang="id-ID" dirty="0">
                <a:solidFill>
                  <a:srgbClr val="FF0000"/>
                </a:solidFill>
                <a:latin typeface="Montserrat" panose="00000500000000000000" pitchFamily="50" charset="0"/>
              </a:rPr>
              <a:t>2</a:t>
            </a:r>
            <a:r>
              <a:rPr lang="en-US" dirty="0">
                <a:solidFill>
                  <a:srgbClr val="FF0000"/>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Para Serafim berdiri di sebelah atas-Nya, masing-masing mempunyai enam sayap; dua sayap dipakai untuk menutupi muka mereka, dua sayap dipakai untuk menutupi kaki mereka dan dua sayap dipakai untuk melayang-layang.</a:t>
            </a:r>
            <a:endParaRPr lang="en-US" dirty="0">
              <a:solidFill>
                <a:schemeClr val="tx1">
                  <a:lumMod val="75000"/>
                  <a:lumOff val="25000"/>
                </a:schemeClr>
              </a:solidFill>
              <a:latin typeface="Montserrat" panose="00000500000000000000" pitchFamily="50" charset="0"/>
            </a:endParaRPr>
          </a:p>
          <a:p>
            <a:pPr marL="382676" lvl="1" algn="ctr"/>
            <a:r>
              <a:rPr lang="id-ID" dirty="0">
                <a:solidFill>
                  <a:srgbClr val="FF0000"/>
                </a:solidFill>
                <a:latin typeface="Montserrat" panose="00000500000000000000" pitchFamily="50" charset="0"/>
              </a:rPr>
              <a:t>3</a:t>
            </a:r>
            <a:r>
              <a:rPr lang="id-ID" dirty="0">
                <a:solidFill>
                  <a:schemeClr val="tx1">
                    <a:lumMod val="75000"/>
                    <a:lumOff val="25000"/>
                  </a:schemeClr>
                </a:solidFill>
                <a:latin typeface="Montserrat" panose="00000500000000000000" pitchFamily="50" charset="0"/>
              </a:rPr>
              <a:t> Dan mereka berseru seorang kepada seorang, katanya:</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”Kudus, kudus, kuduslah Tuhan semesta alam,</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seluruh bumi penuh kemuliaan-Nya!”</a:t>
            </a:r>
          </a:p>
          <a:p>
            <a:pPr marL="382676" lvl="1" algn="ctr"/>
            <a:r>
              <a:rPr lang="id-ID" dirty="0">
                <a:solidFill>
                  <a:srgbClr val="FF0000"/>
                </a:solidFill>
                <a:latin typeface="Montserrat" panose="00000500000000000000" pitchFamily="50" charset="0"/>
              </a:rPr>
              <a:t>4</a:t>
            </a:r>
            <a:r>
              <a:rPr lang="id-ID" dirty="0">
                <a:solidFill>
                  <a:schemeClr val="tx1">
                    <a:lumMod val="75000"/>
                    <a:lumOff val="25000"/>
                  </a:schemeClr>
                </a:solidFill>
                <a:latin typeface="Montserrat" panose="00000500000000000000" pitchFamily="50" charset="0"/>
              </a:rPr>
              <a:t> Maka bergoyanglah alas ambang pintu disebabkan suara orang yang berseru itu dan rumah itu pun penuhlah dengan asap.</a:t>
            </a:r>
            <a:endParaRPr lang="en-US" dirty="0">
              <a:solidFill>
                <a:schemeClr val="tx1">
                  <a:lumMod val="75000"/>
                  <a:lumOff val="25000"/>
                </a:schemeClr>
              </a:solidFill>
              <a:latin typeface="Montserrat" panose="00000500000000000000" pitchFamily="50" charset="0"/>
            </a:endParaRPr>
          </a:p>
          <a:p>
            <a:pPr marL="382676" lvl="1" algn="ctr"/>
            <a:r>
              <a:rPr lang="id-ID" dirty="0">
                <a:solidFill>
                  <a:srgbClr val="FF0000"/>
                </a:solidFill>
                <a:latin typeface="Montserrat" panose="00000500000000000000" pitchFamily="50" charset="0"/>
              </a:rPr>
              <a:t>5</a:t>
            </a:r>
            <a:r>
              <a:rPr lang="en-US" dirty="0">
                <a:solidFill>
                  <a:srgbClr val="FF0000"/>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Lalu kataku:</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”Celakalah aku! aku binasa!</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Sebab aku ini seorang yang najis bibir,</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dan aku tinggal</a:t>
            </a:r>
          </a:p>
          <a:p>
            <a:pPr marL="382676" lvl="1" algn="ctr"/>
            <a:r>
              <a:rPr lang="id-ID" dirty="0">
                <a:solidFill>
                  <a:schemeClr val="tx1">
                    <a:lumMod val="75000"/>
                    <a:lumOff val="25000"/>
                  </a:schemeClr>
                </a:solidFill>
                <a:latin typeface="Montserrat" panose="00000500000000000000" pitchFamily="50" charset="0"/>
              </a:rPr>
              <a:t>di tengah-tengah bangsa yang najis bibir,</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namun mataku telah melihat Sang Raja,</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yakni Tuhan semesta alam.”</a:t>
            </a:r>
          </a:p>
          <a:p>
            <a:pPr marL="382676" lvl="1" algn="ctr"/>
            <a:r>
              <a:rPr lang="id-ID" dirty="0">
                <a:solidFill>
                  <a:srgbClr val="FF0000"/>
                </a:solidFill>
                <a:latin typeface="Montserrat" panose="00000500000000000000" pitchFamily="50" charset="0"/>
              </a:rPr>
              <a:t>6</a:t>
            </a:r>
            <a:r>
              <a:rPr lang="en-US" dirty="0">
                <a:solidFill>
                  <a:srgbClr val="FF0000"/>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Tetapi seorang dari pada Serafim itu terbang mendapatkan aku; di tangannya ada bara, yang diambilnya dengan sepit dari atas mezbah.</a:t>
            </a:r>
            <a:endParaRPr lang="en-US" dirty="0">
              <a:solidFill>
                <a:schemeClr val="tx1">
                  <a:lumMod val="75000"/>
                  <a:lumOff val="25000"/>
                </a:schemeClr>
              </a:solidFill>
              <a:latin typeface="Montserrat" panose="00000500000000000000" pitchFamily="50" charset="0"/>
            </a:endParaRPr>
          </a:p>
          <a:p>
            <a:pPr marL="382676" lvl="1" algn="ctr"/>
            <a:r>
              <a:rPr lang="id-ID" dirty="0">
                <a:solidFill>
                  <a:srgbClr val="FF0000"/>
                </a:solidFill>
                <a:latin typeface="Montserrat" panose="00000500000000000000" pitchFamily="50" charset="0"/>
              </a:rPr>
              <a:t>7</a:t>
            </a:r>
            <a:r>
              <a:rPr lang="en-US" dirty="0">
                <a:solidFill>
                  <a:srgbClr val="FF0000"/>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Ia menyentuhkannya kepada mulutku serta berkata:</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”Lihat, ini telah menyentuh bibirmu,</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maka kesalahanmu telah dihapus dan dosamu telah diampuni.”</a:t>
            </a:r>
          </a:p>
          <a:p>
            <a:pPr marL="382676" lvl="1" algn="ctr"/>
            <a:r>
              <a:rPr lang="id-ID" dirty="0">
                <a:solidFill>
                  <a:srgbClr val="FF0000"/>
                </a:solidFill>
                <a:latin typeface="Montserrat" panose="00000500000000000000" pitchFamily="50" charset="0"/>
              </a:rPr>
              <a:t>8</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Lalu aku mendengar suara Tuhan berkata:</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”Siapakah yang akan Kuutus,</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dan siapakah yang mau pergi untuk Aku?”</a:t>
            </a:r>
            <a:r>
              <a:rPr lang="en-US" dirty="0">
                <a:solidFill>
                  <a:schemeClr val="tx1">
                    <a:lumMod val="75000"/>
                    <a:lumOff val="25000"/>
                  </a:schemeClr>
                </a:solidFill>
                <a:latin typeface="Montserrat" panose="00000500000000000000" pitchFamily="50" charset="0"/>
              </a:rPr>
              <a:t> </a:t>
            </a:r>
            <a:r>
              <a:rPr lang="id-ID" dirty="0">
                <a:solidFill>
                  <a:schemeClr val="tx1">
                    <a:lumMod val="75000"/>
                    <a:lumOff val="25000"/>
                  </a:schemeClr>
                </a:solidFill>
                <a:latin typeface="Montserrat" panose="00000500000000000000" pitchFamily="50" charset="0"/>
              </a:rPr>
              <a:t>Maka sahutku: ”Ini aku, utuslah aku!”</a:t>
            </a:r>
          </a:p>
        </p:txBody>
      </p:sp>
    </p:spTree>
    <p:extLst>
      <p:ext uri="{BB962C8B-B14F-4D97-AF65-F5344CB8AC3E}">
        <p14:creationId xmlns:p14="http://schemas.microsoft.com/office/powerpoint/2010/main" val="1540756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85369-DC58-9B46-1DF0-653E3CE0464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971FF94-49AC-5647-5200-08BF77F8392D}"/>
              </a:ext>
            </a:extLst>
          </p:cNvPr>
          <p:cNvSpPr txBox="1"/>
          <p:nvPr/>
        </p:nvSpPr>
        <p:spPr>
          <a:xfrm>
            <a:off x="706640" y="181957"/>
            <a:ext cx="10778720" cy="6494085"/>
          </a:xfrm>
          <a:prstGeom prst="rect">
            <a:avLst/>
          </a:prstGeom>
          <a:noFill/>
        </p:spPr>
        <p:txBody>
          <a:bodyPr wrap="square">
            <a:spAutoFit/>
          </a:bodyPr>
          <a:lstStyle/>
          <a:p>
            <a:pPr marL="382676" lvl="1" algn="ctr"/>
            <a:r>
              <a:rPr lang="en-US" sz="2000" b="1" dirty="0" err="1">
                <a:solidFill>
                  <a:srgbClr val="C00000"/>
                </a:solidFill>
                <a:latin typeface="Montserrat ExtraBold" panose="00000900000000000000" pitchFamily="50" charset="0"/>
              </a:rPr>
              <a:t>Kisah</a:t>
            </a:r>
            <a:r>
              <a:rPr lang="en-US" sz="2000" b="1" dirty="0">
                <a:solidFill>
                  <a:srgbClr val="C00000"/>
                </a:solidFill>
                <a:latin typeface="Montserrat ExtraBold" panose="00000900000000000000" pitchFamily="50" charset="0"/>
              </a:rPr>
              <a:t> Para Rasul 28:25-27</a:t>
            </a:r>
            <a:endParaRPr lang="en-US" sz="2000" dirty="0">
              <a:solidFill>
                <a:srgbClr val="C00000"/>
              </a:solidFill>
              <a:latin typeface="Montserrat ExtraBold" panose="00000900000000000000" pitchFamily="50" charset="0"/>
            </a:endParaRPr>
          </a:p>
          <a:p>
            <a:pPr marL="382676" lvl="1" algn="ctr"/>
            <a:endParaRPr lang="en-US" sz="2000" b="1" dirty="0">
              <a:solidFill>
                <a:srgbClr val="FF0000"/>
              </a:solidFill>
              <a:latin typeface="Montserrat" panose="00000500000000000000" pitchFamily="50" charset="0"/>
            </a:endParaRPr>
          </a:p>
          <a:p>
            <a:pPr marL="382676" lvl="1" algn="ctr"/>
            <a:r>
              <a:rPr lang="id-ID" sz="2000" dirty="0">
                <a:solidFill>
                  <a:srgbClr val="FF0000"/>
                </a:solidFill>
                <a:latin typeface="Montserrat" panose="00000500000000000000" pitchFamily="50" charset="0"/>
              </a:rPr>
              <a:t>25</a:t>
            </a:r>
            <a:r>
              <a:rPr lang="en-US" sz="2000" dirty="0">
                <a:solidFill>
                  <a:srgbClr val="FF0000"/>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Maka bubarlah pertemuan itu dengan tidak ada kesesuaian di antara mereka. Tetapi Paulus masih mengatakan perkataan yang satu ini: ”Tepatlah firman yang disampaikan Roh Kudus kepada nenek moyang kita dengan perantaraan nabi Yesaya:</a:t>
            </a:r>
          </a:p>
          <a:p>
            <a:pPr marL="382676" lvl="1" algn="ctr"/>
            <a:r>
              <a:rPr lang="id-ID" sz="2000" dirty="0">
                <a:solidFill>
                  <a:srgbClr val="FF0000"/>
                </a:solidFill>
                <a:latin typeface="Montserrat" panose="00000500000000000000" pitchFamily="50" charset="0"/>
              </a:rPr>
              <a:t>26</a:t>
            </a:r>
            <a:r>
              <a:rPr lang="id-ID" sz="2000" dirty="0">
                <a:solidFill>
                  <a:schemeClr val="tx1">
                    <a:lumMod val="75000"/>
                    <a:lumOff val="25000"/>
                  </a:schemeClr>
                </a:solidFill>
                <a:latin typeface="Montserrat" panose="00000500000000000000" pitchFamily="50" charset="0"/>
              </a:rPr>
              <a:t> Pergilah kepada bangsa ini, dan katakanlah:</a:t>
            </a:r>
            <a:r>
              <a:rPr lang="en-US" sz="2000" dirty="0">
                <a:solidFill>
                  <a:schemeClr val="tx1">
                    <a:lumMod val="75000"/>
                    <a:lumOff val="25000"/>
                  </a:schemeClr>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Kamu akan mendengar dan mendengar, namun tidak mengerti,</a:t>
            </a:r>
            <a:r>
              <a:rPr lang="en-US" sz="2000" dirty="0">
                <a:solidFill>
                  <a:schemeClr val="tx1">
                    <a:lumMod val="75000"/>
                    <a:lumOff val="25000"/>
                  </a:schemeClr>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kamu akan melihat dan melihat, namun tidak menanggap.</a:t>
            </a:r>
          </a:p>
          <a:p>
            <a:pPr marL="382676" lvl="1" algn="ctr"/>
            <a:r>
              <a:rPr lang="id-ID" sz="2000" dirty="0">
                <a:solidFill>
                  <a:srgbClr val="FF0000"/>
                </a:solidFill>
                <a:latin typeface="Montserrat" panose="00000500000000000000" pitchFamily="50" charset="0"/>
              </a:rPr>
              <a:t>27</a:t>
            </a:r>
            <a:r>
              <a:rPr lang="en-US" sz="2000" dirty="0">
                <a:solidFill>
                  <a:srgbClr val="FF0000"/>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Sebab hati bangsa ini telah menebal,</a:t>
            </a:r>
            <a:r>
              <a:rPr lang="en-US" sz="2000" dirty="0">
                <a:solidFill>
                  <a:schemeClr val="tx1">
                    <a:lumMod val="75000"/>
                    <a:lumOff val="25000"/>
                  </a:schemeClr>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dan telinganya berat mendengar,</a:t>
            </a:r>
            <a:r>
              <a:rPr lang="en-US" sz="2000" dirty="0">
                <a:solidFill>
                  <a:schemeClr val="tx1">
                    <a:lumMod val="75000"/>
                    <a:lumOff val="25000"/>
                  </a:schemeClr>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dan matanya melekat tertutup;</a:t>
            </a:r>
            <a:r>
              <a:rPr lang="en-US" sz="2000" dirty="0">
                <a:solidFill>
                  <a:schemeClr val="tx1">
                    <a:lumMod val="75000"/>
                    <a:lumOff val="25000"/>
                  </a:schemeClr>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supaya jangan mereka melihat dengan matanya</a:t>
            </a:r>
            <a:r>
              <a:rPr lang="en-US" sz="2000" dirty="0">
                <a:solidFill>
                  <a:schemeClr val="tx1">
                    <a:lumMod val="75000"/>
                    <a:lumOff val="25000"/>
                  </a:schemeClr>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dan mendengar dengan telinganya</a:t>
            </a:r>
            <a:r>
              <a:rPr lang="en-US" sz="2000" dirty="0">
                <a:solidFill>
                  <a:schemeClr val="tx1">
                    <a:lumMod val="75000"/>
                    <a:lumOff val="25000"/>
                  </a:schemeClr>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dan mengerti dengan hatinya,</a:t>
            </a:r>
            <a:r>
              <a:rPr lang="en-US" sz="2000" dirty="0">
                <a:solidFill>
                  <a:schemeClr val="tx1">
                    <a:lumMod val="75000"/>
                    <a:lumOff val="25000"/>
                  </a:schemeClr>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lalu berbalik sehingga Aku menyembuhkan mereka.</a:t>
            </a:r>
            <a:endParaRPr lang="en-US" sz="2000" dirty="0">
              <a:solidFill>
                <a:schemeClr val="tx1">
                  <a:lumMod val="75000"/>
                  <a:lumOff val="25000"/>
                </a:schemeClr>
              </a:solidFill>
              <a:latin typeface="Montserrat" panose="00000500000000000000" pitchFamily="50" charset="0"/>
            </a:endParaRPr>
          </a:p>
          <a:p>
            <a:pPr marL="382676" lvl="1" algn="ctr"/>
            <a:endParaRPr lang="en-US" sz="2000" dirty="0">
              <a:solidFill>
                <a:schemeClr val="tx1">
                  <a:lumMod val="75000"/>
                  <a:lumOff val="25000"/>
                </a:schemeClr>
              </a:solidFill>
              <a:latin typeface="Montserrat" panose="00000500000000000000" pitchFamily="50" charset="0"/>
            </a:endParaRPr>
          </a:p>
          <a:p>
            <a:pPr marL="382676" lvl="1" algn="ctr"/>
            <a:r>
              <a:rPr lang="en-US" sz="2000" b="1" dirty="0">
                <a:solidFill>
                  <a:srgbClr val="C00000"/>
                </a:solidFill>
                <a:latin typeface="Montserrat ExtraBold" panose="00000900000000000000" pitchFamily="50" charset="0"/>
              </a:rPr>
              <a:t>Yohanes 12:39-41</a:t>
            </a:r>
            <a:endParaRPr lang="en-US" sz="2000" dirty="0">
              <a:solidFill>
                <a:srgbClr val="C00000"/>
              </a:solidFill>
              <a:latin typeface="Montserrat ExtraBold" panose="00000900000000000000" pitchFamily="50" charset="0"/>
            </a:endParaRPr>
          </a:p>
          <a:p>
            <a:pPr marL="382676" lvl="1" algn="ctr"/>
            <a:r>
              <a:rPr lang="id-ID" sz="2000" dirty="0">
                <a:solidFill>
                  <a:srgbClr val="FF0000"/>
                </a:solidFill>
                <a:latin typeface="Montserrat" panose="00000500000000000000" pitchFamily="50" charset="0"/>
              </a:rPr>
              <a:t>39</a:t>
            </a:r>
            <a:r>
              <a:rPr lang="en-US" sz="2000" dirty="0">
                <a:solidFill>
                  <a:srgbClr val="FF0000"/>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Karena itu mereka tidak dapat percaya, sebab Yesaya telah berkata juga:</a:t>
            </a:r>
          </a:p>
          <a:p>
            <a:pPr marL="382676" lvl="1" algn="ctr"/>
            <a:r>
              <a:rPr lang="id-ID" sz="2000" dirty="0">
                <a:solidFill>
                  <a:srgbClr val="FF0000"/>
                </a:solidFill>
                <a:latin typeface="Montserrat" panose="00000500000000000000" pitchFamily="50" charset="0"/>
              </a:rPr>
              <a:t>40</a:t>
            </a:r>
            <a:r>
              <a:rPr lang="id-ID" sz="2000" dirty="0">
                <a:solidFill>
                  <a:schemeClr val="tx1">
                    <a:lumMod val="75000"/>
                    <a:lumOff val="25000"/>
                  </a:schemeClr>
                </a:solidFill>
                <a:latin typeface="Montserrat" panose="00000500000000000000" pitchFamily="50" charset="0"/>
              </a:rPr>
              <a:t>  ”Ia telah membutakan mata dan mendegilkan hati mereka,</a:t>
            </a:r>
          </a:p>
          <a:p>
            <a:pPr marL="382676" lvl="1" algn="ctr"/>
            <a:r>
              <a:rPr lang="id-ID" sz="2000" dirty="0">
                <a:solidFill>
                  <a:schemeClr val="tx1">
                    <a:lumMod val="75000"/>
                    <a:lumOff val="25000"/>
                  </a:schemeClr>
                </a:solidFill>
                <a:latin typeface="Montserrat" panose="00000500000000000000" pitchFamily="50" charset="0"/>
              </a:rPr>
              <a:t>supaya mereka jangan melihat dengan mata, dan menanggap dengan hati,</a:t>
            </a:r>
          </a:p>
          <a:p>
            <a:pPr marL="382676" lvl="1" algn="ctr"/>
            <a:r>
              <a:rPr lang="id-ID" sz="2000" dirty="0">
                <a:solidFill>
                  <a:schemeClr val="tx1">
                    <a:lumMod val="75000"/>
                    <a:lumOff val="25000"/>
                  </a:schemeClr>
                </a:solidFill>
                <a:latin typeface="Montserrat" panose="00000500000000000000" pitchFamily="50" charset="0"/>
              </a:rPr>
              <a:t>lalu berbalik, sehingga Aku menyembuhkan mereka.”</a:t>
            </a:r>
          </a:p>
          <a:p>
            <a:pPr marL="382676" lvl="1" algn="ctr"/>
            <a:r>
              <a:rPr lang="id-ID" sz="2000" dirty="0">
                <a:solidFill>
                  <a:srgbClr val="FF0000"/>
                </a:solidFill>
                <a:latin typeface="Montserrat" panose="00000500000000000000" pitchFamily="50" charset="0"/>
              </a:rPr>
              <a:t>41</a:t>
            </a:r>
            <a:r>
              <a:rPr lang="en-US" sz="2000" dirty="0">
                <a:solidFill>
                  <a:srgbClr val="FF0000"/>
                </a:solidFill>
                <a:latin typeface="Montserrat" panose="00000500000000000000" pitchFamily="50" charset="0"/>
              </a:rPr>
              <a:t> </a:t>
            </a:r>
            <a:r>
              <a:rPr lang="id-ID" sz="2000" dirty="0">
                <a:solidFill>
                  <a:schemeClr val="tx1">
                    <a:lumMod val="75000"/>
                    <a:lumOff val="25000"/>
                  </a:schemeClr>
                </a:solidFill>
                <a:latin typeface="Montserrat" panose="00000500000000000000" pitchFamily="50" charset="0"/>
              </a:rPr>
              <a:t>Hal ini dikatakan oleh Yesaya, karena ia telah melihat kemuliaan-Nya dan telah berkata-kata tentang Dia.</a:t>
            </a:r>
          </a:p>
        </p:txBody>
      </p:sp>
    </p:spTree>
    <p:extLst>
      <p:ext uri="{BB962C8B-B14F-4D97-AF65-F5344CB8AC3E}">
        <p14:creationId xmlns:p14="http://schemas.microsoft.com/office/powerpoint/2010/main" val="11375496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4240C6-134B-41B0-B5D4-08114699636B}"/>
              </a:ext>
            </a:extLst>
          </p:cNvPr>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887644" y="1386415"/>
            <a:ext cx="5820113" cy="2677656"/>
          </a:xfrm>
          <a:prstGeom prst="rect">
            <a:avLst/>
          </a:prstGeom>
        </p:spPr>
        <p:txBody>
          <a:bodyPr wrap="square">
            <a:spAutoFit/>
          </a:bodyPr>
          <a:lstStyle/>
          <a:p>
            <a:r>
              <a:rPr lang="en-US" sz="2800" dirty="0" err="1">
                <a:solidFill>
                  <a:schemeClr val="tx1">
                    <a:lumMod val="75000"/>
                    <a:lumOff val="25000"/>
                  </a:schemeClr>
                </a:solidFill>
                <a:latin typeface="Montserrat ExtraBold" panose="00000900000000000000" pitchFamily="50" charset="0"/>
              </a:rPr>
              <a:t>Semua</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ilustrasi</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pasti</a:t>
            </a:r>
            <a:r>
              <a:rPr lang="en-US" sz="2800" dirty="0">
                <a:solidFill>
                  <a:schemeClr val="tx1">
                    <a:lumMod val="75000"/>
                    <a:lumOff val="25000"/>
                  </a:schemeClr>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defektif</a:t>
            </a:r>
            <a:r>
              <a:rPr lang="en-US" sz="2800" dirty="0">
                <a:solidFill>
                  <a:srgbClr val="C00000"/>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karena</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hakikat</a:t>
            </a:r>
            <a:r>
              <a:rPr lang="en-US" sz="2800" dirty="0">
                <a:solidFill>
                  <a:schemeClr val="tx1">
                    <a:lumMod val="75000"/>
                    <a:lumOff val="25000"/>
                  </a:schemeClr>
                </a:solidFill>
                <a:latin typeface="Montserrat ExtraBold" panose="00000900000000000000" pitchFamily="50" charset="0"/>
              </a:rPr>
              <a:t> Allah </a:t>
            </a:r>
            <a:r>
              <a:rPr lang="en-US" sz="2800" dirty="0" err="1">
                <a:solidFill>
                  <a:schemeClr val="tx1">
                    <a:lumMod val="75000"/>
                    <a:lumOff val="25000"/>
                  </a:schemeClr>
                </a:solidFill>
                <a:latin typeface="Montserrat ExtraBold" panose="00000900000000000000" pitchFamily="50" charset="0"/>
              </a:rPr>
              <a:t>memang</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unik</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sehingga</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tidak</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ada</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analogi</a:t>
            </a:r>
            <a:r>
              <a:rPr lang="en-US" sz="2800" dirty="0">
                <a:solidFill>
                  <a:schemeClr val="tx1">
                    <a:lumMod val="75000"/>
                    <a:lumOff val="25000"/>
                  </a:schemeClr>
                </a:solidFill>
                <a:latin typeface="Montserrat ExtraBold" panose="00000900000000000000" pitchFamily="50" charset="0"/>
              </a:rPr>
              <a:t> yang </a:t>
            </a:r>
            <a:r>
              <a:rPr lang="en-US" sz="2800" dirty="0" err="1">
                <a:solidFill>
                  <a:schemeClr val="tx1">
                    <a:lumMod val="75000"/>
                    <a:lumOff val="25000"/>
                  </a:schemeClr>
                </a:solidFill>
                <a:latin typeface="Montserrat ExtraBold" panose="00000900000000000000" pitchFamily="50" charset="0"/>
              </a:rPr>
              <a:t>mampu</a:t>
            </a:r>
            <a:r>
              <a:rPr lang="en-US" sz="2800" dirty="0">
                <a:solidFill>
                  <a:schemeClr val="tx1">
                    <a:lumMod val="75000"/>
                    <a:lumOff val="25000"/>
                  </a:schemeClr>
                </a:solidFill>
                <a:latin typeface="Montserrat ExtraBold" panose="00000900000000000000" pitchFamily="50" charset="0"/>
              </a:rPr>
              <a:t> </a:t>
            </a:r>
            <a:r>
              <a:rPr lang="en-US" sz="2800" dirty="0" err="1">
                <a:solidFill>
                  <a:schemeClr val="tx1">
                    <a:lumMod val="75000"/>
                    <a:lumOff val="25000"/>
                  </a:schemeClr>
                </a:solidFill>
                <a:latin typeface="Montserrat ExtraBold" panose="00000900000000000000" pitchFamily="50" charset="0"/>
              </a:rPr>
              <a:t>merepresentasikan</a:t>
            </a:r>
            <a:r>
              <a:rPr lang="en-US" sz="2800" dirty="0">
                <a:solidFill>
                  <a:schemeClr val="tx1">
                    <a:lumMod val="75000"/>
                    <a:lumOff val="25000"/>
                  </a:schemeClr>
                </a:solidFill>
                <a:latin typeface="Montserrat ExtraBold" panose="00000900000000000000" pitchFamily="50" charset="0"/>
              </a:rPr>
              <a:t> </a:t>
            </a:r>
            <a:r>
              <a:rPr lang="en-US" sz="2800" dirty="0" err="1">
                <a:solidFill>
                  <a:srgbClr val="C00000"/>
                </a:solidFill>
                <a:latin typeface="Montserrat ExtraBold" panose="00000900000000000000" pitchFamily="50" charset="0"/>
              </a:rPr>
              <a:t>seutuhnya</a:t>
            </a:r>
            <a:r>
              <a:rPr lang="en-US" sz="2800" dirty="0">
                <a:solidFill>
                  <a:srgbClr val="C00000"/>
                </a:solidFill>
                <a:latin typeface="Montserrat ExtraBold" panose="00000900000000000000" pitchFamily="50" charset="0"/>
              </a:rPr>
              <a:t>.</a:t>
            </a:r>
          </a:p>
        </p:txBody>
      </p:sp>
      <p:sp>
        <p:nvSpPr>
          <p:cNvPr id="5" name="TextBox 4"/>
          <p:cNvSpPr txBox="1"/>
          <p:nvPr/>
        </p:nvSpPr>
        <p:spPr>
          <a:xfrm>
            <a:off x="4887644" y="4630437"/>
            <a:ext cx="6409834" cy="1938992"/>
          </a:xfrm>
          <a:prstGeom prst="rect">
            <a:avLst/>
          </a:prstGeom>
          <a:noFill/>
        </p:spPr>
        <p:txBody>
          <a:bodyPr wrap="square" rtlCol="0">
            <a:spAutoFit/>
          </a:bodyPr>
          <a:lstStyle/>
          <a:p>
            <a:r>
              <a:rPr lang="en-US" sz="2400" dirty="0" err="1">
                <a:latin typeface="Montserrat" panose="00000500000000000000" pitchFamily="50" charset="0"/>
              </a:rPr>
              <a:t>Beberapa</a:t>
            </a:r>
            <a:r>
              <a:rPr lang="en-US" sz="2400" dirty="0">
                <a:latin typeface="Montserrat" panose="00000500000000000000" pitchFamily="50" charset="0"/>
              </a:rPr>
              <a:t> </a:t>
            </a:r>
            <a:r>
              <a:rPr lang="en-US" sz="2400" dirty="0" err="1">
                <a:latin typeface="Montserrat" panose="00000500000000000000" pitchFamily="50" charset="0"/>
              </a:rPr>
              <a:t>ilustrasi</a:t>
            </a:r>
            <a:r>
              <a:rPr lang="en-US" sz="2400" dirty="0">
                <a:latin typeface="Montserrat" panose="00000500000000000000" pitchFamily="50" charset="0"/>
              </a:rPr>
              <a:t> </a:t>
            </a:r>
            <a:r>
              <a:rPr lang="en-US" sz="2400" dirty="0" err="1">
                <a:latin typeface="Montserrat" panose="00000500000000000000" pitchFamily="50" charset="0"/>
              </a:rPr>
              <a:t>terkenal</a:t>
            </a:r>
            <a:r>
              <a:rPr lang="en-US" sz="2400" dirty="0">
                <a:latin typeface="Montserrat" panose="00000500000000000000" pitchFamily="50" charset="0"/>
              </a:rPr>
              <a:t> </a:t>
            </a:r>
            <a:r>
              <a:rPr lang="en-US" sz="2400" dirty="0" err="1">
                <a:latin typeface="Montserrat" panose="00000500000000000000" pitchFamily="50" charset="0"/>
              </a:rPr>
              <a:t>terbukti</a:t>
            </a:r>
            <a:r>
              <a:rPr lang="en-US" sz="2400" dirty="0">
                <a:latin typeface="Montserrat" panose="00000500000000000000" pitchFamily="50" charset="0"/>
              </a:rPr>
              <a:t> </a:t>
            </a:r>
            <a:r>
              <a:rPr lang="en-US" sz="2400" dirty="0" err="1">
                <a:latin typeface="Montserrat" panose="00000500000000000000" pitchFamily="50" charset="0"/>
              </a:rPr>
              <a:t>keliru</a:t>
            </a:r>
            <a:r>
              <a:rPr lang="en-US" sz="2400" dirty="0">
                <a:latin typeface="Montserrat" panose="00000500000000000000" pitchFamily="50" charset="0"/>
              </a:rPr>
              <a:t>, yang lain </a:t>
            </a:r>
            <a:r>
              <a:rPr lang="en-US" sz="2400" dirty="0" err="1">
                <a:latin typeface="Montserrat" panose="00000500000000000000" pitchFamily="50" charset="0"/>
              </a:rPr>
              <a:t>terbatas</a:t>
            </a:r>
            <a:r>
              <a:rPr lang="en-US" sz="2400" dirty="0">
                <a:latin typeface="Montserrat" panose="00000500000000000000" pitchFamily="50" charset="0"/>
              </a:rPr>
              <a:t> dan </a:t>
            </a:r>
            <a:r>
              <a:rPr lang="en-US" sz="2400" dirty="0" err="1">
                <a:latin typeface="Montserrat" panose="00000500000000000000" pitchFamily="50" charset="0"/>
              </a:rPr>
              <a:t>bisa</a:t>
            </a:r>
            <a:r>
              <a:rPr lang="en-US" sz="2400" dirty="0">
                <a:latin typeface="Montserrat" panose="00000500000000000000" pitchFamily="50" charset="0"/>
              </a:rPr>
              <a:t> </a:t>
            </a:r>
            <a:r>
              <a:rPr lang="en-US" sz="2400" dirty="0" err="1">
                <a:latin typeface="Montserrat" panose="00000500000000000000" pitchFamily="50" charset="0"/>
              </a:rPr>
              <a:t>menimbulkan</a:t>
            </a:r>
            <a:r>
              <a:rPr lang="en-US" sz="2400" dirty="0">
                <a:latin typeface="Montserrat" panose="00000500000000000000" pitchFamily="50" charset="0"/>
              </a:rPr>
              <a:t> </a:t>
            </a:r>
            <a:r>
              <a:rPr lang="en-US" sz="2400" dirty="0" err="1">
                <a:latin typeface="Montserrat" panose="00000500000000000000" pitchFamily="50" charset="0"/>
              </a:rPr>
              <a:t>kesan</a:t>
            </a:r>
            <a:r>
              <a:rPr lang="en-US" sz="2400" dirty="0">
                <a:latin typeface="Montserrat" panose="00000500000000000000" pitchFamily="50" charset="0"/>
              </a:rPr>
              <a:t> </a:t>
            </a:r>
            <a:r>
              <a:rPr lang="en-US" sz="2400" dirty="0" err="1">
                <a:latin typeface="Montserrat" panose="00000500000000000000" pitchFamily="50" charset="0"/>
              </a:rPr>
              <a:t>keliru</a:t>
            </a:r>
            <a:r>
              <a:rPr lang="en-US" sz="2400" dirty="0">
                <a:latin typeface="Montserrat" panose="00000500000000000000" pitchFamily="50" charset="0"/>
              </a:rPr>
              <a:t>. </a:t>
            </a:r>
            <a:r>
              <a:rPr lang="en-US" sz="2400" dirty="0" err="1">
                <a:latin typeface="Montserrat" panose="00000500000000000000" pitchFamily="50" charset="0"/>
              </a:rPr>
              <a:t>Penggunaan</a:t>
            </a:r>
            <a:r>
              <a:rPr lang="en-US" sz="2400" dirty="0">
                <a:latin typeface="Montserrat" panose="00000500000000000000" pitchFamily="50" charset="0"/>
              </a:rPr>
              <a:t> </a:t>
            </a:r>
            <a:r>
              <a:rPr lang="en-US" sz="2400" dirty="0" err="1">
                <a:latin typeface="Montserrat" panose="00000500000000000000" pitchFamily="50" charset="0"/>
              </a:rPr>
              <a:t>ilustrasi</a:t>
            </a:r>
            <a:r>
              <a:rPr lang="en-US" sz="2400" dirty="0">
                <a:latin typeface="Montserrat" panose="00000500000000000000" pitchFamily="50" charset="0"/>
              </a:rPr>
              <a:t> </a:t>
            </a:r>
            <a:r>
              <a:rPr lang="en-US" sz="2400" dirty="0" err="1">
                <a:latin typeface="Montserrat" panose="00000500000000000000" pitchFamily="50" charset="0"/>
              </a:rPr>
              <a:t>perlu</a:t>
            </a:r>
            <a:r>
              <a:rPr lang="en-US" sz="2400" dirty="0">
                <a:latin typeface="Montserrat" panose="00000500000000000000" pitchFamily="50" charset="0"/>
              </a:rPr>
              <a:t> </a:t>
            </a:r>
            <a:r>
              <a:rPr lang="en-US" sz="2400" b="1" dirty="0" err="1">
                <a:solidFill>
                  <a:srgbClr val="C00000"/>
                </a:solidFill>
                <a:latin typeface="Montserrat" panose="00000500000000000000" pitchFamily="50" charset="0"/>
              </a:rPr>
              <a:t>komprehensif</a:t>
            </a:r>
            <a:r>
              <a:rPr lang="en-US" sz="2400" dirty="0">
                <a:latin typeface="Montserrat" panose="00000500000000000000" pitchFamily="50" charset="0"/>
              </a:rPr>
              <a:t> &amp; </a:t>
            </a:r>
            <a:r>
              <a:rPr lang="en-US" sz="2400" b="1" dirty="0" err="1">
                <a:solidFill>
                  <a:srgbClr val="C00000"/>
                </a:solidFill>
                <a:latin typeface="Montserrat" panose="00000500000000000000" pitchFamily="50" charset="0"/>
              </a:rPr>
              <a:t>kontekstual</a:t>
            </a:r>
            <a:r>
              <a:rPr lang="en-US" sz="2400" b="1" dirty="0">
                <a:solidFill>
                  <a:srgbClr val="C00000"/>
                </a:solidFill>
                <a:latin typeface="Montserrat" panose="00000500000000000000" pitchFamily="50" charset="0"/>
              </a:rPr>
              <a:t>.</a:t>
            </a:r>
          </a:p>
        </p:txBody>
      </p:sp>
      <p:pic>
        <p:nvPicPr>
          <p:cNvPr id="15362" name="Picture 2" descr="1,711 Trinity Illustrations &amp; Clip Art - iStock | Holy trinity, Trinity  college, Trinity symbol">
            <a:extLst>
              <a:ext uri="{FF2B5EF4-FFF2-40B4-BE49-F238E27FC236}">
                <a16:creationId xmlns:a16="http://schemas.microsoft.com/office/drawing/2014/main" id="{91106BDC-C884-4EB7-B598-C8759FCD99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727" r="15195"/>
          <a:stretch/>
        </p:blipFill>
        <p:spPr bwMode="auto">
          <a:xfrm>
            <a:off x="238539" y="606288"/>
            <a:ext cx="4094922" cy="58433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77A133D-8BD4-4B43-8E5C-94B0783093C4}"/>
              </a:ext>
            </a:extLst>
          </p:cNvPr>
          <p:cNvSpPr/>
          <p:nvPr/>
        </p:nvSpPr>
        <p:spPr>
          <a:xfrm>
            <a:off x="3061252" y="1"/>
            <a:ext cx="848139" cy="119269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421E1B-9AC1-4835-A46C-5677FD17FCB7}"/>
              </a:ext>
            </a:extLst>
          </p:cNvPr>
          <p:cNvSpPr/>
          <p:nvPr/>
        </p:nvSpPr>
        <p:spPr>
          <a:xfrm>
            <a:off x="0" y="5665305"/>
            <a:ext cx="848139" cy="119269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429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TotalTime>
  <Words>3054</Words>
  <Application>Microsoft Office PowerPoint</Application>
  <PresentationFormat>Widescreen</PresentationFormat>
  <Paragraphs>227</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Century Gothic</vt:lpstr>
      <vt:lpstr>Montserrat</vt:lpstr>
      <vt:lpstr>Montserrat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NATANAEL WIJAYA TIONO</cp:lastModifiedBy>
  <cp:revision>21</cp:revision>
  <dcterms:created xsi:type="dcterms:W3CDTF">2023-02-28T05:24:55Z</dcterms:created>
  <dcterms:modified xsi:type="dcterms:W3CDTF">2026-02-24T06:12:49Z</dcterms:modified>
</cp:coreProperties>
</file>