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56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527A-7185-4619-8DDC-F942DC57E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150C6-7791-47DE-9709-9F377D166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31460-7D9F-42CB-8AA9-886286F6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8A527-38D9-4BF9-B1A2-EC5C7E1F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745A0-2AF6-4077-BE0A-0737791F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7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B77A-C671-48F2-B162-C0ED46BA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2218-81F4-4D83-9612-653860E00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EBDD0-F89D-479F-9F31-51BA1E82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E45F7-0AB1-4817-A193-5E19A6E2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8C07-0390-45C5-8020-52F76072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19B-098E-48EC-A32A-D2B83292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1E60C-14B5-44DE-88E5-DFFA6313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07F45-36C0-4CD1-9451-FE68F766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93B63-207C-43B1-B398-4B43E27CC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0C6A3-0ADA-4745-99DD-4BBAADF9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3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ABE0-227D-4311-AA1D-5AFF6F35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7CA03-F1EF-443C-B345-432B70696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DC8B7-DA32-4777-9558-0A440BA73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DA725-98FE-42C8-B62A-C41F53F6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D48E0-A5FF-4CFC-A3DC-40C1824F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7DF47-DCC5-4D8C-8A65-B01FFFE6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5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138D-0FFD-4E0C-AB36-E687943C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A620B-43A8-473C-9565-20B4CD4B7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96C6D-55CA-4668-A231-D9FC50EC8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A4B5F-6EF1-41B4-9C03-BE3BBE5AB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9B99D-2464-49DD-A92C-2B1FA99F5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F8FAE-9456-48BF-861D-070C099A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083D4-D8BA-40FC-9BD8-B690689A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8E9678-9668-4E91-9697-7AD335E7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3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F8C2-9481-4D25-8ED7-6CAC7DE7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8FA10-203F-4475-B6A0-96FBC8EE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BE1408-C6B3-4525-B1E2-60A3DFAD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F3F91-F71A-4821-B522-0D331A2D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4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5703C-77C3-4066-A534-796D0B8E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917EF-34C6-4C02-A86F-2AB1C80E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A2A06-7284-4C28-8062-6BB75994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3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3ACB-A0A4-452C-99FF-0B889CD02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AA06D-9FE4-44EF-8C96-304200480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BC92A-6748-45D9-A148-D4E54CE76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1B1ED-5EB2-4D7A-8C02-E9011567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99B97-131C-44FB-A22E-71FE90194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67728-47DD-4183-AE43-3287A2F5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834E-DE5A-46C9-88CB-733F6188C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A827F-1F8A-431D-99B5-4984ABDBC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00AB7-E1F0-44A4-9F46-66A184B74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B6DC7-CDE1-4198-AE9A-94EF6750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4EDAE-5C37-48B1-93F5-662401CB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25761-59A4-4E08-ABE9-0C3B4A33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8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11EA-A006-4575-8D10-1AB274DAD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55CA7-3266-486A-BCA9-46695D33F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8482E-29D4-46A4-B8E7-E4C3B854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28725-E019-4466-B55E-7BA1EC671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6E69F-6478-4151-A205-8B260A48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03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A86BA-D4CB-4481-AADE-2CBFC53B0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49117-CF4A-474D-BC1B-8FAB0DBD6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4BBB5-D7D2-498A-B24F-A0382150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A22-905E-4E8D-96B7-1B004CE49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AEC29-A176-4903-BC0F-3B5196C3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3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4FFE4-0509-4421-AF8C-EB4221431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A02B2-8393-4D66-A3E8-BBB0D2179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9ABC6-F6F0-433E-8B84-AB1D59914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7D467-1387-48B1-BF17-A98A960B047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4CD2-F8A2-4BDB-8FDD-743428061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82843-2470-48F6-B21E-77736B57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FD5F6-C89E-4DC0-AE56-96A9F0CF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65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7142E3-AC67-446F-B4F7-DCC1DACF98D3}"/>
              </a:ext>
            </a:extLst>
          </p:cNvPr>
          <p:cNvSpPr/>
          <p:nvPr/>
        </p:nvSpPr>
        <p:spPr>
          <a:xfrm>
            <a:off x="1372268" y="3284307"/>
            <a:ext cx="4982819" cy="64935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735403" y="3378152"/>
            <a:ext cx="4307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Mengapa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 Saya Kristen #8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4071D-6BEB-4C48-A902-B6627BDE6EE8}"/>
              </a:ext>
            </a:extLst>
          </p:cNvPr>
          <p:cNvSpPr txBox="1"/>
          <p:nvPr/>
        </p:nvSpPr>
        <p:spPr>
          <a:xfrm>
            <a:off x="1253000" y="4247995"/>
            <a:ext cx="9998096" cy="10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YESUS ADALAH ALLAH</a:t>
            </a:r>
            <a:endParaRPr lang="en-US" sz="96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67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97BB15-778B-4DCA-98E9-263C868311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78A22-7514-4C2E-BA00-561FBF36414A}"/>
              </a:ext>
            </a:extLst>
          </p:cNvPr>
          <p:cNvSpPr/>
          <p:nvPr/>
        </p:nvSpPr>
        <p:spPr>
          <a:xfrm>
            <a:off x="0" y="0"/>
            <a:ext cx="1719618" cy="32618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307E8-21A3-4EA2-B356-EF3D71D4FDB1}"/>
              </a:ext>
            </a:extLst>
          </p:cNvPr>
          <p:cNvSpPr txBox="1"/>
          <p:nvPr/>
        </p:nvSpPr>
        <p:spPr>
          <a:xfrm flipH="1">
            <a:off x="6020938" y="1978925"/>
            <a:ext cx="380772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SIGNI</a:t>
            </a:r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-</a:t>
            </a:r>
            <a:r>
              <a:rPr lang="en-US" sz="60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FIKANSI</a:t>
            </a:r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TOPIK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D79BF0-DE9A-46C8-88D4-3BFA5D85744D}"/>
              </a:ext>
            </a:extLst>
          </p:cNvPr>
          <p:cNvSpPr/>
          <p:nvPr/>
        </p:nvSpPr>
        <p:spPr>
          <a:xfrm>
            <a:off x="739255" y="723725"/>
            <a:ext cx="3448334" cy="56152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ealth &amp; Wellness News | When is Endometriosis Awareness Day 2023? Know  Date, Significance and Importance of The Day | 🍏 LatestLY">
            <a:extLst>
              <a:ext uri="{FF2B5EF4-FFF2-40B4-BE49-F238E27FC236}">
                <a16:creationId xmlns:a16="http://schemas.microsoft.com/office/drawing/2014/main" id="{93B4FBDA-4D9C-47C1-BC5F-0661A85EBD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926" b="94370" l="8917" r="38250">
                        <a14:foregroundMark x1="24000" y1="6222" x2="24000" y2="6222"/>
                        <a14:foregroundMark x1="15250" y1="91704" x2="15250" y2="91704"/>
                        <a14:foregroundMark x1="31833" y1="93926" x2="31833" y2="93926"/>
                        <a14:foregroundMark x1="15583" y1="94370" x2="15583" y2="943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64" r="57960"/>
          <a:stretch/>
        </p:blipFill>
        <p:spPr bwMode="auto">
          <a:xfrm>
            <a:off x="595952" y="703646"/>
            <a:ext cx="3671248" cy="56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FD0103B-2207-4853-A167-53AF05698427}"/>
              </a:ext>
            </a:extLst>
          </p:cNvPr>
          <p:cNvSpPr/>
          <p:nvPr/>
        </p:nvSpPr>
        <p:spPr>
          <a:xfrm>
            <a:off x="3467669" y="6045958"/>
            <a:ext cx="559558" cy="81204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1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F342E4-2FFB-444D-BC15-1B92F5DB8C57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E8728-5605-4028-9E7A-D25A7C174BCC}"/>
              </a:ext>
            </a:extLst>
          </p:cNvPr>
          <p:cNvSpPr txBox="1"/>
          <p:nvPr/>
        </p:nvSpPr>
        <p:spPr>
          <a:xfrm flipH="1">
            <a:off x="932824" y="2736502"/>
            <a:ext cx="45399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Montserrat ExtraBold" panose="00000900000000000000" pitchFamily="50" charset="0"/>
              </a:rPr>
              <a:t>RESIKO PENYEMBAHAN 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BERHALA</a:t>
            </a:r>
            <a:r>
              <a:rPr lang="en-US" sz="2800" dirty="0">
                <a:latin typeface="Montserrat ExtraBold" panose="00000900000000000000" pitchFamily="50" charset="0"/>
              </a:rPr>
              <a:t> ATAU 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KEBINASAAN</a:t>
            </a:r>
            <a:r>
              <a:rPr lang="en-US" sz="2800" dirty="0">
                <a:latin typeface="Montserrat ExtraBold" panose="00000900000000000000" pitchFamily="50" charset="0"/>
              </a:rPr>
              <a:t> KEKAL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03E851-D4D6-4880-9F63-0A2DAD54AED8}"/>
              </a:ext>
            </a:extLst>
          </p:cNvPr>
          <p:cNvSpPr/>
          <p:nvPr/>
        </p:nvSpPr>
        <p:spPr>
          <a:xfrm>
            <a:off x="5862320" y="284480"/>
            <a:ext cx="6329680" cy="63195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81DF0-4016-4CE3-829A-6A3427A5C620}"/>
              </a:ext>
            </a:extLst>
          </p:cNvPr>
          <p:cNvSpPr txBox="1"/>
          <p:nvPr/>
        </p:nvSpPr>
        <p:spPr>
          <a:xfrm>
            <a:off x="6723229" y="1382285"/>
            <a:ext cx="484552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solidFill>
                  <a:schemeClr val="bg1"/>
                </a:solidFill>
                <a:latin typeface="Montserrat" panose="00000500000000000000" pitchFamily="50" charset="0"/>
              </a:rPr>
              <a:t>9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Sebab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jika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mengaku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mulutmu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adalah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FFFF00"/>
                </a:solidFill>
                <a:latin typeface="Montserrat" panose="00000500000000000000" pitchFamily="50" charset="0"/>
              </a:rPr>
              <a:t>Tuhan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, dan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percaya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hatimu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Allah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FFFF00"/>
                </a:solidFill>
                <a:latin typeface="Montserrat" panose="00000500000000000000" pitchFamily="50" charset="0"/>
              </a:rPr>
              <a:t>membangkitkan</a:t>
            </a:r>
            <a:r>
              <a:rPr lang="en-US" sz="2400" b="0" i="0" u="none" strike="noStrike" baseline="0" dirty="0">
                <a:solidFill>
                  <a:srgbClr val="FFFF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FFFF00"/>
                </a:solidFill>
                <a:latin typeface="Montserrat" panose="00000500000000000000" pitchFamily="50" charset="0"/>
              </a:rPr>
              <a:t>Dia</a:t>
            </a:r>
            <a:r>
              <a:rPr lang="en-US" sz="2400" b="0" i="0" u="none" strike="noStrike" baseline="0" dirty="0">
                <a:solidFill>
                  <a:srgbClr val="FFFF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antara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>
                <a:solidFill>
                  <a:srgbClr val="FFFF00"/>
                </a:solidFill>
                <a:latin typeface="Montserrat" panose="00000500000000000000" pitchFamily="50" charset="0"/>
              </a:rPr>
              <a:t>orang </a:t>
            </a:r>
            <a:r>
              <a:rPr lang="en-US" sz="2400" b="0" i="0" u="none" strike="noStrike" baseline="0" dirty="0" err="1">
                <a:solidFill>
                  <a:srgbClr val="FFFF00"/>
                </a:solidFill>
                <a:latin typeface="Montserrat" panose="00000500000000000000" pitchFamily="50" charset="0"/>
              </a:rPr>
              <a:t>mati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maka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akan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diselamatkan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30000" dirty="0">
                <a:solidFill>
                  <a:schemeClr val="bg1"/>
                </a:solidFill>
                <a:latin typeface="Montserrat" panose="00000500000000000000" pitchFamily="50" charset="0"/>
              </a:rPr>
              <a:t>10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Karena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hati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orang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percaya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dibenarkan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, dan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mulut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orang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mengaku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diselamatkan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.</a:t>
            </a:r>
            <a:endParaRPr lang="en-US" sz="2400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D5CBA-5131-4A6F-B8F6-0CFB2DFECECE}"/>
              </a:ext>
            </a:extLst>
          </p:cNvPr>
          <p:cNvSpPr txBox="1"/>
          <p:nvPr/>
        </p:nvSpPr>
        <p:spPr>
          <a:xfrm>
            <a:off x="6723229" y="392592"/>
            <a:ext cx="2650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Roma 10:9-10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D92D9-5A70-DFA4-B051-BABF6D04D448}"/>
              </a:ext>
            </a:extLst>
          </p:cNvPr>
          <p:cNvSpPr txBox="1"/>
          <p:nvPr/>
        </p:nvSpPr>
        <p:spPr>
          <a:xfrm>
            <a:off x="3180080" y="1737360"/>
            <a:ext cx="466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Montserrat ExtraBold" panose="00000900000000000000" pitchFamily="2" charset="0"/>
              </a:rPr>
              <a:t>1.</a:t>
            </a:r>
            <a:endParaRPr lang="en-ID" sz="3200" dirty="0"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95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7DCAA9-2D49-4291-85B8-E3B5143AD3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i manakah Yesus Berkata, &quot;Akulah Allah, Sembahlah Aku?&quot; | Tak Terputus">
            <a:extLst>
              <a:ext uri="{FF2B5EF4-FFF2-40B4-BE49-F238E27FC236}">
                <a16:creationId xmlns:a16="http://schemas.microsoft.com/office/drawing/2014/main" id="{301DD6E6-94CE-48B2-B5C7-5EF82AC52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402" y="1680863"/>
            <a:ext cx="6215598" cy="349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741E16-144D-45CD-A867-9AF4A4AD92E2}"/>
              </a:ext>
            </a:extLst>
          </p:cNvPr>
          <p:cNvSpPr txBox="1"/>
          <p:nvPr/>
        </p:nvSpPr>
        <p:spPr>
          <a:xfrm>
            <a:off x="1068107" y="3055715"/>
            <a:ext cx="4116833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3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SANGGAHAN</a:t>
            </a:r>
          </a:p>
          <a:p>
            <a:pPr algn="ctr"/>
            <a:r>
              <a:rPr lang="en-US" sz="3200" dirty="0">
                <a:latin typeface="Montserrat ExtraBold" panose="00000900000000000000" pitchFamily="50" charset="0"/>
              </a:rPr>
              <a:t>DARI PIHAK LAIN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384C8-4CFD-4426-B6C9-453CE97F96DB}"/>
              </a:ext>
            </a:extLst>
          </p:cNvPr>
          <p:cNvSpPr/>
          <p:nvPr/>
        </p:nvSpPr>
        <p:spPr>
          <a:xfrm>
            <a:off x="10931857" y="0"/>
            <a:ext cx="900752" cy="22655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39F73-8EFD-358D-509F-8DB9B0827BF6}"/>
              </a:ext>
            </a:extLst>
          </p:cNvPr>
          <p:cNvSpPr txBox="1"/>
          <p:nvPr/>
        </p:nvSpPr>
        <p:spPr>
          <a:xfrm>
            <a:off x="2763520" y="2032000"/>
            <a:ext cx="10287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 ExtraBold" panose="00000900000000000000" pitchFamily="2" charset="0"/>
              </a:rPr>
              <a:t>2.</a:t>
            </a:r>
            <a:endParaRPr lang="en-ID" sz="3200" dirty="0">
              <a:latin typeface="Montserrat ExtraBold" panose="00000900000000000000" pitchFamily="2" charset="0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413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96708A-42DB-4107-B83F-9C4CD52A1F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2F833A-D388-4B30-AEEF-4433A4634EE1}"/>
              </a:ext>
            </a:extLst>
          </p:cNvPr>
          <p:cNvSpPr/>
          <p:nvPr/>
        </p:nvSpPr>
        <p:spPr>
          <a:xfrm>
            <a:off x="9104243" y="0"/>
            <a:ext cx="3087757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The Bible Says Jesus Was Real. What Other Proof Exists? - HISTORY">
            <a:extLst>
              <a:ext uri="{FF2B5EF4-FFF2-40B4-BE49-F238E27FC236}">
                <a16:creationId xmlns:a16="http://schemas.microsoft.com/office/drawing/2014/main" id="{0E90ACD6-8F5E-4BEB-B97A-16C04ECFE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4312"/>
            <a:ext cx="11430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EEA6B-7ECF-4885-8A83-4B7A6DC3C6D9}"/>
              </a:ext>
            </a:extLst>
          </p:cNvPr>
          <p:cNvSpPr txBox="1"/>
          <p:nvPr/>
        </p:nvSpPr>
        <p:spPr>
          <a:xfrm>
            <a:off x="762000" y="4950350"/>
            <a:ext cx="100655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Montserrat ExtraBold" panose="00000900000000000000" pitchFamily="50" charset="0"/>
              </a:rPr>
              <a:t>PETUNJUK </a:t>
            </a:r>
            <a:r>
              <a:rPr lang="en-US" sz="7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ALKITAB</a:t>
            </a:r>
          </a:p>
        </p:txBody>
      </p:sp>
    </p:spTree>
    <p:extLst>
      <p:ext uri="{BB962C8B-B14F-4D97-AF65-F5344CB8AC3E}">
        <p14:creationId xmlns:p14="http://schemas.microsoft.com/office/powerpoint/2010/main" val="524293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1896E5-BF61-44C6-ADD4-D3B196F83C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F4D52-0A0C-4226-BBEA-62E3CC9C3615}"/>
              </a:ext>
            </a:extLst>
          </p:cNvPr>
          <p:cNvSpPr/>
          <p:nvPr/>
        </p:nvSpPr>
        <p:spPr>
          <a:xfrm>
            <a:off x="9912626" y="0"/>
            <a:ext cx="1020417" cy="25841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 result for christ is lord hd">
            <a:extLst>
              <a:ext uri="{FF2B5EF4-FFF2-40B4-BE49-F238E27FC236}">
                <a16:creationId xmlns:a16="http://schemas.microsoft.com/office/drawing/2014/main" id="{7BF5CD12-60E2-429B-83A0-710B54D6A1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16" t="3961" b="10038"/>
          <a:stretch/>
        </p:blipFill>
        <p:spPr bwMode="auto">
          <a:xfrm>
            <a:off x="9191177" y="2330823"/>
            <a:ext cx="2520000" cy="2623802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4D2B77-52DA-4313-A43D-6063F35D9A0B}"/>
              </a:ext>
            </a:extLst>
          </p:cNvPr>
          <p:cNvSpPr txBox="1"/>
          <p:nvPr/>
        </p:nvSpPr>
        <p:spPr>
          <a:xfrm>
            <a:off x="1521084" y="2753137"/>
            <a:ext cx="61490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YESUS MEMILIKI </a:t>
            </a:r>
            <a:r>
              <a:rPr lang="en-US" sz="24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SIFAT-SIFAT</a:t>
            </a:r>
            <a:r>
              <a:rPr lang="en-US" sz="2400" dirty="0">
                <a:latin typeface="Montserrat ExtraBold" panose="00000900000000000000" pitchFamily="50" charset="0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YANG HANYA DIMILIKI OLEH ALLAH SAJA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ontserrat ExtraBold" panose="000009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Mahahadir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(Mat. 18:20)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Mahakuasa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(Yoh. 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Kekal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(Yoh. 8:58)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Dsb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EDA3DB-B8F4-4B3E-AAE7-E07A5DC6E220}"/>
              </a:ext>
            </a:extLst>
          </p:cNvPr>
          <p:cNvSpPr/>
          <p:nvPr/>
        </p:nvSpPr>
        <p:spPr>
          <a:xfrm>
            <a:off x="1630017" y="1559726"/>
            <a:ext cx="795131" cy="795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ExtraBold" panose="00000900000000000000" pitchFamily="50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0529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BC91BB-D3E8-44ED-972A-8BC5AC7843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 result for christ is lord hd">
            <a:extLst>
              <a:ext uri="{FF2B5EF4-FFF2-40B4-BE49-F238E27FC236}">
                <a16:creationId xmlns:a16="http://schemas.microsoft.com/office/drawing/2014/main" id="{6C561821-1AFC-4D4E-A485-A46482DEE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16" t="3961" b="10038"/>
          <a:stretch/>
        </p:blipFill>
        <p:spPr bwMode="auto">
          <a:xfrm>
            <a:off x="1120603" y="1282319"/>
            <a:ext cx="739715" cy="77018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909034-B5C0-43A3-8219-8E25D77F6C11}"/>
              </a:ext>
            </a:extLst>
          </p:cNvPr>
          <p:cNvSpPr txBox="1"/>
          <p:nvPr/>
        </p:nvSpPr>
        <p:spPr>
          <a:xfrm>
            <a:off x="2511286" y="426436"/>
            <a:ext cx="93454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C00000"/>
                </a:solidFill>
                <a:latin typeface="Montserrat" panose="00000500000000000000" pitchFamily="50" charset="0"/>
              </a:rPr>
              <a:t>Matius</a:t>
            </a:r>
            <a:r>
              <a:rPr lang="en-US" sz="2400" b="1" dirty="0">
                <a:solidFill>
                  <a:srgbClr val="C00000"/>
                </a:solidFill>
                <a:latin typeface="Montserrat" panose="00000500000000000000" pitchFamily="50" charset="0"/>
              </a:rPr>
              <a:t> 18:20 </a:t>
            </a:r>
          </a:p>
          <a:p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Sebab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di mana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dua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atau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tiga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orang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berkumpul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dalam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Nama-Ku, </a:t>
            </a:r>
            <a:r>
              <a:rPr lang="en-US" sz="24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di situ </a:t>
            </a:r>
            <a:r>
              <a:rPr lang="en-US" sz="2400" b="1" u="sng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Aku</a:t>
            </a:r>
            <a:r>
              <a:rPr lang="en-US" sz="24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ada</a:t>
            </a:r>
            <a:r>
              <a:rPr lang="en-US" sz="24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di </a:t>
            </a:r>
            <a:r>
              <a:rPr lang="en-US" sz="2400" b="1" u="sng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tengah-tengah</a:t>
            </a:r>
            <a:r>
              <a:rPr lang="en-US" sz="24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50" charset="0"/>
              </a:rPr>
              <a:t> (juga 28:19-20).</a:t>
            </a:r>
            <a:endParaRPr lang="id-ID" sz="24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6" name="Picture 5" descr="Image result for christ is lord hd">
            <a:extLst>
              <a:ext uri="{FF2B5EF4-FFF2-40B4-BE49-F238E27FC236}">
                <a16:creationId xmlns:a16="http://schemas.microsoft.com/office/drawing/2014/main" id="{2807F985-372A-4C67-9577-426F31A7DF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16" t="3961" b="10038"/>
          <a:stretch/>
        </p:blipFill>
        <p:spPr bwMode="auto">
          <a:xfrm>
            <a:off x="1120603" y="3154933"/>
            <a:ext cx="739715" cy="77018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34B85F-89A8-484C-A36E-44100357C14C}"/>
              </a:ext>
            </a:extLst>
          </p:cNvPr>
          <p:cNvSpPr txBox="1"/>
          <p:nvPr/>
        </p:nvSpPr>
        <p:spPr>
          <a:xfrm>
            <a:off x="2511286" y="2052504"/>
            <a:ext cx="94571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C00000"/>
                </a:solidFill>
                <a:latin typeface="Montserrat" panose="00000500000000000000" pitchFamily="50" charset="0"/>
              </a:rPr>
              <a:t>Yohanes</a:t>
            </a:r>
            <a:r>
              <a:rPr lang="en-US" sz="2400" b="1" dirty="0">
                <a:solidFill>
                  <a:srgbClr val="C00000"/>
                </a:solidFill>
                <a:latin typeface="Montserrat" panose="00000500000000000000" pitchFamily="50" charset="0"/>
              </a:rPr>
              <a:t> 10:17-18</a:t>
            </a:r>
          </a:p>
          <a:p>
            <a:pPr algn="l" rtl="0"/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mengasihi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Aku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karena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Aku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memberikan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nyawa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-Ku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untuk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menerimanya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kembali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seorangpun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mengambilnya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pada-Ku,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melainkan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strike="noStrike" baseline="0" dirty="0" err="1">
                <a:latin typeface="Montserrat" panose="00000500000000000000" pitchFamily="50" charset="0"/>
              </a:rPr>
              <a:t>Aku</a:t>
            </a:r>
            <a:r>
              <a:rPr lang="en-US" sz="2400" b="0" i="0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strike="noStrike" baseline="0" dirty="0" err="1">
                <a:latin typeface="Montserrat" panose="00000500000000000000" pitchFamily="50" charset="0"/>
              </a:rPr>
              <a:t>memberikannya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menurut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kehendak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-Ku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sendiri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Aku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berkuasa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memberikannya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berkuasa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mengambilnya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kembali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.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Inilah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tugas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Kuterima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-Ku</a:t>
            </a:r>
            <a:r>
              <a:rPr lang="en-US" sz="1800" b="0" i="0" u="none" strike="noStrike" baseline="0" dirty="0">
                <a:latin typeface="Montserrat" panose="00000500000000000000" pitchFamily="50" charset="0"/>
              </a:rPr>
              <a:t>. </a:t>
            </a:r>
            <a:endParaRPr lang="id-ID" sz="18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8" name="Picture 7" descr="Image result for christ is lord hd">
            <a:extLst>
              <a:ext uri="{FF2B5EF4-FFF2-40B4-BE49-F238E27FC236}">
                <a16:creationId xmlns:a16="http://schemas.microsoft.com/office/drawing/2014/main" id="{9F0FB5CB-A5F2-486A-B224-003DB8DE0E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16" t="3961" b="10038"/>
          <a:stretch/>
        </p:blipFill>
        <p:spPr bwMode="auto">
          <a:xfrm>
            <a:off x="1120603" y="5190589"/>
            <a:ext cx="739715" cy="77018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9394AF-02BB-4446-BB29-3614809A31BE}"/>
              </a:ext>
            </a:extLst>
          </p:cNvPr>
          <p:cNvSpPr txBox="1"/>
          <p:nvPr/>
        </p:nvSpPr>
        <p:spPr>
          <a:xfrm>
            <a:off x="2511286" y="4960128"/>
            <a:ext cx="90812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C00000"/>
                </a:solidFill>
                <a:latin typeface="Montserrat" panose="00000500000000000000" pitchFamily="50" charset="0"/>
              </a:rPr>
              <a:t>Yohanes</a:t>
            </a:r>
            <a:r>
              <a:rPr lang="en-US" sz="2400" b="1" dirty="0">
                <a:solidFill>
                  <a:srgbClr val="C00000"/>
                </a:solidFill>
                <a:latin typeface="Montserrat" panose="00000500000000000000" pitchFamily="50" charset="0"/>
              </a:rPr>
              <a:t> 8:58</a:t>
            </a:r>
          </a:p>
          <a:p>
            <a:r>
              <a:rPr lang="en-US" sz="2400" dirty="0">
                <a:latin typeface="Montserrat" panose="00000500000000000000" pitchFamily="50" charset="0"/>
              </a:rPr>
              <a:t>Kata </a:t>
            </a:r>
            <a:r>
              <a:rPr lang="en-US" sz="2400" dirty="0" err="1">
                <a:latin typeface="Montserrat" panose="00000500000000000000" pitchFamily="50" charset="0"/>
              </a:rPr>
              <a:t>Yesus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kepada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mereka</a:t>
            </a:r>
            <a:r>
              <a:rPr lang="en-US" sz="2400" dirty="0">
                <a:latin typeface="Montserrat" panose="00000500000000000000" pitchFamily="50" charset="0"/>
              </a:rPr>
              <a:t>: “</a:t>
            </a:r>
            <a:r>
              <a:rPr lang="en-US" sz="2400" dirty="0" err="1">
                <a:latin typeface="Montserrat" panose="00000500000000000000" pitchFamily="50" charset="0"/>
              </a:rPr>
              <a:t>Aku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berkata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kepadamu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b="1" u="sng" dirty="0" err="1">
                <a:latin typeface="Montserrat" panose="00000500000000000000" pitchFamily="50" charset="0"/>
              </a:rPr>
              <a:t>sesungguhnya</a:t>
            </a:r>
            <a:r>
              <a:rPr lang="en-US" sz="2400" b="1" u="sng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sebelum</a:t>
            </a:r>
            <a:r>
              <a:rPr lang="en-US" sz="2400" b="1" u="sng" dirty="0">
                <a:latin typeface="Montserrat" panose="00000500000000000000" pitchFamily="50" charset="0"/>
              </a:rPr>
              <a:t> Abraham </a:t>
            </a:r>
            <a:r>
              <a:rPr lang="en-US" sz="2400" b="1" u="sng" dirty="0" err="1">
                <a:latin typeface="Montserrat" panose="00000500000000000000" pitchFamily="50" charset="0"/>
              </a:rPr>
              <a:t>jadi</a:t>
            </a:r>
            <a:r>
              <a:rPr lang="en-US" sz="2400" b="1" u="sng" dirty="0">
                <a:latin typeface="Montserrat" panose="00000500000000000000" pitchFamily="50" charset="0"/>
              </a:rPr>
              <a:t>, </a:t>
            </a:r>
            <a:r>
              <a:rPr lang="en-US" sz="2400" b="1" u="sng" dirty="0" err="1">
                <a:latin typeface="Montserrat" panose="00000500000000000000" pitchFamily="50" charset="0"/>
              </a:rPr>
              <a:t>Aku</a:t>
            </a:r>
            <a:r>
              <a:rPr lang="en-US" sz="2400" b="1" u="sng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telah</a:t>
            </a:r>
            <a:r>
              <a:rPr lang="en-US" sz="2400" b="1" u="sng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” (lit. “</a:t>
            </a:r>
            <a:r>
              <a:rPr lang="en-US" sz="2400" dirty="0" err="1">
                <a:latin typeface="Montserrat" panose="00000500000000000000" pitchFamily="50" charset="0"/>
              </a:rPr>
              <a:t>sebelum</a:t>
            </a:r>
            <a:r>
              <a:rPr lang="en-US" sz="2400" dirty="0">
                <a:latin typeface="Montserrat" panose="00000500000000000000" pitchFamily="50" charset="0"/>
              </a:rPr>
              <a:t> Abraham </a:t>
            </a:r>
            <a:r>
              <a:rPr lang="en-US" sz="2400" dirty="0" err="1">
                <a:latin typeface="Montserrat" panose="00000500000000000000" pitchFamily="50" charset="0"/>
              </a:rPr>
              <a:t>menjadi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Aku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terus-menerus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”). </a:t>
            </a:r>
            <a:endParaRPr lang="id-ID" sz="24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518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1896E5-BF61-44C6-ADD4-D3B196F83C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D2B77-52DA-4313-A43D-6063F35D9A0B}"/>
              </a:ext>
            </a:extLst>
          </p:cNvPr>
          <p:cNvSpPr txBox="1"/>
          <p:nvPr/>
        </p:nvSpPr>
        <p:spPr>
          <a:xfrm>
            <a:off x="1338850" y="2584174"/>
            <a:ext cx="66555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YESUS MELAKUKAN </a:t>
            </a:r>
            <a:r>
              <a:rPr lang="en-US" sz="24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TINDAKAN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YANG HANYA DAPAT ATAU BOLEH DILAKUKAN OLEH ALLAH SAJA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ontserrat ExtraBold" panose="000009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Mencipta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(Yoh .1:3;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bdk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. Yes. 44:24)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Mengampuni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dosa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(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Mrk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. 2:5)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Duduk di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sebelah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kanan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Bapa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dalam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segala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kemuliaan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(Mat. 26:63-65)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Dsb</a:t>
            </a:r>
            <a:endParaRPr lang="id-ID" sz="2400" dirty="0">
              <a:solidFill>
                <a:schemeClr val="tx1">
                  <a:lumMod val="85000"/>
                  <a:lumOff val="1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EDA3DB-B8F4-4B3E-AAE7-E07A5DC6E220}"/>
              </a:ext>
            </a:extLst>
          </p:cNvPr>
          <p:cNvSpPr/>
          <p:nvPr/>
        </p:nvSpPr>
        <p:spPr>
          <a:xfrm>
            <a:off x="1447783" y="1390763"/>
            <a:ext cx="795131" cy="795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ExtraBold" panose="00000900000000000000" pitchFamily="50" charset="0"/>
              </a:rPr>
              <a:t>02</a:t>
            </a:r>
          </a:p>
        </p:txBody>
      </p:sp>
      <p:pic>
        <p:nvPicPr>
          <p:cNvPr id="5122" name="Picture 2" descr="Decolonising Jesus Christ | Religion | Al Jazeera">
            <a:extLst>
              <a:ext uri="{FF2B5EF4-FFF2-40B4-BE49-F238E27FC236}">
                <a16:creationId xmlns:a16="http://schemas.microsoft.com/office/drawing/2014/main" id="{E22DB4F1-F375-4059-B5F5-3DF5C4B87C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50" r="4376"/>
          <a:stretch/>
        </p:blipFill>
        <p:spPr bwMode="auto">
          <a:xfrm>
            <a:off x="8688275" y="1458439"/>
            <a:ext cx="3500429" cy="435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0F4D52-0A0C-4226-BBEA-62E3CC9C3615}"/>
              </a:ext>
            </a:extLst>
          </p:cNvPr>
          <p:cNvSpPr/>
          <p:nvPr/>
        </p:nvSpPr>
        <p:spPr>
          <a:xfrm>
            <a:off x="9928280" y="0"/>
            <a:ext cx="1020417" cy="218589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2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BC91BB-D3E8-44ED-972A-8BC5AC7843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09034-B5C0-43A3-8219-8E25D77F6C11}"/>
              </a:ext>
            </a:extLst>
          </p:cNvPr>
          <p:cNvSpPr txBox="1"/>
          <p:nvPr/>
        </p:nvSpPr>
        <p:spPr>
          <a:xfrm>
            <a:off x="1464363" y="1574667"/>
            <a:ext cx="968071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Yohanes</a:t>
            </a:r>
            <a:r>
              <a:rPr lang="en-US" sz="2800" b="1" dirty="0">
                <a:solidFill>
                  <a:srgbClr val="C00000"/>
                </a:solidFill>
                <a:latin typeface="Montserrat ExtraBold" panose="00000900000000000000" pitchFamily="50" charset="0"/>
              </a:rPr>
              <a:t> 1:3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Segala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sesuatu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dijadikan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oleh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tanpa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tidak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ada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suatupun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telah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jadi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segala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telah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dijadikan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marL="0" lvl="1"/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Yesaya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 44:24</a:t>
            </a:r>
          </a:p>
          <a:p>
            <a:pPr marL="0" lvl="1"/>
            <a:endParaRPr lang="en-US" sz="2800" dirty="0">
              <a:solidFill>
                <a:srgbClr val="C00000"/>
              </a:solidFill>
              <a:latin typeface="Montserrat ExtraBold" panose="00000900000000000000" pitchFamily="50" charset="0"/>
            </a:endParaRPr>
          </a:p>
          <a:p>
            <a:pPr marL="0" lvl="1"/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Akulah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TUHAN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menjadikan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segala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sesuatu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yang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seorang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membentangkan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langit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menghamparkan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bumi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siapakah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mendampingi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?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926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7F237-6D71-4E5C-98FE-7B34EDD38A58}"/>
              </a:ext>
            </a:extLst>
          </p:cNvPr>
          <p:cNvSpPr/>
          <p:nvPr/>
        </p:nvSpPr>
        <p:spPr>
          <a:xfrm>
            <a:off x="0" y="-80264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732F-04E2-4144-9CBE-0909842A8188}"/>
              </a:ext>
            </a:extLst>
          </p:cNvPr>
          <p:cNvSpPr txBox="1"/>
          <p:nvPr/>
        </p:nvSpPr>
        <p:spPr>
          <a:xfrm>
            <a:off x="508000" y="802640"/>
            <a:ext cx="11430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5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Ketika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melihat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iman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lumpuh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"Hai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-Ku,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dosamu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sudah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diampuni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!"</a:t>
            </a:r>
            <a:r>
              <a:rPr lang="sv-SE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sv-SE" sz="2400" b="0" i="0" u="none" strike="noStrike" baseline="30000" dirty="0">
                <a:latin typeface="Montserrat" panose="00000500000000000000" pitchFamily="50" charset="0"/>
              </a:rPr>
              <a:t>6</a:t>
            </a:r>
            <a:r>
              <a:rPr lang="sv-SE" sz="2400" b="0" i="0" u="none" strike="noStrike" baseline="0" dirty="0">
                <a:latin typeface="Montserrat" panose="00000500000000000000" pitchFamily="50" charset="0"/>
              </a:rPr>
              <a:t> Tetapi di situ ada juga duduk beberapa ahli Taurat, mereka berpikir dalam hatinya: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7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"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begitu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?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menghujat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Allah.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Siapa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dapat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mengampuni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dosa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selain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pada Allah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sendiri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?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"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8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Tetapi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segera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mengetahui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berpikir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demikian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lalu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berpikir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begitu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hatimu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? </a:t>
            </a:r>
          </a:p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9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Manakah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lebih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mudah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mengatakan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lumpuh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Dosamu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sudah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diampuni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atau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mengatakan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Bangunlah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angkatlah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tilammu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berjalan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?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10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Tetapi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supaya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tahu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di dunia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ini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Anak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berkuasa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mengampuni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dosa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lumpuh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11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"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Kukatakan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bangunlah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angkatlah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tempat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tidurmu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pulanglah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rumahmu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!"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12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itupun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bangun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segera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mengangkat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tempat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tidurnya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pergi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luar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hadapan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orang-orang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sehingga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takjub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lalu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memuliakan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Allah,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katanya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begini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belum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pernah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lihat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."</a:t>
            </a:r>
            <a:endParaRPr lang="en-US" sz="24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0DD563-A296-401C-B3CB-C6CC8701EB0C}"/>
              </a:ext>
            </a:extLst>
          </p:cNvPr>
          <p:cNvSpPr txBox="1"/>
          <p:nvPr/>
        </p:nvSpPr>
        <p:spPr>
          <a:xfrm>
            <a:off x="1179442" y="94754"/>
            <a:ext cx="38395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Markus 2:5-12</a:t>
            </a:r>
          </a:p>
        </p:txBody>
      </p:sp>
    </p:spTree>
    <p:extLst>
      <p:ext uri="{BB962C8B-B14F-4D97-AF65-F5344CB8AC3E}">
        <p14:creationId xmlns:p14="http://schemas.microsoft.com/office/powerpoint/2010/main" val="392104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7F237-6D71-4E5C-98FE-7B34EDD38A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732F-04E2-4144-9CBE-0909842A8188}"/>
              </a:ext>
            </a:extLst>
          </p:cNvPr>
          <p:cNvSpPr txBox="1"/>
          <p:nvPr/>
        </p:nvSpPr>
        <p:spPr>
          <a:xfrm>
            <a:off x="1617206" y="941139"/>
            <a:ext cx="9356036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baseline="300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Matius</a:t>
            </a:r>
            <a:r>
              <a:rPr lang="en-US" sz="4400" b="1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4400" b="1" baseline="300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26:63-65</a:t>
            </a:r>
          </a:p>
          <a:p>
            <a:endParaRPr lang="en-US" sz="32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63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Tetapi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Yesus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tetap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diam. Lalu kata Imam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Besar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kepada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-Nya: “Demi Allah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hidup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katakanlah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kepada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kami,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apakah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Engkau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Mesias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Anak Allah,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atau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tidak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”  </a:t>
            </a:r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64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Jawab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Yesus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: “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Engkau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telah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mengatakannya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Akan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tetapi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berkata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kepadamu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mulai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sekarang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kamu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melihat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Anak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Manusia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duduk di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sebelah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kanan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Mahakuasa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datang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di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atas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awan-awan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di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langit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”  </a:t>
            </a:r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65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Maka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Imam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Besar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mengoyakkan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pakaiannya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berkata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: “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menghujat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Allah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Untuk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apa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kita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perlu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saksi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lagi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?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Sekarang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telah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kamu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dengar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hujat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-Nya.”</a:t>
            </a:r>
            <a:endParaRPr lang="id-ID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endParaRPr lang="en-US" sz="18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218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7F237-6D71-4E5C-98FE-7B34EDD38A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732F-04E2-4144-9CBE-0909842A8188}"/>
              </a:ext>
            </a:extLst>
          </p:cNvPr>
          <p:cNvSpPr txBox="1"/>
          <p:nvPr/>
        </p:nvSpPr>
        <p:spPr>
          <a:xfrm>
            <a:off x="1444486" y="305068"/>
            <a:ext cx="902473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baseline="300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Yohanes</a:t>
            </a:r>
            <a:r>
              <a:rPr lang="en-US" sz="4800" b="1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4800" b="1" baseline="300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10:29-33</a:t>
            </a:r>
          </a:p>
          <a:p>
            <a:endParaRPr lang="en-US" sz="2400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29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Bapa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-Ku,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memberikan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kepada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-Ku,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lebih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besar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pada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siapapun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dan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seorangpun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tidak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dapat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merebut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tangan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Bapa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  </a:t>
            </a:r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30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Bapa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adalah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satu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"  </a:t>
            </a:r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31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Sekali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lagi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orang-orang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Yahudi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mengambil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batu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untuk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melempari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Yesus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  </a:t>
            </a:r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32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Kata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Yesus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kepada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: "Banyak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pekerjaan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baik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berasal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Bapa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-Ku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Kuperlihatkan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kepadamu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;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pekerjaan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manakah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di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antaranya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menyebabkan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kamu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mau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melempari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?"  </a:t>
            </a:r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33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Jawab orang-orang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Yahudi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: "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Bukan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karena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suatu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pekerjaan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baik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maka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kami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mau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melempari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Engkau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melainkan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karena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Engkau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menghujat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Allah dan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karena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Engkau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sekalipun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hanya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seorang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manusia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saja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menyamakan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diri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-Mu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dengan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Allah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" </a:t>
            </a:r>
            <a:endParaRPr lang="en-US" sz="24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171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7F237-6D71-4E5C-98FE-7B34EDD38A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732F-04E2-4144-9CBE-0909842A8188}"/>
              </a:ext>
            </a:extLst>
          </p:cNvPr>
          <p:cNvSpPr txBox="1"/>
          <p:nvPr/>
        </p:nvSpPr>
        <p:spPr>
          <a:xfrm>
            <a:off x="1583634" y="1864469"/>
            <a:ext cx="9024731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baseline="300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Yohanes</a:t>
            </a:r>
            <a:r>
              <a:rPr lang="en-US" sz="4800" b="1" baseline="300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 5:18</a:t>
            </a:r>
          </a:p>
          <a:p>
            <a:endParaRPr lang="en-US" sz="32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r>
              <a:rPr lang="en-US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18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Sebab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orang-orang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Yahudi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lebih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berusaha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lagi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untuk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membunuh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-Nya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bukan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saja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karena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meniadakan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Sabat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tetapi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juga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karena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mengatakan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bahwa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Allah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adalah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Bapa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-Nya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sendiri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dengan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demikian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menyamakan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diri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-Nya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dengan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Allah.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endParaRPr lang="id-ID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endParaRPr lang="en-US" sz="18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endParaRPr lang="en-US" sz="18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065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BE054B-B10D-46FB-AC81-96D2391DAC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A Reminder for Easter, Jesus Christ was Middle Eastern">
            <a:extLst>
              <a:ext uri="{FF2B5EF4-FFF2-40B4-BE49-F238E27FC236}">
                <a16:creationId xmlns:a16="http://schemas.microsoft.com/office/drawing/2014/main" id="{FCBA7667-0B77-4B88-B902-CE8FE35A5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3" r="27855"/>
          <a:stretch/>
        </p:blipFill>
        <p:spPr bwMode="auto">
          <a:xfrm>
            <a:off x="8275641" y="1431235"/>
            <a:ext cx="3916359" cy="45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970215-C790-48B5-910A-EB22C72A4DC9}"/>
              </a:ext>
            </a:extLst>
          </p:cNvPr>
          <p:cNvSpPr/>
          <p:nvPr/>
        </p:nvSpPr>
        <p:spPr>
          <a:xfrm>
            <a:off x="11383617" y="0"/>
            <a:ext cx="569844" cy="20408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AC9615-134B-4902-A519-EC9E018F797C}"/>
              </a:ext>
            </a:extLst>
          </p:cNvPr>
          <p:cNvSpPr/>
          <p:nvPr/>
        </p:nvSpPr>
        <p:spPr>
          <a:xfrm>
            <a:off x="8534400" y="4817165"/>
            <a:ext cx="516835" cy="20408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08CAA-7DEF-4A50-86F5-E555848EEBF8}"/>
              </a:ext>
            </a:extLst>
          </p:cNvPr>
          <p:cNvSpPr txBox="1"/>
          <p:nvPr/>
        </p:nvSpPr>
        <p:spPr>
          <a:xfrm>
            <a:off x="1259338" y="3234246"/>
            <a:ext cx="66555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YESUS MENERIMA </a:t>
            </a:r>
            <a:r>
              <a:rPr lang="en-US" sz="24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SEBUTAN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SEBAGAI ALLAH DAN TUHAN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ontserrat ExtraBold" panose="000009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Allah (Yes. 9:6; Yoh. 1:1; 20:28)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Tuhan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 (Yoh. 20:28; 1Kor. 8:6)</a:t>
            </a:r>
            <a:endParaRPr lang="id-ID" sz="2400" dirty="0">
              <a:solidFill>
                <a:schemeClr val="tx1">
                  <a:lumMod val="85000"/>
                  <a:lumOff val="1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4AF4C2-6A85-474F-9AEB-E3358E4158A5}"/>
              </a:ext>
            </a:extLst>
          </p:cNvPr>
          <p:cNvSpPr/>
          <p:nvPr/>
        </p:nvSpPr>
        <p:spPr>
          <a:xfrm>
            <a:off x="1368271" y="2040835"/>
            <a:ext cx="795131" cy="795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ExtraBold" panose="00000900000000000000" pitchFamily="50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85013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7F237-6D71-4E5C-98FE-7B34EDD38A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732F-04E2-4144-9CBE-0909842A8188}"/>
              </a:ext>
            </a:extLst>
          </p:cNvPr>
          <p:cNvSpPr txBox="1"/>
          <p:nvPr/>
        </p:nvSpPr>
        <p:spPr>
          <a:xfrm>
            <a:off x="1417982" y="807769"/>
            <a:ext cx="9356036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Yesaya</a:t>
            </a:r>
            <a:r>
              <a:rPr lang="en-US" sz="2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 9:6</a:t>
            </a:r>
          </a:p>
          <a:p>
            <a:pPr algn="ctr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Besar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kekuasaannya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dan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damai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sejahtera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tidak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berkesudahan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di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atas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takhta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Daud dan di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dalam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kerajaannya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karena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mendasarkan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mengokohkannya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dengan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keadilan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kebenaran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dari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sekarang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sampai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selama-lamanya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Kecemburuan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Tuhan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semesta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alam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melakukan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hal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ini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</a:p>
          <a:p>
            <a:pPr algn="ctr"/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r>
              <a:rPr lang="en-US" sz="2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Yohanes 1:1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Pada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mulanya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adalah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Firman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;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Firman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itu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bersama-sama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dengan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Allah dan </a:t>
            </a:r>
            <a:r>
              <a:rPr lang="en-US" sz="22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Firman</a:t>
            </a:r>
            <a:r>
              <a:rPr lang="en-US" sz="2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itu</a:t>
            </a:r>
            <a:r>
              <a:rPr lang="en-US" sz="2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2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adalah</a:t>
            </a:r>
            <a:r>
              <a:rPr lang="en-US" sz="2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Allah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</a:p>
          <a:p>
            <a:pPr algn="ctr"/>
            <a:endParaRPr 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endParaRPr 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r>
              <a:rPr lang="fi-FI" sz="2200" b="1" dirty="0">
                <a:solidFill>
                  <a:srgbClr val="C00000"/>
                </a:solidFill>
                <a:latin typeface="Montserrat ExtraBold" panose="00000900000000000000" pitchFamily="50" charset="0"/>
              </a:rPr>
              <a:t>Yohanes 20:28</a:t>
            </a:r>
            <a:endParaRPr lang="fi-FI" sz="22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r>
              <a:rPr lang="fi-FI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Tomas menjawab Dia: "</a:t>
            </a:r>
            <a:r>
              <a:rPr lang="fi-FI" sz="2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Ya Tuhanku dan Allahku!</a:t>
            </a:r>
            <a:r>
              <a:rPr lang="fi-FI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”</a:t>
            </a:r>
            <a:endParaRPr lang="id-ID" sz="22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endParaRPr lang="en-US" sz="22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endParaRPr lang="en-US" sz="22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041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1570AA-A791-4F06-AF8B-326324F0B8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614C43-B810-4EB7-A78C-6DA5DD73E5A9}"/>
              </a:ext>
            </a:extLst>
          </p:cNvPr>
          <p:cNvSpPr txBox="1"/>
          <p:nvPr/>
        </p:nvSpPr>
        <p:spPr>
          <a:xfrm>
            <a:off x="1417982" y="797510"/>
            <a:ext cx="935603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Montserrat ExtraBold" panose="00000900000000000000" pitchFamily="50" charset="0"/>
              </a:rPr>
              <a:t>Yohanes 20:28</a:t>
            </a:r>
          </a:p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Tomas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menjawab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Dia: ”Ya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Tuhanku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Allahku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!”</a:t>
            </a:r>
          </a:p>
          <a:p>
            <a:pPr algn="ctr"/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Montserrat ExtraBold" panose="00000900000000000000" pitchFamily="50" charset="0"/>
              </a:rPr>
              <a:t>1 </a:t>
            </a:r>
            <a:r>
              <a:rPr lang="en-US" sz="2400" b="1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Korintus</a:t>
            </a:r>
            <a:r>
              <a:rPr lang="en-US" sz="2400" b="1" dirty="0">
                <a:solidFill>
                  <a:srgbClr val="C00000"/>
                </a:solidFill>
                <a:latin typeface="Montserrat ExtraBold" panose="00000900000000000000" pitchFamily="50" charset="0"/>
              </a:rPr>
              <a:t> 8:6</a:t>
            </a:r>
          </a:p>
          <a:p>
            <a:pPr algn="ctr"/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Namun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bagi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kita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hanya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ada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satu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Allah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saja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yaitu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Bapa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pada-Nya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berasal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segala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sesuatu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untuk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Dia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kita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hidup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dan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satu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Tuhan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saja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yaitu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Yesus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Kristus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oleh-Nya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segala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sesuatu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telah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dijadikan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yang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karena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Dia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kita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hidup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pPr algn="ctr"/>
            <a:r>
              <a:rPr lang="en-US" sz="24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Ulangan</a:t>
            </a:r>
            <a:r>
              <a:rPr lang="en-US" sz="24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 6:4</a:t>
            </a:r>
            <a:endParaRPr lang="en-US" sz="2400" b="0" i="0" u="none" strike="noStrike" baseline="0" dirty="0">
              <a:latin typeface="Montserrat" panose="00000500000000000000" pitchFamily="50" charset="0"/>
            </a:endParaRPr>
          </a:p>
          <a:p>
            <a:pPr algn="ctr"/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Dengarlah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Israel: 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TUHAN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Allah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TUHAN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esa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!</a:t>
            </a:r>
            <a:endParaRPr lang="en-US" sz="24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835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BE054B-B10D-46FB-AC81-96D2391DAC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A Reminder for Easter, Jesus Christ was Middle Eastern">
            <a:extLst>
              <a:ext uri="{FF2B5EF4-FFF2-40B4-BE49-F238E27FC236}">
                <a16:creationId xmlns:a16="http://schemas.microsoft.com/office/drawing/2014/main" id="{FCBA7667-0B77-4B88-B902-CE8FE35A5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3" r="27855"/>
          <a:stretch/>
        </p:blipFill>
        <p:spPr bwMode="auto">
          <a:xfrm>
            <a:off x="8275641" y="1431235"/>
            <a:ext cx="3916359" cy="45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970215-C790-48B5-910A-EB22C72A4DC9}"/>
              </a:ext>
            </a:extLst>
          </p:cNvPr>
          <p:cNvSpPr/>
          <p:nvPr/>
        </p:nvSpPr>
        <p:spPr>
          <a:xfrm>
            <a:off x="11237843" y="0"/>
            <a:ext cx="569844" cy="18155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AC9615-134B-4902-A519-EC9E018F797C}"/>
              </a:ext>
            </a:extLst>
          </p:cNvPr>
          <p:cNvSpPr/>
          <p:nvPr/>
        </p:nvSpPr>
        <p:spPr>
          <a:xfrm>
            <a:off x="8746435" y="5539409"/>
            <a:ext cx="516835" cy="13185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08CAA-7DEF-4A50-86F5-E555848EEBF8}"/>
              </a:ext>
            </a:extLst>
          </p:cNvPr>
          <p:cNvSpPr txBox="1"/>
          <p:nvPr/>
        </p:nvSpPr>
        <p:spPr>
          <a:xfrm>
            <a:off x="970741" y="2624646"/>
            <a:ext cx="65564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YESUS MENERIMA </a:t>
            </a:r>
            <a:r>
              <a:rPr lang="en-US" sz="24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PENYEMBAHAN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SEPERTI LAYAKNYA ALLAH SENDIRI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 ExtraBold" panose="000009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Menurut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catatan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Alkitab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(Mat. 28:16-18;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Flp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. 2:6-11).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Menurut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catatan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kuno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di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luar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Alkitab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(Pliny the Younger,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Letters 10.96-97,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111-113 M).</a:t>
            </a:r>
            <a:endParaRPr lang="id-ID" sz="2400" b="1" dirty="0">
              <a:solidFill>
                <a:schemeClr val="tx1">
                  <a:lumMod val="75000"/>
                  <a:lumOff val="2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4AF4C2-6A85-474F-9AEB-E3358E4158A5}"/>
              </a:ext>
            </a:extLst>
          </p:cNvPr>
          <p:cNvSpPr/>
          <p:nvPr/>
        </p:nvSpPr>
        <p:spPr>
          <a:xfrm>
            <a:off x="1079674" y="1431235"/>
            <a:ext cx="795131" cy="795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ExtraBold" panose="00000900000000000000" pitchFamily="50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2098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7F237-6D71-4E5C-98FE-7B34EDD38A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732F-04E2-4144-9CBE-0909842A8188}"/>
              </a:ext>
            </a:extLst>
          </p:cNvPr>
          <p:cNvSpPr txBox="1"/>
          <p:nvPr/>
        </p:nvSpPr>
        <p:spPr>
          <a:xfrm>
            <a:off x="1182756" y="1780956"/>
            <a:ext cx="9826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16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kesebelas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murid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berangkat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Galilea,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bukit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ditunjukkan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17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Ketika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melihat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Dia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menyembah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-Nya,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tetapi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beberapa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ragu-ragu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sng" strike="noStrike" baseline="30000" dirty="0">
                <a:latin typeface="Montserrat" panose="00000500000000000000" pitchFamily="50" charset="0"/>
              </a:rPr>
              <a:t>18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mendekati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: "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-Ku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diberikan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segala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kuasa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sorga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dan di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bumi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.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19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Karena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pergilah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jadikanlah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bangsa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murid-Ku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baptislah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nama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Anak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Kudus,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20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ajarlah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melakukan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segala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sesuatu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Kuperintahkan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ketahuilah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Aku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menyertai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senantiasa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sampai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akhir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zaman."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2A288-D4FB-488D-9DE0-0E845342A2D3}"/>
              </a:ext>
            </a:extLst>
          </p:cNvPr>
          <p:cNvSpPr txBox="1"/>
          <p:nvPr/>
        </p:nvSpPr>
        <p:spPr>
          <a:xfrm>
            <a:off x="1182756" y="505182"/>
            <a:ext cx="3951723" cy="64633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Matius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 28:16-20</a:t>
            </a:r>
          </a:p>
        </p:txBody>
      </p:sp>
    </p:spTree>
    <p:extLst>
      <p:ext uri="{BB962C8B-B14F-4D97-AF65-F5344CB8AC3E}">
        <p14:creationId xmlns:p14="http://schemas.microsoft.com/office/powerpoint/2010/main" val="4053284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7F237-6D71-4E5C-98FE-7B34EDD38A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732F-04E2-4144-9CBE-0909842A8188}"/>
              </a:ext>
            </a:extLst>
          </p:cNvPr>
          <p:cNvSpPr txBox="1"/>
          <p:nvPr/>
        </p:nvSpPr>
        <p:spPr>
          <a:xfrm>
            <a:off x="1302025" y="1531373"/>
            <a:ext cx="98264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6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walaupun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rupa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Allah,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menganggap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kesetaraan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Allah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sebagai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milik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harus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dipertahankan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7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melainkan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mengosongkan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sendiri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mengambil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rupa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seorang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hamba,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menjadi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8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keadaan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sebagai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merendahkan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sampai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sampai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kayu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salib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9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sebabnya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Allah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sangat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meninggikan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mengaruniakan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nama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atas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segala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nama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10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supaya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nama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bertekuk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lutut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segala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langit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atas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bumi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bawah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bumi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11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segala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lidah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mengaku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Kristus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sng" strike="noStrike" baseline="0" dirty="0" err="1">
                <a:latin typeface="Montserrat" panose="00000500000000000000" pitchFamily="50" charset="0"/>
              </a:rPr>
              <a:t>Tuhan</a:t>
            </a:r>
            <a:r>
              <a:rPr lang="en-US" sz="2400" b="0" i="0" u="sng" strike="noStrike" baseline="0" dirty="0">
                <a:latin typeface="Montserrat" panose="00000500000000000000" pitchFamily="50" charset="0"/>
              </a:rPr>
              <a:t>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"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bagi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kemuliaan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Allah,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2A288-D4FB-488D-9DE0-0E845342A2D3}"/>
              </a:ext>
            </a:extLst>
          </p:cNvPr>
          <p:cNvSpPr txBox="1"/>
          <p:nvPr/>
        </p:nvSpPr>
        <p:spPr>
          <a:xfrm>
            <a:off x="1302025" y="629919"/>
            <a:ext cx="2776722" cy="64633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Filipi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 2:6-11</a:t>
            </a:r>
          </a:p>
        </p:txBody>
      </p:sp>
    </p:spTree>
    <p:extLst>
      <p:ext uri="{BB962C8B-B14F-4D97-AF65-F5344CB8AC3E}">
        <p14:creationId xmlns:p14="http://schemas.microsoft.com/office/powerpoint/2010/main" val="1108409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7F237-6D71-4E5C-98FE-7B34EDD38A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732F-04E2-4144-9CBE-0909842A8188}"/>
              </a:ext>
            </a:extLst>
          </p:cNvPr>
          <p:cNvSpPr txBox="1"/>
          <p:nvPr/>
        </p:nvSpPr>
        <p:spPr>
          <a:xfrm>
            <a:off x="1235765" y="3545703"/>
            <a:ext cx="9826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Karena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aku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tidak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meragukan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bahwa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apapun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hakikat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pengakuan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iman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kekerasan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kepala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 dan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kebebalan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yang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kaku</a:t>
            </a:r>
            <a:r>
              <a:rPr lang="en-US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,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pantas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untuk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dihukum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…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mereka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biasa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berkumpul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pada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hari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tertentu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sebelum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fajar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dan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secara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bersahut-sahutan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menyanyikan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pujian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kepada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Kristus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seperti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kepada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seorang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dewa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.</a:t>
            </a:r>
            <a:endParaRPr lang="en-US" sz="2400" b="1" i="0" u="sng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2A288-D4FB-488D-9DE0-0E845342A2D3}"/>
              </a:ext>
            </a:extLst>
          </p:cNvPr>
          <p:cNvSpPr txBox="1"/>
          <p:nvPr/>
        </p:nvSpPr>
        <p:spPr>
          <a:xfrm>
            <a:off x="1235765" y="2319129"/>
            <a:ext cx="4608954" cy="64633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Pliny the Younger</a:t>
            </a:r>
          </a:p>
        </p:txBody>
      </p:sp>
    </p:spTree>
    <p:extLst>
      <p:ext uri="{BB962C8B-B14F-4D97-AF65-F5344CB8AC3E}">
        <p14:creationId xmlns:p14="http://schemas.microsoft.com/office/powerpoint/2010/main" val="358685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B7AB37-A02C-45A3-BC28-00E61E3049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9A9EE4-3005-4A64-A4AA-27CCA5C6BFEF}"/>
              </a:ext>
            </a:extLst>
          </p:cNvPr>
          <p:cNvSpPr/>
          <p:nvPr/>
        </p:nvSpPr>
        <p:spPr>
          <a:xfrm>
            <a:off x="1480738" y="2591940"/>
            <a:ext cx="6629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It is in fact in the area of worship that we find “the </a:t>
            </a:r>
            <a:r>
              <a:rPr lang="en-US" sz="2400" b="1" u="sng" dirty="0">
                <a:solidFill>
                  <a:srgbClr val="C00000"/>
                </a:solidFill>
                <a:latin typeface="Montserrat" panose="00000500000000000000" pitchFamily="50" charset="0"/>
              </a:rPr>
              <a:t>decisive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50" charset="0"/>
              </a:rPr>
              <a:t> criterion” by which Jews maintained the uniqueness of God over against both idols and God’s own deputies.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  <a:p>
            <a:endParaRPr lang="id-ID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3" name="Picture 2" descr="Image result for larry hurtado  hd">
            <a:extLst>
              <a:ext uri="{FF2B5EF4-FFF2-40B4-BE49-F238E27FC236}">
                <a16:creationId xmlns:a16="http://schemas.microsoft.com/office/drawing/2014/main" id="{477A1C19-14C9-4879-AEC2-A2CBB219E1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8521" r="54793">
                        <a14:foregroundMark x1="35621" y1="36782" x2="39645" y2="16256"/>
                        <a14:foregroundMark x1="47811" y1="8374" x2="53373" y2="7225"/>
                        <a14:foregroundMark x1="54793" y1="10345" x2="54438" y2="88670"/>
                        <a14:foregroundMark x1="20592" y1="89163" x2="43314" y2="80788"/>
                        <a14:foregroundMark x1="41893" y1="84401" x2="44615" y2="88670"/>
                        <a14:foregroundMark x1="44615" y1="88670" x2="44615" y2="88670"/>
                        <a14:foregroundMark x1="34438" y1="37110" x2="34373" y2="38489"/>
                        <a14:backgroundMark x1="33846" y1="40722" x2="33964" y2="48112"/>
                        <a14:backgroundMark x1="33373" y1="48440" x2="33373" y2="48440"/>
                        <a14:backgroundMark x1="33728" y1="49097" x2="33728" y2="49097"/>
                        <a14:backgroundMark x1="33728" y1="38588" x2="34201" y2="44499"/>
                        <a14:backgroundMark x1="33609" y1="44992" x2="33964" y2="49589"/>
                        <a14:backgroundMark x1="33609" y1="49918" x2="33964" y2="50575"/>
                        <a14:backgroundMark x1="34320" y1="44828" x2="33136" y2="443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36" r="46197"/>
          <a:stretch/>
        </p:blipFill>
        <p:spPr bwMode="auto">
          <a:xfrm>
            <a:off x="8007820" y="937899"/>
            <a:ext cx="4184180" cy="592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BFFF03-068F-4EE7-B139-E97DA55E8477}"/>
              </a:ext>
            </a:extLst>
          </p:cNvPr>
          <p:cNvSpPr/>
          <p:nvPr/>
        </p:nvSpPr>
        <p:spPr>
          <a:xfrm>
            <a:off x="-1" y="6400800"/>
            <a:ext cx="12192001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42BE8-0289-4841-A941-B0594D838775}"/>
              </a:ext>
            </a:extLst>
          </p:cNvPr>
          <p:cNvSpPr txBox="1"/>
          <p:nvPr/>
        </p:nvSpPr>
        <p:spPr>
          <a:xfrm>
            <a:off x="1480738" y="6492942"/>
            <a:ext cx="6629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50" charset="0"/>
              </a:rPr>
              <a:t>Larry Hurtado, </a:t>
            </a:r>
            <a:r>
              <a:rPr lang="en-US" sz="1600" i="1" dirty="0">
                <a:solidFill>
                  <a:schemeClr val="bg1"/>
                </a:solidFill>
                <a:latin typeface="Montserrat" panose="00000500000000000000" pitchFamily="50" charset="0"/>
              </a:rPr>
              <a:t>How on Earth Did Jesus Become a God?</a:t>
            </a:r>
            <a:r>
              <a:rPr lang="en-US" sz="1600" dirty="0">
                <a:solidFill>
                  <a:schemeClr val="bg1"/>
                </a:solidFill>
                <a:latin typeface="Montserrat" panose="00000500000000000000" pitchFamily="50" charset="0"/>
              </a:rPr>
              <a:t>, 129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750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1270</Words>
  <Application>Microsoft Office PowerPoint</Application>
  <PresentationFormat>Widescreen</PresentationFormat>
  <Paragraphs>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NATANAEL WIJAYA TIONO</cp:lastModifiedBy>
  <cp:revision>17</cp:revision>
  <dcterms:created xsi:type="dcterms:W3CDTF">2023-03-27T15:56:45Z</dcterms:created>
  <dcterms:modified xsi:type="dcterms:W3CDTF">2026-02-24T06:37:44Z</dcterms:modified>
</cp:coreProperties>
</file>