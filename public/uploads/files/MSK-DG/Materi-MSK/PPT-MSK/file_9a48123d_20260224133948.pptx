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6" r:id="rId9"/>
    <p:sldId id="277" r:id="rId10"/>
    <p:sldId id="262" r:id="rId11"/>
    <p:sldId id="263" r:id="rId12"/>
    <p:sldId id="278" r:id="rId13"/>
    <p:sldId id="280" r:id="rId14"/>
    <p:sldId id="279" r:id="rId15"/>
    <p:sldId id="264" r:id="rId16"/>
    <p:sldId id="281" r:id="rId17"/>
    <p:sldId id="282" r:id="rId18"/>
    <p:sldId id="284" r:id="rId19"/>
    <p:sldId id="275" r:id="rId20"/>
    <p:sldId id="265" r:id="rId21"/>
    <p:sldId id="271" r:id="rId22"/>
    <p:sldId id="272" r:id="rId23"/>
    <p:sldId id="273" r:id="rId24"/>
    <p:sldId id="269" r:id="rId25"/>
    <p:sldId id="27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91D5-3BCA-436A-960A-DE4CBA6B4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814DB-BAB9-49DF-81BB-E87D3C5E6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D844B-CD64-41D4-84BC-9E78F0F8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89E9-0A1D-429D-B8B8-92AC6158F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B047A-1E49-45AA-84F1-0A8159E1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25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423C-9FCE-470D-9113-AFC523032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99C02-F2B2-45A5-802C-1EEE9062A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278F0-6D82-46F8-9F84-390D74873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729B-6DB0-4D1A-9ED8-4EFA6EAC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A5EE5-C877-4597-A21C-CE4953D1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21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7F07-1C66-4FF7-A038-2BE27425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7D75C-5ED8-4137-89A3-ED6A9632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0697-EB7B-453A-9B2A-83BE7511E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1C621-56BF-46B1-9F97-EE27A4E9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E517D-B176-48FF-828C-A61B1BC7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3A756-4D85-4F60-8E49-2AAFAFC2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2B23-5050-4DB4-91E7-DBED831BD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D9522-D439-4B85-9D09-8A047FBCE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44F64-C1F3-4699-B3E7-C1836E40A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A27DD-4408-4312-B3C7-20632F6C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27E68-103C-413D-8663-0BF2CB64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0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C001-B327-4A54-8602-EC7AA2AA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F3EA4-54BD-4CEF-9B24-FD0C19AE6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6EC74-E1D3-4A21-ABD0-E4DB69032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4F1C2-E6EC-4559-BFDC-D9ABB9F19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4839D-2FD4-4CCF-B3AA-7B39EEE40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4ED72-CA63-4CFE-84BB-BB566A07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CA8D3-AFE4-4324-9495-BFA1A258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591748-B3F0-4537-AF46-26D9A045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09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D327-3660-4CDC-9DE7-FDF38F77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ABCE1-4C57-4A29-841A-17F676FA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5338B-BDA9-4142-9891-015CD6C7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27BC7-6E24-4BA8-8833-21F30845C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09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0F361-EB5E-4E0A-9628-2A86E7F1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E29FF4-7199-4722-9562-390D37CA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CA6E1-9734-48DB-AD07-7AEE4C46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F6E5-81AB-43BA-BA05-B43708836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D4C30-0FB1-4527-BC5F-4FD4D5CA4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3F438-66CA-4C0F-9875-66A01CDC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5B477-F05F-4A61-A729-52626E7D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69409-FA01-4A29-8A1D-4B78F318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597DC-5A0D-44D6-898C-566847C8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76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91530-21E5-4F3C-9AF0-6FD1B175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94F31-4AB4-4828-9955-99CAB6ED2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F326C-9264-4EF9-B5A4-2E9B4ABB8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A42E8-0FB0-42EA-A5A1-C6D831F9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4D052-123C-4302-90B4-B71B0275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1E467-3453-483E-985E-48258A9B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8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DB34-4B5B-41C1-A208-8E061BA2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B2955-E556-427E-9597-83813DB6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FF417-330A-491D-A596-C8776D6A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3C226-E62D-448E-8761-EA6C6F39C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D0ADA-8D0F-4BAF-8AB9-0284E004F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3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5D1E9-FDD5-44B2-B6B2-2CFD56E11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6EE39-3C23-47C3-8AD3-DAE0C4144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C77F6-29CE-4FED-A7A3-9CA2EC81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44F4-4B25-4F18-873A-FAF46376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3901B-5C41-4EA2-A4E4-261E5966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FF772-4DBC-4FC3-BBA8-E356284C1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DA180-EEAD-4AAA-807C-78E7747D2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B9157-5B2E-4A55-B7FD-46D4AD33F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A2128-F40D-4D02-82FE-21FF7F01442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62D41-DCA1-4C90-B656-B74099C3B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8E35C-82F3-480D-8EAD-068E908FD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9CF1D-7C04-4D53-98B5-887C2BC49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7142E3-AC67-446F-B4F7-DCC1DACF98D3}"/>
              </a:ext>
            </a:extLst>
          </p:cNvPr>
          <p:cNvSpPr/>
          <p:nvPr/>
        </p:nvSpPr>
        <p:spPr>
          <a:xfrm>
            <a:off x="1113181" y="3631096"/>
            <a:ext cx="4982819" cy="64935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476316" y="3724941"/>
            <a:ext cx="4221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Mengapa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 Saya Kristen #1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4071D-6BEB-4C48-A902-B6627BDE6EE8}"/>
              </a:ext>
            </a:extLst>
          </p:cNvPr>
          <p:cNvSpPr txBox="1"/>
          <p:nvPr/>
        </p:nvSpPr>
        <p:spPr>
          <a:xfrm>
            <a:off x="993913" y="4594784"/>
            <a:ext cx="10204174" cy="70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SIGNIFIKANSI TEOLOGI </a:t>
            </a:r>
            <a:r>
              <a:rPr lang="en-US" sz="4000" b="1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YANG BENAR</a:t>
            </a:r>
            <a:endParaRPr lang="en-US" sz="32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67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1C878F-1794-4E81-84CC-463680E094B8}"/>
              </a:ext>
            </a:extLst>
          </p:cNvPr>
          <p:cNvSpPr/>
          <p:nvPr/>
        </p:nvSpPr>
        <p:spPr>
          <a:xfrm>
            <a:off x="5824330" y="0"/>
            <a:ext cx="626165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DD1500-62EB-46BC-9AD8-FC52946BC4A4}"/>
              </a:ext>
            </a:extLst>
          </p:cNvPr>
          <p:cNvSpPr/>
          <p:nvPr/>
        </p:nvSpPr>
        <p:spPr>
          <a:xfrm>
            <a:off x="7106476" y="1702903"/>
            <a:ext cx="3697359" cy="66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Montserrat ExtraBold" panose="00000900000000000000" pitchFamily="50" charset="0"/>
              </a:rPr>
              <a:t>Kesombongan</a:t>
            </a:r>
            <a:endParaRPr lang="en-US" sz="2400" dirty="0">
              <a:latin typeface="Montserrat ExtraBold" panose="000009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B4159-3DCA-4A4D-AD66-E743A7A839CA}"/>
              </a:ext>
            </a:extLst>
          </p:cNvPr>
          <p:cNvSpPr/>
          <p:nvPr/>
        </p:nvSpPr>
        <p:spPr>
          <a:xfrm>
            <a:off x="7106476" y="2513492"/>
            <a:ext cx="3697359" cy="66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Montserrat ExtraBold" panose="00000900000000000000" pitchFamily="50" charset="0"/>
              </a:rPr>
              <a:t>Kekeringan</a:t>
            </a:r>
            <a:r>
              <a:rPr lang="en-US" sz="2400" dirty="0">
                <a:latin typeface="Montserrat ExtraBold" panose="00000900000000000000" pitchFamily="50" charset="0"/>
              </a:rPr>
              <a:t> spiritual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DBBB37-E112-447E-AD3A-3FF09F266D6E}"/>
              </a:ext>
            </a:extLst>
          </p:cNvPr>
          <p:cNvSpPr/>
          <p:nvPr/>
        </p:nvSpPr>
        <p:spPr>
          <a:xfrm>
            <a:off x="7106475" y="3358316"/>
            <a:ext cx="3697359" cy="66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Montserrat ExtraBold" panose="00000900000000000000" pitchFamily="50" charset="0"/>
              </a:rPr>
              <a:t>Perpecahan</a:t>
            </a:r>
            <a:r>
              <a:rPr lang="en-US" sz="2400" dirty="0">
                <a:latin typeface="Montserrat ExtraBold" panose="00000900000000000000" pitchFamily="50" charset="0"/>
              </a:rPr>
              <a:t> </a:t>
            </a:r>
            <a:r>
              <a:rPr lang="en-US" sz="2400" dirty="0" err="1">
                <a:latin typeface="Montserrat ExtraBold" panose="00000900000000000000" pitchFamily="50" charset="0"/>
              </a:rPr>
              <a:t>gereja</a:t>
            </a:r>
            <a:endParaRPr lang="en-US" sz="2400" dirty="0">
              <a:latin typeface="Montserrat ExtraBold" panose="000009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3E8B2E-998C-4BE6-B0A7-AEE81A9C9DE6}"/>
              </a:ext>
            </a:extLst>
          </p:cNvPr>
          <p:cNvSpPr/>
          <p:nvPr/>
        </p:nvSpPr>
        <p:spPr>
          <a:xfrm>
            <a:off x="7106474" y="4203139"/>
            <a:ext cx="3697359" cy="81058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Montserrat ExtraBold" panose="00000900000000000000" pitchFamily="50" charset="0"/>
              </a:rPr>
              <a:t>Sikap</a:t>
            </a:r>
            <a:r>
              <a:rPr lang="en-US" sz="2000" dirty="0">
                <a:latin typeface="Montserrat ExtraBold" panose="00000900000000000000" pitchFamily="50" charset="0"/>
              </a:rPr>
              <a:t> yang </a:t>
            </a:r>
            <a:r>
              <a:rPr lang="en-US" sz="2000" dirty="0" err="1">
                <a:latin typeface="Montserrat ExtraBold" panose="00000900000000000000" pitchFamily="50" charset="0"/>
              </a:rPr>
              <a:t>tidak</a:t>
            </a:r>
            <a:r>
              <a:rPr lang="en-US" sz="2000" dirty="0">
                <a:latin typeface="Montserrat ExtraBold" panose="00000900000000000000" pitchFamily="50" charset="0"/>
              </a:rPr>
              <a:t> </a:t>
            </a:r>
            <a:r>
              <a:rPr lang="en-US" sz="2000" dirty="0" err="1">
                <a:latin typeface="Montserrat ExtraBold" panose="00000900000000000000" pitchFamily="50" charset="0"/>
              </a:rPr>
              <a:t>mengandalkan</a:t>
            </a:r>
            <a:r>
              <a:rPr lang="en-US" sz="2000" dirty="0">
                <a:latin typeface="Montserrat ExtraBold" panose="00000900000000000000" pitchFamily="50" charset="0"/>
              </a:rPr>
              <a:t> </a:t>
            </a:r>
            <a:r>
              <a:rPr lang="en-US" sz="2000" dirty="0" err="1">
                <a:latin typeface="Montserrat ExtraBold" panose="00000900000000000000" pitchFamily="50" charset="0"/>
              </a:rPr>
              <a:t>Tuhan</a:t>
            </a:r>
            <a:endParaRPr lang="en-US" sz="2000" dirty="0">
              <a:latin typeface="Montserrat ExtraBold" panose="00000900000000000000" pitchFamily="50" charset="0"/>
            </a:endParaRPr>
          </a:p>
        </p:txBody>
      </p:sp>
      <p:pic>
        <p:nvPicPr>
          <p:cNvPr id="1026" name="Picture 2" descr="Antipathy Images – Browse 18,407 Stock Photos, Vectors, and Video | Adobe  Stock">
            <a:extLst>
              <a:ext uri="{FF2B5EF4-FFF2-40B4-BE49-F238E27FC236}">
                <a16:creationId xmlns:a16="http://schemas.microsoft.com/office/drawing/2014/main" id="{CC4797AA-092C-4B54-8408-50A013ED76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2" r="700"/>
          <a:stretch/>
        </p:blipFill>
        <p:spPr bwMode="auto">
          <a:xfrm>
            <a:off x="102706" y="1124498"/>
            <a:ext cx="4585252" cy="410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B4071D-6BEB-4C48-A902-B6627BDE6EE8}"/>
              </a:ext>
            </a:extLst>
          </p:cNvPr>
          <p:cNvSpPr txBox="1"/>
          <p:nvPr/>
        </p:nvSpPr>
        <p:spPr>
          <a:xfrm>
            <a:off x="1278835" y="4521186"/>
            <a:ext cx="4439478" cy="1831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Sebagian orang </a:t>
            </a:r>
            <a:r>
              <a:rPr lang="en-US" sz="36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bersikap</a:t>
            </a:r>
            <a:r>
              <a:rPr lang="en-US" sz="36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antipati</a:t>
            </a:r>
            <a:r>
              <a:rPr lang="en-US" sz="3600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terhadap</a:t>
            </a:r>
            <a:r>
              <a:rPr lang="en-US" sz="36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endParaRPr lang="en-US" sz="54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4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141517" y="2396460"/>
            <a:ext cx="541499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Anggapan</a:t>
            </a:r>
            <a:r>
              <a:rPr lang="en-US" sz="36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US" sz="36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keliru</a:t>
            </a:r>
            <a:r>
              <a:rPr lang="en-US" sz="36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36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ironis</a:t>
            </a:r>
            <a:r>
              <a:rPr lang="en-US" sz="3600" b="1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3600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Memiliki</a:t>
            </a:r>
            <a:r>
              <a:rPr lang="en-US" sz="24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24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merupakan</a:t>
            </a:r>
            <a:r>
              <a:rPr lang="en-US" sz="24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sebuah</a:t>
            </a:r>
            <a:r>
              <a:rPr lang="en-US" sz="24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keniscayaan</a:t>
            </a:r>
            <a:r>
              <a:rPr lang="en-US" sz="2400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2" name="AutoShape 2" descr="Incorrect Stock Photos, Royalty Free Incorrect Images | Depositphotos">
            <a:extLst>
              <a:ext uri="{FF2B5EF4-FFF2-40B4-BE49-F238E27FC236}">
                <a16:creationId xmlns:a16="http://schemas.microsoft.com/office/drawing/2014/main" id="{5D763D3C-B305-47EB-A1B4-440E3F2A7E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I am a good person with bad attitude…">
            <a:extLst>
              <a:ext uri="{FF2B5EF4-FFF2-40B4-BE49-F238E27FC236}">
                <a16:creationId xmlns:a16="http://schemas.microsoft.com/office/drawing/2014/main" id="{915720EA-5A7F-4778-8284-4E507A49EB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r="23982"/>
          <a:stretch/>
        </p:blipFill>
        <p:spPr bwMode="auto">
          <a:xfrm>
            <a:off x="7288695" y="252412"/>
            <a:ext cx="4784035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EFDE68-2044-4838-A102-0D3186C89C97}"/>
              </a:ext>
            </a:extLst>
          </p:cNvPr>
          <p:cNvSpPr/>
          <p:nvPr/>
        </p:nvSpPr>
        <p:spPr>
          <a:xfrm>
            <a:off x="10470998" y="1"/>
            <a:ext cx="1349941" cy="4638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0B6202-023A-41C6-B924-D0F486A0E743}"/>
              </a:ext>
            </a:extLst>
          </p:cNvPr>
          <p:cNvSpPr/>
          <p:nvPr/>
        </p:nvSpPr>
        <p:spPr>
          <a:xfrm>
            <a:off x="7658224" y="6301721"/>
            <a:ext cx="1349941" cy="4638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13E410-5E79-4B23-BC45-E6CEC0591ACF}"/>
              </a:ext>
            </a:extLst>
          </p:cNvPr>
          <p:cNvSpPr/>
          <p:nvPr/>
        </p:nvSpPr>
        <p:spPr>
          <a:xfrm>
            <a:off x="1258957" y="3737113"/>
            <a:ext cx="1722782" cy="1060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0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5592417" y="1936430"/>
            <a:ext cx="5632173" cy="40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85750" algn="l"/>
              </a:tabLst>
            </a:pPr>
            <a:r>
              <a:rPr lang="en-US" sz="4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Signifikansi</a:t>
            </a: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Yang </a:t>
            </a:r>
            <a:r>
              <a:rPr lang="en-US" sz="40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Benar</a:t>
            </a:r>
            <a:endParaRPr lang="en-US" sz="32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85750" algn="l"/>
              </a:tabLst>
            </a:pPr>
            <a:r>
              <a:rPr lang="en-US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85750" algn="l"/>
              </a:tabLst>
            </a:pPr>
            <a:endParaRPr lang="en-US" sz="20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85750" algn="l"/>
              </a:tabLst>
            </a:pPr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 merupakan bagian </a:t>
            </a:r>
            <a:r>
              <a:rPr lang="id-ID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tak terpisahkan </a:t>
            </a:r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 kerohanian. Bukan hanya tak terpisahkan, teologi justru membawa </a:t>
            </a:r>
            <a:r>
              <a:rPr lang="id-ID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banyak kebaikan</a:t>
            </a:r>
            <a:r>
              <a:rPr lang="id-ID" sz="2400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bagi kerohanian.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B58091-6A96-4CA9-B04B-7B717CF1C529}"/>
              </a:ext>
            </a:extLst>
          </p:cNvPr>
          <p:cNvSpPr/>
          <p:nvPr/>
        </p:nvSpPr>
        <p:spPr>
          <a:xfrm>
            <a:off x="0" y="0"/>
            <a:ext cx="1523999" cy="68579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change Tag | Family Matters">
            <a:extLst>
              <a:ext uri="{FF2B5EF4-FFF2-40B4-BE49-F238E27FC236}">
                <a16:creationId xmlns:a16="http://schemas.microsoft.com/office/drawing/2014/main" id="{5A8E9C69-5BA1-4C92-964F-EDCD49B53E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2" r="21422"/>
          <a:stretch/>
        </p:blipFill>
        <p:spPr bwMode="auto">
          <a:xfrm>
            <a:off x="410817" y="736012"/>
            <a:ext cx="4392758" cy="538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0FE618-E4C1-455F-BA70-34AA80EE3FF5}"/>
              </a:ext>
            </a:extLst>
          </p:cNvPr>
          <p:cNvSpPr/>
          <p:nvPr/>
        </p:nvSpPr>
        <p:spPr>
          <a:xfrm>
            <a:off x="5671931" y="3551583"/>
            <a:ext cx="1497496" cy="1590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31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1166190" y="2215955"/>
            <a:ext cx="4929809" cy="4205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pedoman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menghadapi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pergumulan</a:t>
            </a:r>
            <a:endParaRPr lang="en-US" sz="32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85750" algn="l"/>
              </a:tabLst>
            </a:pPr>
            <a:endParaRPr lang="en-US" sz="16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menyediakan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kerangka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pemikiran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memahami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keadaan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85750" algn="l"/>
              </a:tabLst>
            </a:pPr>
            <a:endParaRPr lang="en-US" sz="16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937A5-E18B-4499-BE66-0525F5693721}"/>
              </a:ext>
            </a:extLst>
          </p:cNvPr>
          <p:cNvSpPr/>
          <p:nvPr/>
        </p:nvSpPr>
        <p:spPr>
          <a:xfrm>
            <a:off x="1249018" y="942134"/>
            <a:ext cx="88789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48A3EC-4B77-40EB-AA25-9FE3C7B5D6CE}"/>
              </a:ext>
            </a:extLst>
          </p:cNvPr>
          <p:cNvSpPr/>
          <p:nvPr/>
        </p:nvSpPr>
        <p:spPr>
          <a:xfrm>
            <a:off x="10575235" y="0"/>
            <a:ext cx="1046922" cy="192279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76EEE-69D8-465B-831D-B48279B73C9B}"/>
              </a:ext>
            </a:extLst>
          </p:cNvPr>
          <p:cNvSpPr/>
          <p:nvPr/>
        </p:nvSpPr>
        <p:spPr>
          <a:xfrm>
            <a:off x="7292009" y="0"/>
            <a:ext cx="1046922" cy="192279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Biarlah Engkau Menjadi Jaminanku | GKA Gloria Rungkut">
            <a:extLst>
              <a:ext uri="{FF2B5EF4-FFF2-40B4-BE49-F238E27FC236}">
                <a16:creationId xmlns:a16="http://schemas.microsoft.com/office/drawing/2014/main" id="{1AC4888F-CD66-427A-1C93-F0C0C7340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2215954"/>
            <a:ext cx="6676745" cy="3365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72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Banyak berdoa belum tentu rohani tapi orang rohani pasti berdoa.</a:t>
            </a:r>
            <a:endParaRPr lang="en-ID"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997226" y="2799269"/>
            <a:ext cx="5787886" cy="163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sangat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diperlukan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pertumbuhan</a:t>
            </a:r>
            <a:r>
              <a:rPr lang="en-US" sz="3200" dirty="0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spiritual.</a:t>
            </a:r>
            <a:endParaRPr lang="en-US" sz="16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937A5-E18B-4499-BE66-0525F5693721}"/>
              </a:ext>
            </a:extLst>
          </p:cNvPr>
          <p:cNvSpPr/>
          <p:nvPr/>
        </p:nvSpPr>
        <p:spPr>
          <a:xfrm>
            <a:off x="1106556" y="1440187"/>
            <a:ext cx="88789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2</a:t>
            </a:r>
          </a:p>
        </p:txBody>
      </p:sp>
      <p:pic>
        <p:nvPicPr>
          <p:cNvPr id="5122" name="Picture 2" descr="Growing - agh.ipb.ac.id">
            <a:extLst>
              <a:ext uri="{FF2B5EF4-FFF2-40B4-BE49-F238E27FC236}">
                <a16:creationId xmlns:a16="http://schemas.microsoft.com/office/drawing/2014/main" id="{D7C12C52-C1DA-410F-BA43-41148B5131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6" r="15353"/>
          <a:stretch/>
        </p:blipFill>
        <p:spPr bwMode="auto">
          <a:xfrm>
            <a:off x="6891130" y="642937"/>
            <a:ext cx="5194852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BAB584-0CA3-4A57-B43B-A6D561662BA8}"/>
              </a:ext>
            </a:extLst>
          </p:cNvPr>
          <p:cNvSpPr txBox="1"/>
          <p:nvPr/>
        </p:nvSpPr>
        <p:spPr>
          <a:xfrm>
            <a:off x="997226" y="4887492"/>
            <a:ext cx="4992757" cy="125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spiritualitas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sehat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kuat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tanpa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tepat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 descr="6 Comforting Prayers to Remind Yourself That God Is in Control">
            <a:extLst>
              <a:ext uri="{FF2B5EF4-FFF2-40B4-BE49-F238E27FC236}">
                <a16:creationId xmlns:a16="http://schemas.microsoft.com/office/drawing/2014/main" id="{A6F523DC-F6A6-73F6-E1EA-C0BFC7036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281" y="573279"/>
            <a:ext cx="3622702" cy="184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280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5274366" y="0"/>
            <a:ext cx="6811618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F50E7-AEC1-4A58-AE53-43EBBC832934}"/>
              </a:ext>
            </a:extLst>
          </p:cNvPr>
          <p:cNvSpPr txBox="1"/>
          <p:nvPr/>
        </p:nvSpPr>
        <p:spPr>
          <a:xfrm>
            <a:off x="6016489" y="2637447"/>
            <a:ext cx="58808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u="none" strike="noStrike" baseline="30000" dirty="0">
                <a:latin typeface="Montserrat" panose="00000500000000000000" pitchFamily="50" charset="0"/>
              </a:rPr>
              <a:t>9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Sebab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jika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mengaku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mulutmu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Tuhan, dan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percaya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hatimu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Allah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membangkitkan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Dia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antara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orang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mati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maka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akan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diselamatkan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u="none" strike="noStrike" baseline="30000" dirty="0">
                <a:latin typeface="Montserrat" panose="00000500000000000000" pitchFamily="50" charset="0"/>
              </a:rPr>
              <a:t>10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Karena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hati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orang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percaya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dibenarkan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, dan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mulut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orang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mengaku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u="none" strike="noStrike" baseline="0" dirty="0" err="1">
                <a:latin typeface="Montserrat" panose="00000500000000000000" pitchFamily="50" charset="0"/>
              </a:rPr>
              <a:t>diselamatkan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 (</a:t>
            </a:r>
            <a:r>
              <a:rPr lang="id-ID" sz="2400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Rm. 10:9-10</a:t>
            </a:r>
            <a:r>
              <a:rPr lang="en-US" sz="2400" b="0" u="none" strike="noStrike" baseline="0" dirty="0">
                <a:latin typeface="Montserrat" panose="00000500000000000000" pitchFamily="50" charset="0"/>
              </a:rPr>
              <a:t>).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DE4DE-F578-4823-81DB-64F51A1BF26B}"/>
              </a:ext>
            </a:extLst>
          </p:cNvPr>
          <p:cNvSpPr txBox="1"/>
          <p:nvPr/>
        </p:nvSpPr>
        <p:spPr>
          <a:xfrm>
            <a:off x="6016489" y="164562"/>
            <a:ext cx="49761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Iman yang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menyelamatkan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berkaitan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pengetahuan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teologis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taraf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tertentu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(Yoh. 17:3; 20:30-31; Rm. 10:9-10; bdk. 1Yoh. 4:1-6)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122" name="Picture 2" descr="Growing - agh.ipb.ac.id">
            <a:extLst>
              <a:ext uri="{FF2B5EF4-FFF2-40B4-BE49-F238E27FC236}">
                <a16:creationId xmlns:a16="http://schemas.microsoft.com/office/drawing/2014/main" id="{D7C12C52-C1DA-410F-BA43-41148B5131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386" r="15353"/>
          <a:stretch/>
        </p:blipFill>
        <p:spPr bwMode="auto">
          <a:xfrm>
            <a:off x="523461" y="642937"/>
            <a:ext cx="5194852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245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C8266-CDDA-B5B8-9C09-E7DF6AB7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5DBD0F-08E1-1736-3252-42FA6126CB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61DDF48-9232-30AA-85BF-A8E0DC801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593DF4-E823-B334-3E75-D56A10246E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6CDAC4-7218-ACF9-49CE-FD6BDF2E85D5}"/>
              </a:ext>
            </a:extLst>
          </p:cNvPr>
          <p:cNvSpPr/>
          <p:nvPr/>
        </p:nvSpPr>
        <p:spPr>
          <a:xfrm>
            <a:off x="5274366" y="0"/>
            <a:ext cx="6811618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24290-F3E4-6BF1-E4B9-C1670B1F566B}"/>
              </a:ext>
            </a:extLst>
          </p:cNvPr>
          <p:cNvSpPr txBox="1"/>
          <p:nvPr/>
        </p:nvSpPr>
        <p:spPr>
          <a:xfrm>
            <a:off x="5942317" y="1043730"/>
            <a:ext cx="588087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none" strike="noStrike" baseline="0" dirty="0" err="1">
                <a:latin typeface="Montserrat" panose="00000500000000000000" pitchFamily="50" charset="0"/>
              </a:rPr>
              <a:t>Inilah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hidup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kekal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yaitu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mengenal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satu-satunya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Allah yang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benar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, dan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mengenal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Kristus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000" u="none" strike="noStrike" baseline="0" dirty="0" err="1">
                <a:latin typeface="Montserrat" panose="00000500000000000000" pitchFamily="50" charset="0"/>
              </a:rPr>
              <a:t>utus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.</a:t>
            </a:r>
          </a:p>
          <a:p>
            <a:r>
              <a:rPr lang="en-US" sz="2000" u="none" strike="noStrike" baseline="0" dirty="0">
                <a:latin typeface="Montserrat" panose="00000500000000000000" pitchFamily="50" charset="0"/>
              </a:rPr>
              <a:t>(</a:t>
            </a:r>
            <a:r>
              <a:rPr lang="id-ID" sz="2000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Yoh. 17:3</a:t>
            </a:r>
            <a:r>
              <a:rPr lang="en-US" sz="2000" u="none" strike="noStrike" baseline="0" dirty="0">
                <a:latin typeface="Montserrat" panose="00000500000000000000" pitchFamily="50" charset="0"/>
              </a:rPr>
              <a:t>).</a:t>
            </a:r>
          </a:p>
          <a:p>
            <a:endParaRPr lang="en-US" sz="2000" dirty="0">
              <a:latin typeface="Montserrat" panose="00000500000000000000" pitchFamily="50" charset="0"/>
            </a:endParaRPr>
          </a:p>
          <a:p>
            <a:r>
              <a:rPr lang="en-US" sz="2000" baseline="30000" dirty="0">
                <a:latin typeface="Montserrat" panose="00000500000000000000" pitchFamily="50" charset="0"/>
              </a:rPr>
              <a:t>30</a:t>
            </a:r>
            <a:r>
              <a:rPr lang="en-US" sz="2000" dirty="0">
                <a:latin typeface="Montserrat" panose="00000500000000000000" pitchFamily="50" charset="0"/>
              </a:rPr>
              <a:t>Memang </a:t>
            </a:r>
            <a:r>
              <a:rPr lang="en-US" sz="2000" dirty="0" err="1">
                <a:latin typeface="Montserrat" panose="00000500000000000000" pitchFamily="50" charset="0"/>
              </a:rPr>
              <a:t>masih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banyak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tanda</a:t>
            </a:r>
            <a:r>
              <a:rPr lang="en-US" sz="2000" dirty="0">
                <a:latin typeface="Montserrat" panose="00000500000000000000" pitchFamily="50" charset="0"/>
              </a:rPr>
              <a:t> lain yang </a:t>
            </a:r>
            <a:r>
              <a:rPr lang="en-US" sz="2000" dirty="0" err="1">
                <a:latin typeface="Montserrat" panose="00000500000000000000" pitchFamily="50" charset="0"/>
              </a:rPr>
              <a:t>dibuat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Yesus</a:t>
            </a:r>
            <a:r>
              <a:rPr lang="en-US" sz="2000" dirty="0">
                <a:latin typeface="Montserrat" panose="00000500000000000000" pitchFamily="50" charset="0"/>
              </a:rPr>
              <a:t> di </a:t>
            </a:r>
            <a:r>
              <a:rPr lang="en-US" sz="2000" dirty="0" err="1">
                <a:latin typeface="Montserrat" panose="00000500000000000000" pitchFamily="50" charset="0"/>
              </a:rPr>
              <a:t>depan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mata</a:t>
            </a:r>
            <a:r>
              <a:rPr lang="en-US" sz="2000" dirty="0">
                <a:latin typeface="Montserrat" panose="00000500000000000000" pitchFamily="50" charset="0"/>
              </a:rPr>
              <a:t> murid-murid-Nya, yang </a:t>
            </a:r>
            <a:r>
              <a:rPr lang="en-US" sz="2000" dirty="0" err="1">
                <a:latin typeface="Montserrat" panose="00000500000000000000" pitchFamily="50" charset="0"/>
              </a:rPr>
              <a:t>tidak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tercatat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dalam</a:t>
            </a:r>
            <a:r>
              <a:rPr lang="en-US" sz="2000" dirty="0">
                <a:latin typeface="Montserrat" panose="00000500000000000000" pitchFamily="50" charset="0"/>
              </a:rPr>
              <a:t> kitab </a:t>
            </a:r>
            <a:r>
              <a:rPr lang="en-US" sz="2000" dirty="0" err="1">
                <a:latin typeface="Montserrat" panose="00000500000000000000" pitchFamily="50" charset="0"/>
              </a:rPr>
              <a:t>ini</a:t>
            </a:r>
            <a:r>
              <a:rPr lang="en-US" sz="2000" dirty="0">
                <a:latin typeface="Montserrat" panose="00000500000000000000" pitchFamily="50" charset="0"/>
              </a:rPr>
              <a:t>,</a:t>
            </a:r>
          </a:p>
          <a:p>
            <a:r>
              <a:rPr lang="en-US" sz="2000" baseline="30000" dirty="0">
                <a:latin typeface="Montserrat" panose="00000500000000000000" pitchFamily="50" charset="0"/>
              </a:rPr>
              <a:t>31 </a:t>
            </a:r>
            <a:r>
              <a:rPr lang="en-US" sz="2000" dirty="0" err="1">
                <a:latin typeface="Montserrat" panose="00000500000000000000" pitchFamily="50" charset="0"/>
              </a:rPr>
              <a:t>tetapi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semua</a:t>
            </a:r>
            <a:r>
              <a:rPr lang="en-US" sz="2000" dirty="0">
                <a:latin typeface="Montserrat" panose="00000500000000000000" pitchFamily="50" charset="0"/>
              </a:rPr>
              <a:t> yang </a:t>
            </a:r>
            <a:r>
              <a:rPr lang="en-US" sz="2000" dirty="0" err="1">
                <a:latin typeface="Montserrat" panose="00000500000000000000" pitchFamily="50" charset="0"/>
              </a:rPr>
              <a:t>tercantum</a:t>
            </a:r>
            <a:r>
              <a:rPr lang="en-US" sz="2000" dirty="0">
                <a:latin typeface="Montserrat" panose="00000500000000000000" pitchFamily="50" charset="0"/>
              </a:rPr>
              <a:t> di </a:t>
            </a:r>
            <a:r>
              <a:rPr lang="en-US" sz="2000" dirty="0" err="1">
                <a:latin typeface="Montserrat" panose="00000500000000000000" pitchFamily="50" charset="0"/>
              </a:rPr>
              <a:t>sini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telah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dicatat</a:t>
            </a:r>
            <a:r>
              <a:rPr lang="en-US" sz="2000" dirty="0">
                <a:latin typeface="Montserrat" panose="00000500000000000000" pitchFamily="50" charset="0"/>
              </a:rPr>
              <a:t>, </a:t>
            </a:r>
            <a:r>
              <a:rPr lang="en-US" sz="2000" dirty="0" err="1">
                <a:latin typeface="Montserrat" panose="00000500000000000000" pitchFamily="50" charset="0"/>
              </a:rPr>
              <a:t>supaya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kamu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percaya</a:t>
            </a:r>
            <a:r>
              <a:rPr lang="en-US" sz="2000" dirty="0">
                <a:latin typeface="Montserrat" panose="00000500000000000000" pitchFamily="50" charset="0"/>
              </a:rPr>
              <a:t>, </a:t>
            </a:r>
            <a:r>
              <a:rPr lang="en-US" sz="2000" dirty="0" err="1">
                <a:latin typeface="Montserrat" panose="00000500000000000000" pitchFamily="50" charset="0"/>
              </a:rPr>
              <a:t>bahwa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Yesuslah</a:t>
            </a:r>
            <a:r>
              <a:rPr lang="en-US" sz="2000" dirty="0">
                <a:latin typeface="Montserrat" panose="00000500000000000000" pitchFamily="50" charset="0"/>
              </a:rPr>
              <a:t> Mesias, Anak Allah, dan </a:t>
            </a:r>
            <a:r>
              <a:rPr lang="en-US" sz="2000" dirty="0" err="1">
                <a:latin typeface="Montserrat" panose="00000500000000000000" pitchFamily="50" charset="0"/>
              </a:rPr>
              <a:t>supaya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kamu</a:t>
            </a:r>
            <a:r>
              <a:rPr lang="en-US" sz="2000" dirty="0">
                <a:latin typeface="Montserrat" panose="00000500000000000000" pitchFamily="50" charset="0"/>
              </a:rPr>
              <a:t> oleh </a:t>
            </a:r>
            <a:r>
              <a:rPr lang="en-US" sz="2000" dirty="0" err="1">
                <a:latin typeface="Montserrat" panose="00000500000000000000" pitchFamily="50" charset="0"/>
              </a:rPr>
              <a:t>imanmu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memperoleh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hidup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dalam</a:t>
            </a:r>
            <a:r>
              <a:rPr lang="en-US" sz="2000" dirty="0">
                <a:latin typeface="Montserrat" panose="00000500000000000000" pitchFamily="50" charset="0"/>
              </a:rPr>
              <a:t> nama-Nya.</a:t>
            </a:r>
          </a:p>
          <a:p>
            <a:r>
              <a:rPr lang="en-US" sz="2000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id-ID" sz="2000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Yoh. 20:30-31</a:t>
            </a:r>
            <a:r>
              <a:rPr lang="en-US" sz="2000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Montserrat" panose="00000500000000000000" pitchFamily="50" charset="0"/>
            </a:endParaRPr>
          </a:p>
        </p:txBody>
      </p:sp>
      <p:pic>
        <p:nvPicPr>
          <p:cNvPr id="5122" name="Picture 2" descr="Growing - agh.ipb.ac.id">
            <a:extLst>
              <a:ext uri="{FF2B5EF4-FFF2-40B4-BE49-F238E27FC236}">
                <a16:creationId xmlns:a16="http://schemas.microsoft.com/office/drawing/2014/main" id="{259A1078-9833-C9A6-604F-DF82F5A815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386" r="15353"/>
          <a:stretch/>
        </p:blipFill>
        <p:spPr bwMode="auto">
          <a:xfrm>
            <a:off x="523461" y="642937"/>
            <a:ext cx="5194852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53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616A-7073-4350-1CA2-940CE2C0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49E10F-8668-0D68-F9F3-218E57BED5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18D37092-D9A4-052B-FBC5-86C7CFDF82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9A195B-A06E-646F-2567-D6E4323D44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928A27-A1DE-05FC-E13E-0871D75EF72D}"/>
              </a:ext>
            </a:extLst>
          </p:cNvPr>
          <p:cNvSpPr txBox="1"/>
          <p:nvPr/>
        </p:nvSpPr>
        <p:spPr>
          <a:xfrm>
            <a:off x="1538748" y="1166842"/>
            <a:ext cx="91145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1Yoh. 4:1-6</a:t>
            </a:r>
            <a:endParaRPr lang="en-ID" dirty="0">
              <a:latin typeface="Montserrat" pitchFamily="2" charset="0"/>
            </a:endParaRPr>
          </a:p>
          <a:p>
            <a:pPr algn="ctr"/>
            <a:r>
              <a:rPr lang="en-ID" sz="1400" dirty="0">
                <a:latin typeface="Montserrat" pitchFamily="2" charset="0"/>
              </a:rPr>
              <a:t>1</a:t>
            </a:r>
            <a:r>
              <a:rPr lang="en-ID" dirty="0">
                <a:latin typeface="Montserrat" pitchFamily="2" charset="0"/>
              </a:rPr>
              <a:t>Saudara-saudaraku yang </a:t>
            </a:r>
            <a:r>
              <a:rPr lang="en-ID" dirty="0" err="1">
                <a:latin typeface="Montserrat" pitchFamily="2" charset="0"/>
              </a:rPr>
              <a:t>kekasih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janganlah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percaya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setiap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tetapi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ujilah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roh-roh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apakah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Allah; </a:t>
            </a:r>
            <a:r>
              <a:rPr lang="en-ID" dirty="0" err="1">
                <a:latin typeface="Montserrat" pitchFamily="2" charset="0"/>
              </a:rPr>
              <a:t>sebab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banyak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nabi-nabi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palsu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muncul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pergi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ke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seluruh</a:t>
            </a:r>
            <a:r>
              <a:rPr lang="en-ID" dirty="0">
                <a:latin typeface="Montserrat" pitchFamily="2" charset="0"/>
              </a:rPr>
              <a:t> dunia. </a:t>
            </a:r>
            <a:r>
              <a:rPr lang="en-ID" sz="1400" dirty="0">
                <a:latin typeface="Montserrat" pitchFamily="2" charset="0"/>
              </a:rPr>
              <a:t>2</a:t>
            </a:r>
            <a:r>
              <a:rPr lang="en-ID" dirty="0">
                <a:latin typeface="Montserrat" pitchFamily="2" charset="0"/>
              </a:rPr>
              <a:t>Demikianlah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mengenal</a:t>
            </a:r>
            <a:r>
              <a:rPr lang="en-ID" dirty="0">
                <a:latin typeface="Montserrat" pitchFamily="2" charset="0"/>
              </a:rPr>
              <a:t> Roh Allah: </a:t>
            </a:r>
            <a:r>
              <a:rPr lang="en-ID" dirty="0" err="1">
                <a:latin typeface="Montserrat" pitchFamily="2" charset="0"/>
              </a:rPr>
              <a:t>setiap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mengaku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bahwa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Yesus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Kristus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datang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sebagai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manusia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Allah, </a:t>
            </a:r>
            <a:r>
              <a:rPr lang="en-ID" sz="1400" dirty="0">
                <a:latin typeface="Montserrat" pitchFamily="2" charset="0"/>
              </a:rPr>
              <a:t>3</a:t>
            </a:r>
            <a:r>
              <a:rPr lang="en-ID" dirty="0">
                <a:latin typeface="Montserrat" pitchFamily="2" charset="0"/>
              </a:rPr>
              <a:t>dan </a:t>
            </a:r>
            <a:r>
              <a:rPr lang="en-ID" dirty="0" err="1">
                <a:latin typeface="Montserrat" pitchFamily="2" charset="0"/>
              </a:rPr>
              <a:t>setiap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, yang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mengaku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Yesus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Allah. Roh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antikristus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tentang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dengar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bahwa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datang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sekarang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ini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sudah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di </a:t>
            </a:r>
            <a:r>
              <a:rPr lang="en-ID" dirty="0" err="1">
                <a:latin typeface="Montserrat" pitchFamily="2" charset="0"/>
              </a:rPr>
              <a:t>dalam</a:t>
            </a:r>
            <a:r>
              <a:rPr lang="en-ID" dirty="0">
                <a:latin typeface="Montserrat" pitchFamily="2" charset="0"/>
              </a:rPr>
              <a:t> dunia. </a:t>
            </a:r>
            <a:r>
              <a:rPr lang="en-ID" sz="1400" dirty="0">
                <a:latin typeface="Montserrat" pitchFamily="2" charset="0"/>
              </a:rPr>
              <a:t>4</a:t>
            </a:r>
            <a:r>
              <a:rPr lang="en-ID" dirty="0">
                <a:latin typeface="Montserrat" pitchFamily="2" charset="0"/>
              </a:rPr>
              <a:t>Kamu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Allah, </a:t>
            </a:r>
            <a:r>
              <a:rPr lang="en-ID" dirty="0" err="1">
                <a:latin typeface="Montserrat" pitchFamily="2" charset="0"/>
              </a:rPr>
              <a:t>anak-anakku</a:t>
            </a:r>
            <a:r>
              <a:rPr lang="en-ID" dirty="0">
                <a:latin typeface="Montserrat" pitchFamily="2" charset="0"/>
              </a:rPr>
              <a:t>, dan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mengalahkan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nabi-nabi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palsu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; </a:t>
            </a:r>
            <a:r>
              <a:rPr lang="en-ID" dirty="0" err="1">
                <a:latin typeface="Montserrat" pitchFamily="2" charset="0"/>
              </a:rPr>
              <a:t>sebab</a:t>
            </a:r>
            <a:r>
              <a:rPr lang="en-ID" dirty="0">
                <a:latin typeface="Montserrat" pitchFamily="2" charset="0"/>
              </a:rPr>
              <a:t> Roh yang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di </a:t>
            </a:r>
            <a:r>
              <a:rPr lang="en-ID" dirty="0" err="1">
                <a:latin typeface="Montserrat" pitchFamily="2" charset="0"/>
              </a:rPr>
              <a:t>dalam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lebih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besar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pada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di </a:t>
            </a:r>
            <a:r>
              <a:rPr lang="en-ID" dirty="0" err="1">
                <a:latin typeface="Montserrat" pitchFamily="2" charset="0"/>
              </a:rPr>
              <a:t>dalam</a:t>
            </a:r>
            <a:r>
              <a:rPr lang="en-ID" dirty="0">
                <a:latin typeface="Montserrat" pitchFamily="2" charset="0"/>
              </a:rPr>
              <a:t> dunia. </a:t>
            </a:r>
            <a:r>
              <a:rPr lang="en-ID" sz="1400" dirty="0">
                <a:latin typeface="Montserrat" pitchFamily="2" charset="0"/>
              </a:rPr>
              <a:t>5</a:t>
            </a:r>
            <a:r>
              <a:rPr lang="en-ID" dirty="0">
                <a:latin typeface="Montserrat" pitchFamily="2" charset="0"/>
              </a:rPr>
              <a:t>Mereka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dunia; </a:t>
            </a:r>
            <a:r>
              <a:rPr lang="en-ID" dirty="0" err="1">
                <a:latin typeface="Montserrat" pitchFamily="2" charset="0"/>
              </a:rPr>
              <a:t>sebab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berbicara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tentang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hal-hal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duniawi</a:t>
            </a:r>
            <a:r>
              <a:rPr lang="en-ID" dirty="0">
                <a:latin typeface="Montserrat" pitchFamily="2" charset="0"/>
              </a:rPr>
              <a:t> dan dunia </a:t>
            </a:r>
            <a:r>
              <a:rPr lang="en-ID" dirty="0" err="1">
                <a:latin typeface="Montserrat" pitchFamily="2" charset="0"/>
              </a:rPr>
              <a:t>mendengarkan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. </a:t>
            </a:r>
            <a:r>
              <a:rPr lang="en-ID" sz="1400" dirty="0">
                <a:latin typeface="Montserrat" pitchFamily="2" charset="0"/>
              </a:rPr>
              <a:t>6</a:t>
            </a:r>
            <a:r>
              <a:rPr lang="en-ID" dirty="0">
                <a:latin typeface="Montserrat" pitchFamily="2" charset="0"/>
              </a:rPr>
              <a:t>Kami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Allah: </a:t>
            </a:r>
            <a:r>
              <a:rPr lang="en-ID" dirty="0" err="1">
                <a:latin typeface="Montserrat" pitchFamily="2" charset="0"/>
              </a:rPr>
              <a:t>barangsiapa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mengenal</a:t>
            </a:r>
            <a:r>
              <a:rPr lang="en-ID" dirty="0">
                <a:latin typeface="Montserrat" pitchFamily="2" charset="0"/>
              </a:rPr>
              <a:t> Allah,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mendengarkan</a:t>
            </a:r>
            <a:r>
              <a:rPr lang="en-ID" dirty="0">
                <a:latin typeface="Montserrat" pitchFamily="2" charset="0"/>
              </a:rPr>
              <a:t> kami; </a:t>
            </a:r>
            <a:r>
              <a:rPr lang="en-ID" dirty="0" err="1">
                <a:latin typeface="Montserrat" pitchFamily="2" charset="0"/>
              </a:rPr>
              <a:t>barangsiapa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Allah,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mendengarkan</a:t>
            </a:r>
            <a:r>
              <a:rPr lang="en-ID" dirty="0">
                <a:latin typeface="Montserrat" pitchFamily="2" charset="0"/>
              </a:rPr>
              <a:t> kami. </a:t>
            </a:r>
            <a:r>
              <a:rPr lang="en-ID" dirty="0" err="1">
                <a:latin typeface="Montserrat" pitchFamily="2" charset="0"/>
              </a:rPr>
              <a:t>Itulah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tandanya</a:t>
            </a:r>
            <a:r>
              <a:rPr lang="en-ID" dirty="0">
                <a:latin typeface="Montserrat" pitchFamily="2" charset="0"/>
              </a:rPr>
              <a:t> Roh </a:t>
            </a:r>
            <a:r>
              <a:rPr lang="en-ID" dirty="0" err="1">
                <a:latin typeface="Montserrat" pitchFamily="2" charset="0"/>
              </a:rPr>
              <a:t>kebenaran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menyesatkan</a:t>
            </a:r>
            <a:r>
              <a:rPr lang="en-ID" dirty="0">
                <a:latin typeface="Montserrat" pitchFamily="2" charset="0"/>
              </a:rPr>
              <a:t>.</a:t>
            </a:r>
            <a:endParaRPr lang="en-US" sz="20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2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5168348" y="0"/>
            <a:ext cx="691763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F50E7-AEC1-4A58-AE53-43EBBC832934}"/>
              </a:ext>
            </a:extLst>
          </p:cNvPr>
          <p:cNvSpPr txBox="1"/>
          <p:nvPr/>
        </p:nvSpPr>
        <p:spPr>
          <a:xfrm>
            <a:off x="6096000" y="1843196"/>
            <a:ext cx="55725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13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sampai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kita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semua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mencapai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kesatuan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iman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pengetahuan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benar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tentang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Anak Allah,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kedewasaan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penuh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tingkat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pertumbuhan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sesuai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kepenuhan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Kristus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14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sehingga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kita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bukan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lagi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anak-anak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diombang-ambingkan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rupa-rupa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angin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pengajaran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permainan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palsu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kelicikan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menyesatkan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(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Ef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4:13-14).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DE4DE-F578-4823-81DB-64F51A1BF26B}"/>
              </a:ext>
            </a:extLst>
          </p:cNvPr>
          <p:cNvSpPr txBox="1"/>
          <p:nvPr/>
        </p:nvSpPr>
        <p:spPr>
          <a:xfrm>
            <a:off x="6096000" y="273536"/>
            <a:ext cx="48304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Salah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satu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elemen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penting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pertumbuhan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rohani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pengenalan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terhadap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Kristus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Ef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4:13-14).</a:t>
            </a:r>
          </a:p>
        </p:txBody>
      </p:sp>
      <p:pic>
        <p:nvPicPr>
          <p:cNvPr id="11" name="Picture 2" descr="Growing - agh.ipb.ac.id">
            <a:extLst>
              <a:ext uri="{FF2B5EF4-FFF2-40B4-BE49-F238E27FC236}">
                <a16:creationId xmlns:a16="http://schemas.microsoft.com/office/drawing/2014/main" id="{B8F5DF1B-85A4-4B5B-BA87-B7E2923301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386" r="15353"/>
          <a:stretch/>
        </p:blipFill>
        <p:spPr bwMode="auto">
          <a:xfrm>
            <a:off x="523461" y="642937"/>
            <a:ext cx="5194852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55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4996070" y="0"/>
            <a:ext cx="70899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F50E7-AEC1-4A58-AE53-43EBBC832934}"/>
              </a:ext>
            </a:extLst>
          </p:cNvPr>
          <p:cNvSpPr txBox="1"/>
          <p:nvPr/>
        </p:nvSpPr>
        <p:spPr>
          <a:xfrm>
            <a:off x="6241774" y="1823982"/>
            <a:ext cx="47277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19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Atau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tahukah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tubuhmu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bait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Roh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Kudus yang diam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Roh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Kudus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peroleh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Allah,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bukan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milik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sendiri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?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20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Sebab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dibeli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harganya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lunas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dibayar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Karena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muliakanlah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Allah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tubuhmu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! (1Kor. 6:19-20).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DE4DE-F578-4823-81DB-64F51A1BF26B}"/>
              </a:ext>
            </a:extLst>
          </p:cNvPr>
          <p:cNvSpPr txBox="1"/>
          <p:nvPr/>
        </p:nvSpPr>
        <p:spPr>
          <a:xfrm>
            <a:off x="6241774" y="454225"/>
            <a:ext cx="48304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landasan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etika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Kristen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(1Kor. 6:12-20; 8:1-13).</a:t>
            </a:r>
          </a:p>
        </p:txBody>
      </p:sp>
      <p:pic>
        <p:nvPicPr>
          <p:cNvPr id="11" name="Picture 2" descr="Growing - agh.ipb.ac.id">
            <a:extLst>
              <a:ext uri="{FF2B5EF4-FFF2-40B4-BE49-F238E27FC236}">
                <a16:creationId xmlns:a16="http://schemas.microsoft.com/office/drawing/2014/main" id="{C1583AD8-482D-4FA2-89B0-8FAF025D44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386" r="15353"/>
          <a:stretch/>
        </p:blipFill>
        <p:spPr bwMode="auto">
          <a:xfrm>
            <a:off x="523461" y="642937"/>
            <a:ext cx="5194852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446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3C58E-4629-4AC1-FB14-B319E8D82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D3DB31-B802-E91B-2B7F-02184177E4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B55F22D7-BDF0-648D-AD11-2E6F2FC77E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50719D-BAF8-A387-1E71-7CC6255FC9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98B15B-4D0D-772F-8B9D-2CD6E76AC846}"/>
              </a:ext>
            </a:extLst>
          </p:cNvPr>
          <p:cNvSpPr txBox="1"/>
          <p:nvPr/>
        </p:nvSpPr>
        <p:spPr>
          <a:xfrm>
            <a:off x="1016837" y="843677"/>
            <a:ext cx="1015832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1Kor. 6:12-20</a:t>
            </a:r>
            <a:endParaRPr lang="en-US" dirty="0">
              <a:latin typeface="Montserrat" panose="00000500000000000000" pitchFamily="50" charset="0"/>
            </a:endParaRPr>
          </a:p>
          <a:p>
            <a:pPr algn="ctr" rtl="0"/>
            <a:r>
              <a:rPr lang="en-US" sz="1400" dirty="0">
                <a:latin typeface="Montserrat" panose="00000500000000000000" pitchFamily="50" charset="0"/>
              </a:rPr>
              <a:t>12</a:t>
            </a:r>
            <a:r>
              <a:rPr lang="en-US" dirty="0">
                <a:latin typeface="Montserrat" panose="00000500000000000000" pitchFamily="50" charset="0"/>
              </a:rPr>
              <a:t>Segala </a:t>
            </a:r>
            <a:r>
              <a:rPr lang="en-US" dirty="0" err="1">
                <a:latin typeface="Montserrat" panose="00000500000000000000" pitchFamily="50" charset="0"/>
              </a:rPr>
              <a:t>sesuatu</a:t>
            </a:r>
            <a:r>
              <a:rPr lang="en-US" dirty="0">
                <a:latin typeface="Montserrat" panose="00000500000000000000" pitchFamily="50" charset="0"/>
              </a:rPr>
              <a:t> halal </a:t>
            </a:r>
            <a:r>
              <a:rPr lang="en-US" dirty="0" err="1">
                <a:latin typeface="Montserrat" panose="00000500000000000000" pitchFamily="50" charset="0"/>
              </a:rPr>
              <a:t>bagiku</a:t>
            </a:r>
            <a:r>
              <a:rPr lang="en-US" dirty="0">
                <a:latin typeface="Montserrat" panose="00000500000000000000" pitchFamily="50" charset="0"/>
              </a:rPr>
              <a:t>, </a:t>
            </a:r>
            <a:r>
              <a:rPr lang="en-US" dirty="0" err="1">
                <a:latin typeface="Montserrat" panose="00000500000000000000" pitchFamily="50" charset="0"/>
              </a:rPr>
              <a:t>tetapi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bukan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semuanya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berguna</a:t>
            </a:r>
            <a:r>
              <a:rPr lang="en-US" dirty="0">
                <a:latin typeface="Montserrat" panose="00000500000000000000" pitchFamily="50" charset="0"/>
              </a:rPr>
              <a:t>. Segala </a:t>
            </a:r>
            <a:r>
              <a:rPr lang="en-US" dirty="0" err="1">
                <a:latin typeface="Montserrat" panose="00000500000000000000" pitchFamily="50" charset="0"/>
              </a:rPr>
              <a:t>sesuatu</a:t>
            </a:r>
            <a:r>
              <a:rPr lang="en-US" dirty="0">
                <a:latin typeface="Montserrat" panose="00000500000000000000" pitchFamily="50" charset="0"/>
              </a:rPr>
              <a:t> halal </a:t>
            </a:r>
            <a:r>
              <a:rPr lang="en-US" dirty="0" err="1">
                <a:latin typeface="Montserrat" panose="00000500000000000000" pitchFamily="50" charset="0"/>
              </a:rPr>
              <a:t>bagiku</a:t>
            </a:r>
            <a:r>
              <a:rPr lang="en-US" dirty="0">
                <a:latin typeface="Montserrat" panose="00000500000000000000" pitchFamily="50" charset="0"/>
              </a:rPr>
              <a:t>, </a:t>
            </a:r>
            <a:r>
              <a:rPr lang="en-US" dirty="0" err="1">
                <a:latin typeface="Montserrat" panose="00000500000000000000" pitchFamily="50" charset="0"/>
              </a:rPr>
              <a:t>tetapi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aku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tidak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membiarkan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diriku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diperhamba</a:t>
            </a:r>
            <a:r>
              <a:rPr lang="en-US" dirty="0">
                <a:latin typeface="Montserrat" panose="00000500000000000000" pitchFamily="50" charset="0"/>
              </a:rPr>
              <a:t> oleh </a:t>
            </a:r>
            <a:r>
              <a:rPr lang="en-US" dirty="0" err="1">
                <a:latin typeface="Montserrat" panose="00000500000000000000" pitchFamily="50" charset="0"/>
              </a:rPr>
              <a:t>suatu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apa</a:t>
            </a:r>
            <a:r>
              <a:rPr lang="en-US" dirty="0">
                <a:latin typeface="Montserrat" panose="00000500000000000000" pitchFamily="50" charset="0"/>
              </a:rPr>
              <a:t> pun. </a:t>
            </a:r>
            <a:r>
              <a:rPr lang="en-US" sz="1400" dirty="0">
                <a:latin typeface="Montserrat" panose="00000500000000000000" pitchFamily="50" charset="0"/>
              </a:rPr>
              <a:t>13</a:t>
            </a:r>
            <a:r>
              <a:rPr lang="en-US" dirty="0">
                <a:latin typeface="Montserrat" panose="00000500000000000000" pitchFamily="50" charset="0"/>
              </a:rPr>
              <a:t>Makanan </a:t>
            </a:r>
            <a:r>
              <a:rPr lang="en-US" dirty="0" err="1">
                <a:latin typeface="Montserrat" panose="00000500000000000000" pitchFamily="50" charset="0"/>
              </a:rPr>
              <a:t>adalah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untuk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perut</a:t>
            </a:r>
            <a:r>
              <a:rPr lang="en-US" dirty="0">
                <a:latin typeface="Montserrat" panose="00000500000000000000" pitchFamily="50" charset="0"/>
              </a:rPr>
              <a:t> dan </a:t>
            </a:r>
            <a:r>
              <a:rPr lang="en-US" dirty="0" err="1">
                <a:latin typeface="Montserrat" panose="00000500000000000000" pitchFamily="50" charset="0"/>
              </a:rPr>
              <a:t>perut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untuk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makanan</a:t>
            </a:r>
            <a:r>
              <a:rPr lang="en-US" dirty="0">
                <a:latin typeface="Montserrat" panose="00000500000000000000" pitchFamily="50" charset="0"/>
              </a:rPr>
              <a:t>: </a:t>
            </a:r>
            <a:r>
              <a:rPr lang="en-US" dirty="0" err="1">
                <a:latin typeface="Montserrat" panose="00000500000000000000" pitchFamily="50" charset="0"/>
              </a:rPr>
              <a:t>tetapi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kedua-duanya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akan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dibinasakan</a:t>
            </a:r>
            <a:r>
              <a:rPr lang="en-US" dirty="0">
                <a:latin typeface="Montserrat" panose="00000500000000000000" pitchFamily="50" charset="0"/>
              </a:rPr>
              <a:t> Allah. </a:t>
            </a:r>
            <a:r>
              <a:rPr lang="en-US" dirty="0" err="1">
                <a:latin typeface="Montserrat" panose="00000500000000000000" pitchFamily="50" charset="0"/>
              </a:rPr>
              <a:t>Tetapi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tubuh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bukanlah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untuk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percabulan</a:t>
            </a:r>
            <a:r>
              <a:rPr lang="en-US" dirty="0">
                <a:latin typeface="Montserrat" panose="00000500000000000000" pitchFamily="50" charset="0"/>
              </a:rPr>
              <a:t>, </a:t>
            </a:r>
            <a:r>
              <a:rPr lang="en-US" dirty="0" err="1">
                <a:latin typeface="Montserrat" panose="00000500000000000000" pitchFamily="50" charset="0"/>
              </a:rPr>
              <a:t>melainkan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untuk</a:t>
            </a:r>
            <a:r>
              <a:rPr lang="en-US" dirty="0">
                <a:latin typeface="Montserrat" panose="00000500000000000000" pitchFamily="50" charset="0"/>
              </a:rPr>
              <a:t> Tuhan, dan Tuhan </a:t>
            </a:r>
            <a:r>
              <a:rPr lang="en-US" dirty="0" err="1">
                <a:latin typeface="Montserrat" panose="00000500000000000000" pitchFamily="50" charset="0"/>
              </a:rPr>
              <a:t>untuk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tubuh</a:t>
            </a:r>
            <a:r>
              <a:rPr lang="en-US" dirty="0">
                <a:latin typeface="Montserrat" panose="00000500000000000000" pitchFamily="50" charset="0"/>
              </a:rPr>
              <a:t>. </a:t>
            </a:r>
            <a:r>
              <a:rPr lang="en-US" sz="1400" dirty="0">
                <a:latin typeface="Montserrat" panose="00000500000000000000" pitchFamily="50" charset="0"/>
              </a:rPr>
              <a:t>14</a:t>
            </a:r>
            <a:r>
              <a:rPr lang="en-US" dirty="0">
                <a:latin typeface="Montserrat" panose="00000500000000000000" pitchFamily="50" charset="0"/>
              </a:rPr>
              <a:t>Allah, yang </a:t>
            </a:r>
            <a:r>
              <a:rPr lang="en-US" dirty="0" err="1">
                <a:latin typeface="Montserrat" panose="00000500000000000000" pitchFamily="50" charset="0"/>
              </a:rPr>
              <a:t>membangkitkan</a:t>
            </a:r>
            <a:r>
              <a:rPr lang="en-US" dirty="0">
                <a:latin typeface="Montserrat" panose="00000500000000000000" pitchFamily="50" charset="0"/>
              </a:rPr>
              <a:t> Tuhan, </a:t>
            </a:r>
            <a:r>
              <a:rPr lang="en-US" dirty="0" err="1">
                <a:latin typeface="Montserrat" panose="00000500000000000000" pitchFamily="50" charset="0"/>
              </a:rPr>
              <a:t>akan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membangkitkan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kita</a:t>
            </a:r>
            <a:r>
              <a:rPr lang="en-US" dirty="0">
                <a:latin typeface="Montserrat" panose="00000500000000000000" pitchFamily="50" charset="0"/>
              </a:rPr>
              <a:t> juga oleh </a:t>
            </a:r>
            <a:r>
              <a:rPr lang="en-US" dirty="0" err="1">
                <a:latin typeface="Montserrat" panose="00000500000000000000" pitchFamily="50" charset="0"/>
              </a:rPr>
              <a:t>kuasa</a:t>
            </a:r>
            <a:r>
              <a:rPr lang="en-US" dirty="0">
                <a:latin typeface="Montserrat" panose="00000500000000000000" pitchFamily="50" charset="0"/>
              </a:rPr>
              <a:t>-Nya. </a:t>
            </a:r>
            <a:r>
              <a:rPr lang="en-US" sz="1400" dirty="0">
                <a:latin typeface="Montserrat" panose="00000500000000000000" pitchFamily="50" charset="0"/>
              </a:rPr>
              <a:t>15</a:t>
            </a:r>
            <a:r>
              <a:rPr lang="en-US" dirty="0">
                <a:latin typeface="Montserrat" panose="00000500000000000000" pitchFamily="50" charset="0"/>
              </a:rPr>
              <a:t>Tidak </a:t>
            </a:r>
            <a:r>
              <a:rPr lang="en-US" dirty="0" err="1">
                <a:latin typeface="Montserrat" panose="00000500000000000000" pitchFamily="50" charset="0"/>
              </a:rPr>
              <a:t>tahukah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kamu</a:t>
            </a:r>
            <a:r>
              <a:rPr lang="en-US" dirty="0">
                <a:latin typeface="Montserrat" panose="00000500000000000000" pitchFamily="50" charset="0"/>
              </a:rPr>
              <a:t>, </a:t>
            </a:r>
            <a:r>
              <a:rPr lang="en-US" dirty="0" err="1">
                <a:latin typeface="Montserrat" panose="00000500000000000000" pitchFamily="50" charset="0"/>
              </a:rPr>
              <a:t>bahwa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tubuhmu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adalah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anggota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Kristus</a:t>
            </a:r>
            <a:r>
              <a:rPr lang="en-US" dirty="0">
                <a:latin typeface="Montserrat" panose="00000500000000000000" pitchFamily="50" charset="0"/>
              </a:rPr>
              <a:t>? Akan </a:t>
            </a:r>
            <a:r>
              <a:rPr lang="en-US" dirty="0" err="1">
                <a:latin typeface="Montserrat" panose="00000500000000000000" pitchFamily="50" charset="0"/>
              </a:rPr>
              <a:t>kuambilkah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anggota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Kristus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untuk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menyerahkannya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kepada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percabulan</a:t>
            </a:r>
            <a:r>
              <a:rPr lang="en-US" dirty="0">
                <a:latin typeface="Montserrat" panose="00000500000000000000" pitchFamily="50" charset="0"/>
              </a:rPr>
              <a:t>? </a:t>
            </a:r>
            <a:r>
              <a:rPr lang="en-US" dirty="0" err="1">
                <a:latin typeface="Montserrat" panose="00000500000000000000" pitchFamily="50" charset="0"/>
              </a:rPr>
              <a:t>Sekali</a:t>
            </a:r>
            <a:r>
              <a:rPr lang="en-US" dirty="0">
                <a:latin typeface="Montserrat" panose="00000500000000000000" pitchFamily="50" charset="0"/>
              </a:rPr>
              <a:t>-kali </a:t>
            </a:r>
            <a:r>
              <a:rPr lang="en-US" dirty="0" err="1">
                <a:latin typeface="Montserrat" panose="00000500000000000000" pitchFamily="50" charset="0"/>
              </a:rPr>
              <a:t>tidak</a:t>
            </a:r>
            <a:r>
              <a:rPr lang="en-US" dirty="0">
                <a:latin typeface="Montserrat" panose="00000500000000000000" pitchFamily="50" charset="0"/>
              </a:rPr>
              <a:t>! </a:t>
            </a:r>
            <a:r>
              <a:rPr lang="en-US" sz="1400" dirty="0">
                <a:latin typeface="Montserrat" panose="00000500000000000000" pitchFamily="50" charset="0"/>
              </a:rPr>
              <a:t>16</a:t>
            </a:r>
            <a:r>
              <a:rPr lang="en-US" dirty="0">
                <a:latin typeface="Montserrat" panose="00000500000000000000" pitchFamily="50" charset="0"/>
              </a:rPr>
              <a:t> Atau </a:t>
            </a:r>
            <a:r>
              <a:rPr lang="en-US" dirty="0" err="1">
                <a:latin typeface="Montserrat" panose="00000500000000000000" pitchFamily="50" charset="0"/>
              </a:rPr>
              <a:t>tidak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tahukah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kamu</a:t>
            </a:r>
            <a:r>
              <a:rPr lang="en-US" dirty="0">
                <a:latin typeface="Montserrat" panose="00000500000000000000" pitchFamily="50" charset="0"/>
              </a:rPr>
              <a:t>, </a:t>
            </a:r>
            <a:r>
              <a:rPr lang="en-US" dirty="0" err="1">
                <a:latin typeface="Montserrat" panose="00000500000000000000" pitchFamily="50" charset="0"/>
              </a:rPr>
              <a:t>bahwa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siapa</a:t>
            </a:r>
            <a:r>
              <a:rPr lang="en-US" dirty="0">
                <a:latin typeface="Montserrat" panose="00000500000000000000" pitchFamily="50" charset="0"/>
              </a:rPr>
              <a:t> yang </a:t>
            </a:r>
            <a:r>
              <a:rPr lang="en-US" dirty="0" err="1">
                <a:latin typeface="Montserrat" panose="00000500000000000000" pitchFamily="50" charset="0"/>
              </a:rPr>
              <a:t>mengikatkan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dirinya</a:t>
            </a:r>
            <a:r>
              <a:rPr lang="en-US" dirty="0">
                <a:latin typeface="Montserrat" panose="00000500000000000000" pitchFamily="50" charset="0"/>
              </a:rPr>
              <a:t> pada </a:t>
            </a:r>
            <a:r>
              <a:rPr lang="en-US" dirty="0" err="1">
                <a:latin typeface="Montserrat" panose="00000500000000000000" pitchFamily="50" charset="0"/>
              </a:rPr>
              <a:t>perempuan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cabul</a:t>
            </a:r>
            <a:r>
              <a:rPr lang="en-US" dirty="0">
                <a:latin typeface="Montserrat" panose="00000500000000000000" pitchFamily="50" charset="0"/>
              </a:rPr>
              <a:t>, </a:t>
            </a:r>
            <a:r>
              <a:rPr lang="en-US" dirty="0" err="1">
                <a:latin typeface="Montserrat" panose="00000500000000000000" pitchFamily="50" charset="0"/>
              </a:rPr>
              <a:t>menjadi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satu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tubuh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dengan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dia</a:t>
            </a:r>
            <a:r>
              <a:rPr lang="en-US" dirty="0">
                <a:latin typeface="Montserrat" panose="00000500000000000000" pitchFamily="50" charset="0"/>
              </a:rPr>
              <a:t>? </a:t>
            </a:r>
            <a:r>
              <a:rPr lang="en-US" dirty="0" err="1">
                <a:latin typeface="Montserrat" panose="00000500000000000000" pitchFamily="50" charset="0"/>
              </a:rPr>
              <a:t>Sebab</a:t>
            </a:r>
            <a:r>
              <a:rPr lang="en-US" dirty="0">
                <a:latin typeface="Montserrat" panose="00000500000000000000" pitchFamily="50" charset="0"/>
              </a:rPr>
              <a:t>, </a:t>
            </a:r>
            <a:r>
              <a:rPr lang="en-US" dirty="0" err="1">
                <a:latin typeface="Montserrat" panose="00000500000000000000" pitchFamily="50" charset="0"/>
              </a:rPr>
              <a:t>demikianlah</a:t>
            </a:r>
            <a:r>
              <a:rPr lang="en-US" dirty="0">
                <a:latin typeface="Montserrat" panose="00000500000000000000" pitchFamily="50" charset="0"/>
              </a:rPr>
              <a:t> kata </a:t>
            </a:r>
            <a:r>
              <a:rPr lang="en-US" dirty="0" err="1">
                <a:latin typeface="Montserrat" panose="00000500000000000000" pitchFamily="50" charset="0"/>
              </a:rPr>
              <a:t>nas</a:t>
            </a:r>
            <a:r>
              <a:rPr lang="en-US" dirty="0">
                <a:latin typeface="Montserrat" panose="00000500000000000000" pitchFamily="50" charset="0"/>
              </a:rPr>
              <a:t>: ”</a:t>
            </a:r>
            <a:r>
              <a:rPr lang="en-US" dirty="0" err="1">
                <a:latin typeface="Montserrat" panose="00000500000000000000" pitchFamily="50" charset="0"/>
              </a:rPr>
              <a:t>Keduanya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akan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menjadi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satu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daging</a:t>
            </a:r>
            <a:r>
              <a:rPr lang="en-US" dirty="0">
                <a:latin typeface="Montserrat" panose="00000500000000000000" pitchFamily="50" charset="0"/>
              </a:rPr>
              <a:t>.” </a:t>
            </a:r>
            <a:r>
              <a:rPr lang="en-US" sz="1400" dirty="0">
                <a:latin typeface="Montserrat" panose="00000500000000000000" pitchFamily="50" charset="0"/>
              </a:rPr>
              <a:t>17</a:t>
            </a:r>
            <a:r>
              <a:rPr lang="en-US" dirty="0">
                <a:latin typeface="Montserrat" panose="00000500000000000000" pitchFamily="50" charset="0"/>
              </a:rPr>
              <a:t>Tetapi </a:t>
            </a:r>
            <a:r>
              <a:rPr lang="en-US" dirty="0" err="1">
                <a:latin typeface="Montserrat" panose="00000500000000000000" pitchFamily="50" charset="0"/>
              </a:rPr>
              <a:t>siapa</a:t>
            </a:r>
            <a:r>
              <a:rPr lang="en-US" dirty="0">
                <a:latin typeface="Montserrat" panose="00000500000000000000" pitchFamily="50" charset="0"/>
              </a:rPr>
              <a:t> yang </a:t>
            </a:r>
            <a:r>
              <a:rPr lang="en-US" dirty="0" err="1">
                <a:latin typeface="Montserrat" panose="00000500000000000000" pitchFamily="50" charset="0"/>
              </a:rPr>
              <a:t>mengikatkan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dirinya</a:t>
            </a:r>
            <a:r>
              <a:rPr lang="en-US" dirty="0">
                <a:latin typeface="Montserrat" panose="00000500000000000000" pitchFamily="50" charset="0"/>
              </a:rPr>
              <a:t> pada Tuhan, </a:t>
            </a:r>
            <a:r>
              <a:rPr lang="en-US" dirty="0" err="1">
                <a:latin typeface="Montserrat" panose="00000500000000000000" pitchFamily="50" charset="0"/>
              </a:rPr>
              <a:t>menjadi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satu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roh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dengan</a:t>
            </a:r>
            <a:r>
              <a:rPr lang="en-US" dirty="0">
                <a:latin typeface="Montserrat" panose="00000500000000000000" pitchFamily="50" charset="0"/>
              </a:rPr>
              <a:t> Dia. </a:t>
            </a:r>
            <a:r>
              <a:rPr lang="en-US" sz="1400" dirty="0">
                <a:latin typeface="Montserrat" panose="00000500000000000000" pitchFamily="50" charset="0"/>
              </a:rPr>
              <a:t>18</a:t>
            </a:r>
            <a:r>
              <a:rPr lang="en-US" dirty="0">
                <a:latin typeface="Montserrat" panose="00000500000000000000" pitchFamily="50" charset="0"/>
              </a:rPr>
              <a:t>Jauhkanlah </a:t>
            </a:r>
            <a:r>
              <a:rPr lang="en-US" dirty="0" err="1">
                <a:latin typeface="Montserrat" panose="00000500000000000000" pitchFamily="50" charset="0"/>
              </a:rPr>
              <a:t>dirimu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dari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percabulan</a:t>
            </a:r>
            <a:r>
              <a:rPr lang="en-US" dirty="0">
                <a:latin typeface="Montserrat" panose="00000500000000000000" pitchFamily="50" charset="0"/>
              </a:rPr>
              <a:t>! </a:t>
            </a:r>
            <a:r>
              <a:rPr lang="en-US" dirty="0" err="1">
                <a:latin typeface="Montserrat" panose="00000500000000000000" pitchFamily="50" charset="0"/>
              </a:rPr>
              <a:t>Setiap</a:t>
            </a:r>
            <a:r>
              <a:rPr lang="en-US" dirty="0">
                <a:latin typeface="Montserrat" panose="00000500000000000000" pitchFamily="50" charset="0"/>
              </a:rPr>
              <a:t> dosa lain yang </a:t>
            </a:r>
            <a:r>
              <a:rPr lang="en-US" dirty="0" err="1">
                <a:latin typeface="Montserrat" panose="00000500000000000000" pitchFamily="50" charset="0"/>
              </a:rPr>
              <a:t>dilakukan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manusia</a:t>
            </a:r>
            <a:r>
              <a:rPr lang="en-US" dirty="0">
                <a:latin typeface="Montserrat" panose="00000500000000000000" pitchFamily="50" charset="0"/>
              </a:rPr>
              <a:t>, </a:t>
            </a:r>
            <a:r>
              <a:rPr lang="en-US" dirty="0" err="1">
                <a:latin typeface="Montserrat" panose="00000500000000000000" pitchFamily="50" charset="0"/>
              </a:rPr>
              <a:t>terjadi</a:t>
            </a:r>
            <a:r>
              <a:rPr lang="en-US" dirty="0">
                <a:latin typeface="Montserrat" panose="00000500000000000000" pitchFamily="50" charset="0"/>
              </a:rPr>
              <a:t> di </a:t>
            </a:r>
            <a:r>
              <a:rPr lang="en-US" dirty="0" err="1">
                <a:latin typeface="Montserrat" panose="00000500000000000000" pitchFamily="50" charset="0"/>
              </a:rPr>
              <a:t>luar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dirinya</a:t>
            </a:r>
            <a:r>
              <a:rPr lang="en-US" dirty="0">
                <a:latin typeface="Montserrat" panose="00000500000000000000" pitchFamily="50" charset="0"/>
              </a:rPr>
              <a:t>. </a:t>
            </a:r>
            <a:r>
              <a:rPr lang="en-US" dirty="0" err="1">
                <a:latin typeface="Montserrat" panose="00000500000000000000" pitchFamily="50" charset="0"/>
              </a:rPr>
              <a:t>Tetapi</a:t>
            </a:r>
            <a:r>
              <a:rPr lang="en-US" dirty="0">
                <a:latin typeface="Montserrat" panose="00000500000000000000" pitchFamily="50" charset="0"/>
              </a:rPr>
              <a:t> orang yang </a:t>
            </a:r>
            <a:r>
              <a:rPr lang="en-US" dirty="0" err="1">
                <a:latin typeface="Montserrat" panose="00000500000000000000" pitchFamily="50" charset="0"/>
              </a:rPr>
              <a:t>melakukan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percabulan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berdosa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terhadap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dirinya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sendiri</a:t>
            </a:r>
            <a:r>
              <a:rPr lang="en-US" dirty="0">
                <a:latin typeface="Montserrat" panose="00000500000000000000" pitchFamily="50" charset="0"/>
              </a:rPr>
              <a:t>. </a:t>
            </a:r>
            <a:r>
              <a:rPr lang="en-US" sz="1400" dirty="0">
                <a:latin typeface="Montserrat" panose="00000500000000000000" pitchFamily="50" charset="0"/>
              </a:rPr>
              <a:t>19</a:t>
            </a:r>
            <a:r>
              <a:rPr lang="en-US" dirty="0">
                <a:latin typeface="Montserrat" panose="00000500000000000000" pitchFamily="50" charset="0"/>
              </a:rPr>
              <a:t> Atau </a:t>
            </a:r>
            <a:r>
              <a:rPr lang="en-US" dirty="0" err="1">
                <a:latin typeface="Montserrat" panose="00000500000000000000" pitchFamily="50" charset="0"/>
              </a:rPr>
              <a:t>tidak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tahukah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kamu</a:t>
            </a:r>
            <a:r>
              <a:rPr lang="en-US" dirty="0">
                <a:latin typeface="Montserrat" panose="00000500000000000000" pitchFamily="50" charset="0"/>
              </a:rPr>
              <a:t>, </a:t>
            </a:r>
            <a:r>
              <a:rPr lang="en-US" dirty="0" err="1">
                <a:latin typeface="Montserrat" panose="00000500000000000000" pitchFamily="50" charset="0"/>
              </a:rPr>
              <a:t>bahwa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tubuhmu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adalah</a:t>
            </a:r>
            <a:r>
              <a:rPr lang="en-US" dirty="0">
                <a:latin typeface="Montserrat" panose="00000500000000000000" pitchFamily="50" charset="0"/>
              </a:rPr>
              <a:t> bait Roh Kudus yang diam di </a:t>
            </a:r>
            <a:r>
              <a:rPr lang="en-US" dirty="0" err="1">
                <a:latin typeface="Montserrat" panose="00000500000000000000" pitchFamily="50" charset="0"/>
              </a:rPr>
              <a:t>dalam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kamu</a:t>
            </a:r>
            <a:r>
              <a:rPr lang="en-US" dirty="0">
                <a:latin typeface="Montserrat" panose="00000500000000000000" pitchFamily="50" charset="0"/>
              </a:rPr>
              <a:t>, Roh Kudus yang </a:t>
            </a:r>
            <a:r>
              <a:rPr lang="en-US" dirty="0" err="1">
                <a:latin typeface="Montserrat" panose="00000500000000000000" pitchFamily="50" charset="0"/>
              </a:rPr>
              <a:t>kamu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peroleh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dari</a:t>
            </a:r>
            <a:r>
              <a:rPr lang="en-US" dirty="0">
                <a:latin typeface="Montserrat" panose="00000500000000000000" pitchFamily="50" charset="0"/>
              </a:rPr>
              <a:t> Allah, – dan </a:t>
            </a:r>
            <a:r>
              <a:rPr lang="en-US" dirty="0" err="1">
                <a:latin typeface="Montserrat" panose="00000500000000000000" pitchFamily="50" charset="0"/>
              </a:rPr>
              <a:t>bahwa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kamu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bukan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milik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kamu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sendiri</a:t>
            </a:r>
            <a:r>
              <a:rPr lang="en-US" dirty="0">
                <a:latin typeface="Montserrat" panose="00000500000000000000" pitchFamily="50" charset="0"/>
              </a:rPr>
              <a:t>? </a:t>
            </a:r>
            <a:r>
              <a:rPr lang="en-US" sz="1400" dirty="0">
                <a:latin typeface="Montserrat" panose="00000500000000000000" pitchFamily="50" charset="0"/>
              </a:rPr>
              <a:t>20</a:t>
            </a:r>
            <a:r>
              <a:rPr lang="en-US" dirty="0">
                <a:latin typeface="Montserrat" panose="00000500000000000000" pitchFamily="50" charset="0"/>
              </a:rPr>
              <a:t>Sebab </a:t>
            </a:r>
            <a:r>
              <a:rPr lang="en-US" dirty="0" err="1">
                <a:latin typeface="Montserrat" panose="00000500000000000000" pitchFamily="50" charset="0"/>
              </a:rPr>
              <a:t>kamu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telah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dibeli</a:t>
            </a:r>
            <a:r>
              <a:rPr lang="en-US" dirty="0">
                <a:latin typeface="Montserrat" panose="00000500000000000000" pitchFamily="50" charset="0"/>
              </a:rPr>
              <a:t> dan </a:t>
            </a:r>
            <a:r>
              <a:rPr lang="en-US" dirty="0" err="1">
                <a:latin typeface="Montserrat" panose="00000500000000000000" pitchFamily="50" charset="0"/>
              </a:rPr>
              <a:t>harganya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telah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lunas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dibayar</a:t>
            </a:r>
            <a:r>
              <a:rPr lang="en-US" dirty="0">
                <a:latin typeface="Montserrat" panose="00000500000000000000" pitchFamily="50" charset="0"/>
              </a:rPr>
              <a:t>: Karena </a:t>
            </a:r>
            <a:r>
              <a:rPr lang="en-US" dirty="0" err="1">
                <a:latin typeface="Montserrat" panose="00000500000000000000" pitchFamily="50" charset="0"/>
              </a:rPr>
              <a:t>itu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muliakanlah</a:t>
            </a:r>
            <a:r>
              <a:rPr lang="en-US" dirty="0">
                <a:latin typeface="Montserrat" panose="00000500000000000000" pitchFamily="50" charset="0"/>
              </a:rPr>
              <a:t> Allah </a:t>
            </a:r>
            <a:r>
              <a:rPr lang="en-US" dirty="0" err="1">
                <a:latin typeface="Montserrat" panose="00000500000000000000" pitchFamily="50" charset="0"/>
              </a:rPr>
              <a:t>dengan</a:t>
            </a:r>
            <a:r>
              <a:rPr lang="en-US" dirty="0">
                <a:latin typeface="Montserrat" panose="00000500000000000000" pitchFamily="50" charset="0"/>
              </a:rPr>
              <a:t> </a:t>
            </a:r>
            <a:r>
              <a:rPr lang="en-US" dirty="0" err="1">
                <a:latin typeface="Montserrat" panose="00000500000000000000" pitchFamily="50" charset="0"/>
              </a:rPr>
              <a:t>tubuhmu</a:t>
            </a:r>
            <a:r>
              <a:rPr lang="en-US" dirty="0">
                <a:latin typeface="Montserrat" panose="00000500000000000000" pitchFamily="50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03726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CE4D1-2242-9F12-F24F-0D95EC80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8DCB64-AB69-73E8-7E36-7DF528EBB4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DE7C809E-B925-39A3-1AFC-996C56A076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3491CF-C0AE-F8E4-361D-1066CD6E97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BE3910-926E-39D3-47FE-E90C3D9225D0}"/>
              </a:ext>
            </a:extLst>
          </p:cNvPr>
          <p:cNvSpPr txBox="1"/>
          <p:nvPr/>
        </p:nvSpPr>
        <p:spPr>
          <a:xfrm>
            <a:off x="1016837" y="1582340"/>
            <a:ext cx="101583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ontserrat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1Kor. 8:1-13</a:t>
            </a:r>
            <a:endParaRPr lang="en-US" dirty="0">
              <a:latin typeface="Montserrat" pitchFamily="2" charset="0"/>
            </a:endParaRPr>
          </a:p>
          <a:p>
            <a:pPr algn="ctr"/>
            <a:r>
              <a:rPr lang="en-ID" sz="1400" dirty="0">
                <a:latin typeface="Montserrat" pitchFamily="2" charset="0"/>
              </a:rPr>
              <a:t>1</a:t>
            </a:r>
            <a:r>
              <a:rPr lang="en-ID" dirty="0">
                <a:latin typeface="Montserrat" pitchFamily="2" charset="0"/>
              </a:rPr>
              <a:t>Tentang </a:t>
            </a:r>
            <a:r>
              <a:rPr lang="en-ID" dirty="0" err="1">
                <a:latin typeface="Montserrat" pitchFamily="2" charset="0"/>
              </a:rPr>
              <a:t>daging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persembahan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berhala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tahu</a:t>
            </a:r>
            <a:r>
              <a:rPr lang="en-ID" dirty="0">
                <a:latin typeface="Montserrat" pitchFamily="2" charset="0"/>
              </a:rPr>
              <a:t>: ”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semua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mempunyai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pengetahuan</a:t>
            </a:r>
            <a:r>
              <a:rPr lang="en-ID" dirty="0">
                <a:latin typeface="Montserrat" pitchFamily="2" charset="0"/>
              </a:rPr>
              <a:t>.” </a:t>
            </a:r>
            <a:r>
              <a:rPr lang="en-ID" dirty="0" err="1">
                <a:latin typeface="Montserrat" pitchFamily="2" charset="0"/>
              </a:rPr>
              <a:t>Pengetahuan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demikian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membuat</a:t>
            </a:r>
            <a:r>
              <a:rPr lang="en-ID" dirty="0">
                <a:latin typeface="Montserrat" pitchFamily="2" charset="0"/>
              </a:rPr>
              <a:t> orang </a:t>
            </a:r>
            <a:r>
              <a:rPr lang="en-ID" dirty="0" err="1">
                <a:latin typeface="Montserrat" pitchFamily="2" charset="0"/>
              </a:rPr>
              <a:t>menjadi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sombong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tetapi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kasih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membangun</a:t>
            </a:r>
            <a:r>
              <a:rPr lang="en-ID" dirty="0">
                <a:latin typeface="Montserrat" pitchFamily="2" charset="0"/>
              </a:rPr>
              <a:t>. </a:t>
            </a:r>
            <a:r>
              <a:rPr lang="en-ID" sz="1400" dirty="0">
                <a:latin typeface="Montserrat" pitchFamily="2" charset="0"/>
              </a:rPr>
              <a:t>2</a:t>
            </a:r>
            <a:r>
              <a:rPr lang="en-ID" dirty="0">
                <a:latin typeface="Montserrat" pitchFamily="2" charset="0"/>
              </a:rPr>
              <a:t>Jika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seorang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menyangka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bahwa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mempunyai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sesuatu</a:t>
            </a:r>
            <a:r>
              <a:rPr lang="en-ID" dirty="0">
                <a:latin typeface="Montserrat" pitchFamily="2" charset="0"/>
              </a:rPr>
              <a:t> ”</a:t>
            </a:r>
            <a:r>
              <a:rPr lang="en-ID" dirty="0" err="1">
                <a:latin typeface="Montserrat" pitchFamily="2" charset="0"/>
              </a:rPr>
              <a:t>pengetahuan</a:t>
            </a:r>
            <a:r>
              <a:rPr lang="en-ID" dirty="0">
                <a:latin typeface="Montserrat" pitchFamily="2" charset="0"/>
              </a:rPr>
              <a:t>”, </a:t>
            </a:r>
            <a:r>
              <a:rPr lang="en-ID" dirty="0" err="1">
                <a:latin typeface="Montserrat" pitchFamily="2" charset="0"/>
              </a:rPr>
              <a:t>maka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belum</a:t>
            </a:r>
            <a:r>
              <a:rPr lang="en-ID" dirty="0">
                <a:latin typeface="Montserrat" pitchFamily="2" charset="0"/>
              </a:rPr>
              <a:t> juga </a:t>
            </a:r>
            <a:r>
              <a:rPr lang="en-ID" dirty="0" err="1">
                <a:latin typeface="Montserrat" pitchFamily="2" charset="0"/>
              </a:rPr>
              <a:t>mencapai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pengetahuan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sebagaimana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harus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dicapainya</a:t>
            </a:r>
            <a:r>
              <a:rPr lang="en-ID" dirty="0">
                <a:latin typeface="Montserrat" pitchFamily="2" charset="0"/>
              </a:rPr>
              <a:t>. </a:t>
            </a:r>
            <a:r>
              <a:rPr lang="en-ID" sz="1400" dirty="0">
                <a:latin typeface="Montserrat" pitchFamily="2" charset="0"/>
              </a:rPr>
              <a:t>3</a:t>
            </a:r>
            <a:r>
              <a:rPr lang="en-ID" dirty="0">
                <a:latin typeface="Montserrat" pitchFamily="2" charset="0"/>
              </a:rPr>
              <a:t>Tetapi orang yang </a:t>
            </a:r>
            <a:r>
              <a:rPr lang="en-ID" dirty="0" err="1">
                <a:latin typeface="Montserrat" pitchFamily="2" charset="0"/>
              </a:rPr>
              <a:t>mengasihi</a:t>
            </a:r>
            <a:r>
              <a:rPr lang="en-ID" dirty="0">
                <a:latin typeface="Montserrat" pitchFamily="2" charset="0"/>
              </a:rPr>
              <a:t> Allah,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dikenal</a:t>
            </a:r>
            <a:r>
              <a:rPr lang="en-ID" dirty="0">
                <a:latin typeface="Montserrat" pitchFamily="2" charset="0"/>
              </a:rPr>
              <a:t> oleh Allah.</a:t>
            </a:r>
          </a:p>
          <a:p>
            <a:pPr algn="ctr"/>
            <a:r>
              <a:rPr lang="en-ID" sz="1400" dirty="0">
                <a:latin typeface="Montserrat" pitchFamily="2" charset="0"/>
              </a:rPr>
              <a:t>4</a:t>
            </a:r>
            <a:r>
              <a:rPr lang="en-ID" dirty="0">
                <a:latin typeface="Montserrat" pitchFamily="2" charset="0"/>
              </a:rPr>
              <a:t>Tentang </a:t>
            </a:r>
            <a:r>
              <a:rPr lang="en-ID" dirty="0" err="1">
                <a:latin typeface="Montserrat" pitchFamily="2" charset="0"/>
              </a:rPr>
              <a:t>hal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daging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persembahan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berhala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tahu</a:t>
            </a:r>
            <a:r>
              <a:rPr lang="en-ID" dirty="0">
                <a:latin typeface="Montserrat" pitchFamily="2" charset="0"/>
              </a:rPr>
              <a:t>: ”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berhala</a:t>
            </a:r>
            <a:r>
              <a:rPr lang="en-ID" dirty="0">
                <a:latin typeface="Montserrat" pitchFamily="2" charset="0"/>
              </a:rPr>
              <a:t> di dunia dan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Allah lain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pada Allah yang </a:t>
            </a:r>
            <a:r>
              <a:rPr lang="en-ID" dirty="0" err="1">
                <a:latin typeface="Montserrat" pitchFamily="2" charset="0"/>
              </a:rPr>
              <a:t>esa</a:t>
            </a:r>
            <a:r>
              <a:rPr lang="en-ID" dirty="0">
                <a:latin typeface="Montserrat" pitchFamily="2" charset="0"/>
              </a:rPr>
              <a:t>.” </a:t>
            </a:r>
            <a:r>
              <a:rPr lang="en-ID" sz="1400" dirty="0">
                <a:latin typeface="Montserrat" pitchFamily="2" charset="0"/>
              </a:rPr>
              <a:t>5</a:t>
            </a:r>
            <a:r>
              <a:rPr lang="en-ID" dirty="0">
                <a:latin typeface="Montserrat" pitchFamily="2" charset="0"/>
              </a:rPr>
              <a:t>Sebab </a:t>
            </a:r>
            <a:r>
              <a:rPr lang="en-ID" dirty="0" err="1">
                <a:latin typeface="Montserrat" pitchFamily="2" charset="0"/>
              </a:rPr>
              <a:t>sungguhpun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apa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disebut</a:t>
            </a:r>
            <a:r>
              <a:rPr lang="en-ID" dirty="0">
                <a:latin typeface="Montserrat" pitchFamily="2" charset="0"/>
              </a:rPr>
              <a:t> ”</a:t>
            </a:r>
            <a:r>
              <a:rPr lang="en-ID" dirty="0" err="1">
                <a:latin typeface="Montserrat" pitchFamily="2" charset="0"/>
              </a:rPr>
              <a:t>allah</a:t>
            </a:r>
            <a:r>
              <a:rPr lang="en-ID" dirty="0">
                <a:latin typeface="Montserrat" pitchFamily="2" charset="0"/>
              </a:rPr>
              <a:t>”, </a:t>
            </a:r>
            <a:r>
              <a:rPr lang="en-ID" dirty="0" err="1">
                <a:latin typeface="Montserrat" pitchFamily="2" charset="0"/>
              </a:rPr>
              <a:t>baik</a:t>
            </a:r>
            <a:r>
              <a:rPr lang="en-ID" dirty="0">
                <a:latin typeface="Montserrat" pitchFamily="2" charset="0"/>
              </a:rPr>
              <a:t> di </a:t>
            </a:r>
            <a:r>
              <a:rPr lang="en-ID" dirty="0" err="1">
                <a:latin typeface="Montserrat" pitchFamily="2" charset="0"/>
              </a:rPr>
              <a:t>sorga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maupun</a:t>
            </a:r>
            <a:r>
              <a:rPr lang="en-ID" dirty="0">
                <a:latin typeface="Montserrat" pitchFamily="2" charset="0"/>
              </a:rPr>
              <a:t> di </a:t>
            </a:r>
            <a:r>
              <a:rPr lang="en-ID" dirty="0" err="1">
                <a:latin typeface="Montserrat" pitchFamily="2" charset="0"/>
              </a:rPr>
              <a:t>bumi</a:t>
            </a:r>
            <a:r>
              <a:rPr lang="en-ID" dirty="0">
                <a:latin typeface="Montserrat" pitchFamily="2" charset="0"/>
              </a:rPr>
              <a:t> – dan </a:t>
            </a:r>
            <a:r>
              <a:rPr lang="en-ID" dirty="0" err="1">
                <a:latin typeface="Montserrat" pitchFamily="2" charset="0"/>
              </a:rPr>
              <a:t>memang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benar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banyak</a:t>
            </a:r>
            <a:r>
              <a:rPr lang="en-ID" dirty="0">
                <a:latin typeface="Montserrat" pitchFamily="2" charset="0"/>
              </a:rPr>
              <a:t> ”</a:t>
            </a:r>
            <a:r>
              <a:rPr lang="en-ID" dirty="0" err="1">
                <a:latin typeface="Montserrat" pitchFamily="2" charset="0"/>
              </a:rPr>
              <a:t>allah</a:t>
            </a:r>
            <a:r>
              <a:rPr lang="en-ID" dirty="0">
                <a:latin typeface="Montserrat" pitchFamily="2" charset="0"/>
              </a:rPr>
              <a:t>” dan </a:t>
            </a:r>
            <a:r>
              <a:rPr lang="en-ID" dirty="0" err="1">
                <a:latin typeface="Montserrat" pitchFamily="2" charset="0"/>
              </a:rPr>
              <a:t>banyak</a:t>
            </a:r>
            <a:r>
              <a:rPr lang="en-ID" dirty="0">
                <a:latin typeface="Montserrat" pitchFamily="2" charset="0"/>
              </a:rPr>
              <a:t> ”</a:t>
            </a:r>
            <a:r>
              <a:rPr lang="en-ID" dirty="0" err="1">
                <a:latin typeface="Montserrat" pitchFamily="2" charset="0"/>
              </a:rPr>
              <a:t>tuhan</a:t>
            </a:r>
            <a:r>
              <a:rPr lang="en-ID" dirty="0">
                <a:latin typeface="Montserrat" pitchFamily="2" charset="0"/>
              </a:rPr>
              <a:t>” yang </a:t>
            </a:r>
            <a:r>
              <a:rPr lang="en-ID" dirty="0" err="1">
                <a:latin typeface="Montserrat" pitchFamily="2" charset="0"/>
              </a:rPr>
              <a:t>demikian</a:t>
            </a:r>
            <a:r>
              <a:rPr lang="en-ID" dirty="0">
                <a:latin typeface="Montserrat" pitchFamily="2" charset="0"/>
              </a:rPr>
              <a:t> – </a:t>
            </a:r>
            <a:r>
              <a:rPr lang="en-ID" sz="1400" dirty="0">
                <a:latin typeface="Montserrat" pitchFamily="2" charset="0"/>
              </a:rPr>
              <a:t>6</a:t>
            </a:r>
            <a:r>
              <a:rPr lang="en-ID" dirty="0">
                <a:latin typeface="Montserrat" pitchFamily="2" charset="0"/>
              </a:rPr>
              <a:t>namun </a:t>
            </a:r>
            <a:r>
              <a:rPr lang="en-ID" dirty="0" err="1">
                <a:latin typeface="Montserrat" pitchFamily="2" charset="0"/>
              </a:rPr>
              <a:t>bagi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hanya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satu</a:t>
            </a:r>
            <a:r>
              <a:rPr lang="en-ID" dirty="0">
                <a:latin typeface="Montserrat" pitchFamily="2" charset="0"/>
              </a:rPr>
              <a:t> Allah </a:t>
            </a:r>
            <a:r>
              <a:rPr lang="en-ID" dirty="0" err="1">
                <a:latin typeface="Montserrat" pitchFamily="2" charset="0"/>
              </a:rPr>
              <a:t>saja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yaitu</a:t>
            </a:r>
            <a:r>
              <a:rPr lang="en-ID" dirty="0">
                <a:latin typeface="Montserrat" pitchFamily="2" charset="0"/>
              </a:rPr>
              <a:t> Bapa, yang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pada-Nya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segala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sesuatu</a:t>
            </a:r>
            <a:r>
              <a:rPr lang="en-ID" dirty="0">
                <a:latin typeface="Montserrat" pitchFamily="2" charset="0"/>
              </a:rPr>
              <a:t> dan yang </a:t>
            </a:r>
            <a:r>
              <a:rPr lang="en-ID" dirty="0" err="1">
                <a:latin typeface="Montserrat" pitchFamily="2" charset="0"/>
              </a:rPr>
              <a:t>untuk</a:t>
            </a:r>
            <a:r>
              <a:rPr lang="en-ID" dirty="0">
                <a:latin typeface="Montserrat" pitchFamily="2" charset="0"/>
              </a:rPr>
              <a:t> Dia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hidup</a:t>
            </a:r>
            <a:r>
              <a:rPr lang="en-ID" dirty="0">
                <a:latin typeface="Montserrat" pitchFamily="2" charset="0"/>
              </a:rPr>
              <a:t>, dan </a:t>
            </a:r>
            <a:r>
              <a:rPr lang="en-ID" dirty="0" err="1">
                <a:latin typeface="Montserrat" pitchFamily="2" charset="0"/>
              </a:rPr>
              <a:t>satu</a:t>
            </a:r>
            <a:r>
              <a:rPr lang="en-ID" dirty="0">
                <a:latin typeface="Montserrat" pitchFamily="2" charset="0"/>
              </a:rPr>
              <a:t> Tuhan </a:t>
            </a:r>
            <a:r>
              <a:rPr lang="en-ID" dirty="0" err="1">
                <a:latin typeface="Montserrat" pitchFamily="2" charset="0"/>
              </a:rPr>
              <a:t>saja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yaitu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Yesus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Kristus</a:t>
            </a:r>
            <a:r>
              <a:rPr lang="en-ID" dirty="0">
                <a:latin typeface="Montserrat" pitchFamily="2" charset="0"/>
              </a:rPr>
              <a:t>, yang oleh-Nya </a:t>
            </a:r>
            <a:r>
              <a:rPr lang="en-ID" dirty="0" err="1">
                <a:latin typeface="Montserrat" pitchFamily="2" charset="0"/>
              </a:rPr>
              <a:t>segala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sesuatu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dijadikan</a:t>
            </a:r>
            <a:r>
              <a:rPr lang="en-ID" dirty="0">
                <a:latin typeface="Montserrat" pitchFamily="2" charset="0"/>
              </a:rPr>
              <a:t> dan yang </a:t>
            </a:r>
            <a:r>
              <a:rPr lang="en-ID" dirty="0" err="1">
                <a:latin typeface="Montserrat" pitchFamily="2" charset="0"/>
              </a:rPr>
              <a:t>karena</a:t>
            </a:r>
            <a:r>
              <a:rPr lang="en-ID" dirty="0">
                <a:latin typeface="Montserrat" pitchFamily="2" charset="0"/>
              </a:rPr>
              <a:t> Dia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hidup</a:t>
            </a:r>
            <a:r>
              <a:rPr lang="en-ID" dirty="0"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7602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A8AB-5FFC-3A1D-FD76-62FF4F120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6361EA-A258-69BD-3335-058E4ABA7F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BF47EC82-5546-CFA9-D0D7-F8CDCC04D8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875341-1BAD-EC4B-F808-87FA3C28BA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77B7E9-0D9A-A2C9-84F9-0722FE1329C0}"/>
              </a:ext>
            </a:extLst>
          </p:cNvPr>
          <p:cNvSpPr txBox="1"/>
          <p:nvPr/>
        </p:nvSpPr>
        <p:spPr>
          <a:xfrm>
            <a:off x="1016837" y="1028343"/>
            <a:ext cx="1015832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ontserrat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1Kor. 8:1-13</a:t>
            </a:r>
            <a:endParaRPr lang="en-US" dirty="0">
              <a:latin typeface="Montserrat" pitchFamily="2" charset="0"/>
            </a:endParaRPr>
          </a:p>
          <a:p>
            <a:pPr algn="ctr"/>
            <a:r>
              <a:rPr lang="en-ID" sz="1400" dirty="0">
                <a:latin typeface="Montserrat" pitchFamily="2" charset="0"/>
              </a:rPr>
              <a:t>7</a:t>
            </a:r>
            <a:r>
              <a:rPr lang="en-ID" dirty="0">
                <a:latin typeface="Montserrat" pitchFamily="2" charset="0"/>
              </a:rPr>
              <a:t>Tetapi </a:t>
            </a:r>
            <a:r>
              <a:rPr lang="en-ID" dirty="0" err="1">
                <a:latin typeface="Montserrat" pitchFamily="2" charset="0"/>
              </a:rPr>
              <a:t>bukan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semua</a:t>
            </a:r>
            <a:r>
              <a:rPr lang="en-ID" dirty="0">
                <a:latin typeface="Montserrat" pitchFamily="2" charset="0"/>
              </a:rPr>
              <a:t> orang yang </a:t>
            </a:r>
            <a:r>
              <a:rPr lang="en-ID" dirty="0" err="1">
                <a:latin typeface="Montserrat" pitchFamily="2" charset="0"/>
              </a:rPr>
              <a:t>mempunyai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pengetahuan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. Ada orang, yang </a:t>
            </a:r>
            <a:r>
              <a:rPr lang="en-ID" dirty="0" err="1">
                <a:latin typeface="Montserrat" pitchFamily="2" charset="0"/>
              </a:rPr>
              <a:t>karena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masih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terus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terikat</a:t>
            </a:r>
            <a:r>
              <a:rPr lang="en-ID" dirty="0">
                <a:latin typeface="Montserrat" pitchFamily="2" charset="0"/>
              </a:rPr>
              <a:t> pada </a:t>
            </a:r>
            <a:r>
              <a:rPr lang="en-ID" dirty="0" err="1">
                <a:latin typeface="Montserrat" pitchFamily="2" charset="0"/>
              </a:rPr>
              <a:t>berhala-berhala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makan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daging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sebagai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daging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persembahan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berhala</a:t>
            </a:r>
            <a:r>
              <a:rPr lang="en-ID" dirty="0">
                <a:latin typeface="Montserrat" pitchFamily="2" charset="0"/>
              </a:rPr>
              <a:t>. Dan oleh </a:t>
            </a:r>
            <a:r>
              <a:rPr lang="en-ID" dirty="0" err="1">
                <a:latin typeface="Montserrat" pitchFamily="2" charset="0"/>
              </a:rPr>
              <a:t>karena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hati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nurani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lemah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hati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nurani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dinodai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olehnya</a:t>
            </a:r>
            <a:r>
              <a:rPr lang="en-ID" dirty="0">
                <a:latin typeface="Montserrat" pitchFamily="2" charset="0"/>
              </a:rPr>
              <a:t>. </a:t>
            </a:r>
            <a:r>
              <a:rPr lang="en-ID" sz="1400" dirty="0">
                <a:latin typeface="Montserrat" pitchFamily="2" charset="0"/>
              </a:rPr>
              <a:t>8</a:t>
            </a:r>
            <a:r>
              <a:rPr lang="en-ID" dirty="0">
                <a:latin typeface="Montserrat" pitchFamily="2" charset="0"/>
              </a:rPr>
              <a:t>”Makanan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membawa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lebih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dekat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kepada</a:t>
            </a:r>
            <a:r>
              <a:rPr lang="en-ID" dirty="0">
                <a:latin typeface="Montserrat" pitchFamily="2" charset="0"/>
              </a:rPr>
              <a:t> Allah. Kita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rugi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apa-apa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kalau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makan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untung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apa-apa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kalau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makan</a:t>
            </a:r>
            <a:r>
              <a:rPr lang="en-ID" dirty="0">
                <a:latin typeface="Montserrat" pitchFamily="2" charset="0"/>
              </a:rPr>
              <a:t>.” </a:t>
            </a:r>
            <a:r>
              <a:rPr lang="en-ID" sz="1400" dirty="0">
                <a:latin typeface="Montserrat" pitchFamily="2" charset="0"/>
              </a:rPr>
              <a:t>9</a:t>
            </a:r>
            <a:r>
              <a:rPr lang="en-ID" dirty="0">
                <a:latin typeface="Montserrat" pitchFamily="2" charset="0"/>
              </a:rPr>
              <a:t>Tetapi </a:t>
            </a:r>
            <a:r>
              <a:rPr lang="en-ID" dirty="0" err="1">
                <a:latin typeface="Montserrat" pitchFamily="2" charset="0"/>
              </a:rPr>
              <a:t>jagalah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supaya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kebebasanmu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ini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jangan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menjadi</a:t>
            </a:r>
            <a:r>
              <a:rPr lang="en-ID" dirty="0">
                <a:latin typeface="Montserrat" pitchFamily="2" charset="0"/>
              </a:rPr>
              <a:t> batu </a:t>
            </a:r>
            <a:r>
              <a:rPr lang="en-ID" dirty="0" err="1">
                <a:latin typeface="Montserrat" pitchFamily="2" charset="0"/>
              </a:rPr>
              <a:t>sandungan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bagi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lemah</a:t>
            </a:r>
            <a:r>
              <a:rPr lang="en-ID" dirty="0">
                <a:latin typeface="Montserrat" pitchFamily="2" charset="0"/>
              </a:rPr>
              <a:t>. </a:t>
            </a:r>
            <a:r>
              <a:rPr lang="en-ID" sz="1400" dirty="0">
                <a:latin typeface="Montserrat" pitchFamily="2" charset="0"/>
              </a:rPr>
              <a:t>10</a:t>
            </a:r>
            <a:r>
              <a:rPr lang="en-ID" dirty="0">
                <a:latin typeface="Montserrat" pitchFamily="2" charset="0"/>
              </a:rPr>
              <a:t>Karena </a:t>
            </a:r>
            <a:r>
              <a:rPr lang="en-ID" dirty="0" err="1">
                <a:latin typeface="Montserrat" pitchFamily="2" charset="0"/>
              </a:rPr>
              <a:t>apabila</a:t>
            </a:r>
            <a:r>
              <a:rPr lang="en-ID" dirty="0">
                <a:latin typeface="Montserrat" pitchFamily="2" charset="0"/>
              </a:rPr>
              <a:t> orang </a:t>
            </a:r>
            <a:r>
              <a:rPr lang="en-ID" dirty="0" err="1">
                <a:latin typeface="Montserrat" pitchFamily="2" charset="0"/>
              </a:rPr>
              <a:t>melihat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engkau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mempunyai</a:t>
            </a:r>
            <a:r>
              <a:rPr lang="en-ID" dirty="0">
                <a:latin typeface="Montserrat" pitchFamily="2" charset="0"/>
              </a:rPr>
              <a:t> ”</a:t>
            </a:r>
            <a:r>
              <a:rPr lang="en-ID" dirty="0" err="1">
                <a:latin typeface="Montserrat" pitchFamily="2" charset="0"/>
              </a:rPr>
              <a:t>pengetahuan</a:t>
            </a:r>
            <a:r>
              <a:rPr lang="en-ID" dirty="0">
                <a:latin typeface="Montserrat" pitchFamily="2" charset="0"/>
              </a:rPr>
              <a:t>”, </a:t>
            </a:r>
            <a:r>
              <a:rPr lang="en-ID" dirty="0" err="1">
                <a:latin typeface="Montserrat" pitchFamily="2" charset="0"/>
              </a:rPr>
              <a:t>sedang</a:t>
            </a:r>
            <a:r>
              <a:rPr lang="en-ID" dirty="0">
                <a:latin typeface="Montserrat" pitchFamily="2" charset="0"/>
              </a:rPr>
              <a:t> duduk </a:t>
            </a:r>
            <a:r>
              <a:rPr lang="en-ID" dirty="0" err="1">
                <a:latin typeface="Montserrat" pitchFamily="2" charset="0"/>
              </a:rPr>
              <a:t>makan</a:t>
            </a:r>
            <a:r>
              <a:rPr lang="en-ID" dirty="0">
                <a:latin typeface="Montserrat" pitchFamily="2" charset="0"/>
              </a:rPr>
              <a:t> di </a:t>
            </a:r>
            <a:r>
              <a:rPr lang="en-ID" dirty="0" err="1">
                <a:latin typeface="Montserrat" pitchFamily="2" charset="0"/>
              </a:rPr>
              <a:t>dalam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kuil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berhala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bukankah</a:t>
            </a:r>
            <a:r>
              <a:rPr lang="en-ID" dirty="0">
                <a:latin typeface="Montserrat" pitchFamily="2" charset="0"/>
              </a:rPr>
              <a:t> orang yang </a:t>
            </a:r>
            <a:r>
              <a:rPr lang="en-ID" dirty="0" err="1">
                <a:latin typeface="Montserrat" pitchFamily="2" charset="0"/>
              </a:rPr>
              <a:t>lemah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hati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nuraninya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dikuatkan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untuk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daging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persembahan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berhala</a:t>
            </a:r>
            <a:r>
              <a:rPr lang="en-ID" dirty="0">
                <a:latin typeface="Montserrat" pitchFamily="2" charset="0"/>
              </a:rPr>
              <a:t>? </a:t>
            </a:r>
            <a:r>
              <a:rPr lang="en-ID" sz="1400" dirty="0">
                <a:latin typeface="Montserrat" pitchFamily="2" charset="0"/>
              </a:rPr>
              <a:t>11</a:t>
            </a:r>
            <a:r>
              <a:rPr lang="en-ID" dirty="0">
                <a:latin typeface="Montserrat" pitchFamily="2" charset="0"/>
              </a:rPr>
              <a:t>Dengan </a:t>
            </a:r>
            <a:r>
              <a:rPr lang="en-ID" dirty="0" err="1">
                <a:latin typeface="Montserrat" pitchFamily="2" charset="0"/>
              </a:rPr>
              <a:t>jalan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demikian</a:t>
            </a:r>
            <a:r>
              <a:rPr lang="en-ID" dirty="0">
                <a:latin typeface="Montserrat" pitchFamily="2" charset="0"/>
              </a:rPr>
              <a:t> orang yang </a:t>
            </a:r>
            <a:r>
              <a:rPr lang="en-ID" dirty="0" err="1">
                <a:latin typeface="Montserrat" pitchFamily="2" charset="0"/>
              </a:rPr>
              <a:t>lemah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yaitu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saudaramu</a:t>
            </a:r>
            <a:r>
              <a:rPr lang="en-ID" dirty="0">
                <a:latin typeface="Montserrat" pitchFamily="2" charset="0"/>
              </a:rPr>
              <a:t>, yang </a:t>
            </a:r>
            <a:r>
              <a:rPr lang="en-ID" dirty="0" err="1">
                <a:latin typeface="Montserrat" pitchFamily="2" charset="0"/>
              </a:rPr>
              <a:t>untuknya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Kristus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mati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menjadi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binasa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karena</a:t>
            </a:r>
            <a:r>
              <a:rPr lang="en-ID" dirty="0">
                <a:latin typeface="Montserrat" pitchFamily="2" charset="0"/>
              </a:rPr>
              <a:t> ”</a:t>
            </a:r>
            <a:r>
              <a:rPr lang="en-ID" dirty="0" err="1">
                <a:latin typeface="Montserrat" pitchFamily="2" charset="0"/>
              </a:rPr>
              <a:t>pengetahuan”mu</a:t>
            </a:r>
            <a:r>
              <a:rPr lang="en-ID" dirty="0">
                <a:latin typeface="Montserrat" pitchFamily="2" charset="0"/>
              </a:rPr>
              <a:t>. </a:t>
            </a:r>
            <a:r>
              <a:rPr lang="en-ID" sz="1400" dirty="0">
                <a:latin typeface="Montserrat" pitchFamily="2" charset="0"/>
              </a:rPr>
              <a:t>12</a:t>
            </a:r>
            <a:r>
              <a:rPr lang="en-ID" dirty="0">
                <a:latin typeface="Montserrat" pitchFamily="2" charset="0"/>
              </a:rPr>
              <a:t>Jika </a:t>
            </a:r>
            <a:r>
              <a:rPr lang="en-ID" dirty="0" err="1">
                <a:latin typeface="Montserrat" pitchFamily="2" charset="0"/>
              </a:rPr>
              <a:t>engkau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secara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demikian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berdosa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terhadap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saudara-saudaramu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melukai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hati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nurani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lemah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engkau</a:t>
            </a:r>
            <a:r>
              <a:rPr lang="en-ID" dirty="0">
                <a:latin typeface="Montserrat" pitchFamily="2" charset="0"/>
              </a:rPr>
              <a:t> pada </a:t>
            </a:r>
            <a:r>
              <a:rPr lang="en-ID" dirty="0" err="1">
                <a:latin typeface="Montserrat" pitchFamily="2" charset="0"/>
              </a:rPr>
              <a:t>hakekatnya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berdosa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terhadap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Kristus</a:t>
            </a:r>
            <a:r>
              <a:rPr lang="en-ID" dirty="0">
                <a:latin typeface="Montserrat" pitchFamily="2" charset="0"/>
              </a:rPr>
              <a:t>. </a:t>
            </a:r>
            <a:r>
              <a:rPr lang="en-ID" sz="1400" dirty="0">
                <a:latin typeface="Montserrat" pitchFamily="2" charset="0"/>
              </a:rPr>
              <a:t>13</a:t>
            </a:r>
            <a:r>
              <a:rPr lang="en-ID" dirty="0">
                <a:latin typeface="Montserrat" pitchFamily="2" charset="0"/>
              </a:rPr>
              <a:t>Karena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apabila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makanan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menjadi</a:t>
            </a:r>
            <a:r>
              <a:rPr lang="en-ID" dirty="0">
                <a:latin typeface="Montserrat" pitchFamily="2" charset="0"/>
              </a:rPr>
              <a:t> batu </a:t>
            </a:r>
            <a:r>
              <a:rPr lang="en-ID" dirty="0" err="1">
                <a:latin typeface="Montserrat" pitchFamily="2" charset="0"/>
              </a:rPr>
              <a:t>sandungan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bagi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saudaraku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aku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untuk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selama-lamanya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daging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lagi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supaya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aku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jangan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menjadi</a:t>
            </a:r>
            <a:r>
              <a:rPr lang="en-ID" dirty="0">
                <a:latin typeface="Montserrat" pitchFamily="2" charset="0"/>
              </a:rPr>
              <a:t> batu </a:t>
            </a:r>
            <a:r>
              <a:rPr lang="en-ID" dirty="0" err="1">
                <a:latin typeface="Montserrat" pitchFamily="2" charset="0"/>
              </a:rPr>
              <a:t>sandungan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bagi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saudaraku</a:t>
            </a:r>
            <a:r>
              <a:rPr lang="en-ID" dirty="0"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5267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4850296" y="0"/>
            <a:ext cx="7235687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F50E7-AEC1-4A58-AE53-43EBBC832934}"/>
              </a:ext>
            </a:extLst>
          </p:cNvPr>
          <p:cNvSpPr txBox="1"/>
          <p:nvPr/>
        </p:nvSpPr>
        <p:spPr>
          <a:xfrm>
            <a:off x="5824329" y="1970334"/>
            <a:ext cx="626165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18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Janganlah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biarkan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kemenanganmu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digagalkan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orang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pura-pura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merendahkan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beribadah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malaikat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serta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berkanjang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pada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penglihatan-penglihatan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tanpa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alasan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membesar-besarkan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pikirannya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duniawi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19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sedang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berpegang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teguh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Kepala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mana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seluruh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tubuh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ditunjang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diikat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menjadi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urat-urat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sendi-sendi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menerima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pertumbuhan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ilahinya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(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Kol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2:18-19).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DE4DE-F578-4823-81DB-64F51A1BF26B}"/>
              </a:ext>
            </a:extLst>
          </p:cNvPr>
          <p:cNvSpPr txBox="1"/>
          <p:nvPr/>
        </p:nvSpPr>
        <p:spPr>
          <a:xfrm>
            <a:off x="6341164" y="74330"/>
            <a:ext cx="48304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Tanpa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benar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kesalehan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bisa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tipuan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kerohanian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yang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membahayakan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Kol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id-ID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2:18-23; 1Yoh. 4:1-6)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2400" b="1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Growing - agh.ipb.ac.id">
            <a:extLst>
              <a:ext uri="{FF2B5EF4-FFF2-40B4-BE49-F238E27FC236}">
                <a16:creationId xmlns:a16="http://schemas.microsoft.com/office/drawing/2014/main" id="{8183F950-FEEE-41B3-8613-B8F2AC458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386" r="15353"/>
          <a:stretch/>
        </p:blipFill>
        <p:spPr bwMode="auto">
          <a:xfrm>
            <a:off x="523461" y="642937"/>
            <a:ext cx="5194852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017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A5B4C-8DE8-835C-E07B-DA3508EAB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B2D8E6-8547-801D-9694-84FB3E193E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62BA46CC-22D3-64D0-D746-57DAFA174E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B983BA-7724-45D8-3427-1918D504E3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603FBB-322B-82B2-50C3-BC7828092A45}"/>
              </a:ext>
            </a:extLst>
          </p:cNvPr>
          <p:cNvSpPr/>
          <p:nvPr/>
        </p:nvSpPr>
        <p:spPr>
          <a:xfrm>
            <a:off x="4850296" y="0"/>
            <a:ext cx="7235687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42F891-CF24-BE4E-EA11-DA7141C9E228}"/>
              </a:ext>
            </a:extLst>
          </p:cNvPr>
          <p:cNvSpPr txBox="1"/>
          <p:nvPr/>
        </p:nvSpPr>
        <p:spPr>
          <a:xfrm>
            <a:off x="5824329" y="1970334"/>
            <a:ext cx="626165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18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Janganlah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biarkan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kemenanganmu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digagalkan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orang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pura-pura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merendahkan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beribadah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malaikat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serta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berkanjang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pada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penglihatan-penglihatan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tanpa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alasan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membesar-besarkan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pikirannya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duniawi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19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sedang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berpegang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teguh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Kepala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mana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seluruh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tubuh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ditunjang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diikat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menjadi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urat-urat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sendi-sendi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menerima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pertumbuhan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ilahinya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(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Kol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2:18-19).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E5FFC3-DE00-8B53-2F06-7DCF78582615}"/>
              </a:ext>
            </a:extLst>
          </p:cNvPr>
          <p:cNvSpPr txBox="1"/>
          <p:nvPr/>
        </p:nvSpPr>
        <p:spPr>
          <a:xfrm>
            <a:off x="6341164" y="74330"/>
            <a:ext cx="48304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Tanpa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benar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kesalehan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bisa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tipuan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kerohanian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yang 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membahayakan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Kol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id-ID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2:18-23; 1Yoh. 4:1-6)</a:t>
            </a:r>
            <a:r>
              <a:rPr lang="en-US" sz="2400" b="1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2400" b="1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Growing - agh.ipb.ac.id">
            <a:extLst>
              <a:ext uri="{FF2B5EF4-FFF2-40B4-BE49-F238E27FC236}">
                <a16:creationId xmlns:a16="http://schemas.microsoft.com/office/drawing/2014/main" id="{A41DBB88-DF99-2E57-C93F-9EB8CBE8D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386" r="15353"/>
          <a:stretch/>
        </p:blipFill>
        <p:spPr bwMode="auto">
          <a:xfrm>
            <a:off x="523461" y="642937"/>
            <a:ext cx="5194852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781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D390C-5AB4-A97F-0677-500EC93EA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DFB4A6-1100-C7DC-3105-B112F3BE64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4D24AEF-A0B6-ED40-22C5-C63D26B865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57EFA0-405D-3F53-5055-88FE1E8717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56C6D8-B497-8836-C444-890CAA21E8CE}"/>
              </a:ext>
            </a:extLst>
          </p:cNvPr>
          <p:cNvSpPr txBox="1"/>
          <p:nvPr/>
        </p:nvSpPr>
        <p:spPr>
          <a:xfrm>
            <a:off x="1467317" y="1305341"/>
            <a:ext cx="925736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Kol. </a:t>
            </a:r>
            <a:r>
              <a:rPr lang="id-ID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2:18-23 </a:t>
            </a:r>
            <a:endParaRPr lang="en-US" b="1" dirty="0"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D" sz="1400" dirty="0">
                <a:latin typeface="Montserrat" pitchFamily="2" charset="0"/>
              </a:rPr>
              <a:t>18</a:t>
            </a:r>
            <a:r>
              <a:rPr lang="en-ID" dirty="0">
                <a:latin typeface="Montserrat" pitchFamily="2" charset="0"/>
              </a:rPr>
              <a:t>Janganlah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biarkan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kemenanganmu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digagalkan</a:t>
            </a:r>
            <a:r>
              <a:rPr lang="en-ID" dirty="0">
                <a:latin typeface="Montserrat" pitchFamily="2" charset="0"/>
              </a:rPr>
              <a:t> oleh orang yang pura-pura </a:t>
            </a:r>
            <a:r>
              <a:rPr lang="en-ID" dirty="0" err="1">
                <a:latin typeface="Montserrat" pitchFamily="2" charset="0"/>
              </a:rPr>
              <a:t>merendahkan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diri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beribadah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kepada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malaikat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serta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berkanjang</a:t>
            </a:r>
            <a:r>
              <a:rPr lang="en-ID" dirty="0">
                <a:latin typeface="Montserrat" pitchFamily="2" charset="0"/>
              </a:rPr>
              <a:t> pada </a:t>
            </a:r>
            <a:r>
              <a:rPr lang="en-ID" dirty="0" err="1">
                <a:latin typeface="Montserrat" pitchFamily="2" charset="0"/>
              </a:rPr>
              <a:t>penglihatan-penglihatan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tanpa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alasan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membesar-besarkan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diri</a:t>
            </a:r>
            <a:r>
              <a:rPr lang="en-ID" dirty="0">
                <a:latin typeface="Montserrat" pitchFamily="2" charset="0"/>
              </a:rPr>
              <a:t> oleh </a:t>
            </a:r>
            <a:r>
              <a:rPr lang="en-ID" dirty="0" err="1">
                <a:latin typeface="Montserrat" pitchFamily="2" charset="0"/>
              </a:rPr>
              <a:t>pikirannya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duniawi</a:t>
            </a:r>
            <a:r>
              <a:rPr lang="en-ID" dirty="0">
                <a:latin typeface="Montserrat" pitchFamily="2" charset="0"/>
              </a:rPr>
              <a:t>, </a:t>
            </a:r>
            <a:r>
              <a:rPr lang="en-ID" sz="1400" dirty="0">
                <a:latin typeface="Montserrat" pitchFamily="2" charset="0"/>
              </a:rPr>
              <a:t>19</a:t>
            </a:r>
            <a:r>
              <a:rPr lang="en-ID" dirty="0">
                <a:latin typeface="Montserrat" pitchFamily="2" charset="0"/>
              </a:rPr>
              <a:t> </a:t>
            </a:r>
            <a:r>
              <a:rPr lang="en-ID" dirty="0" err="1">
                <a:latin typeface="Montserrat" pitchFamily="2" charset="0"/>
              </a:rPr>
              <a:t>sedang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berpegang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teguh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kepada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Kepala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mana </a:t>
            </a:r>
            <a:r>
              <a:rPr lang="en-ID" dirty="0" err="1">
                <a:latin typeface="Montserrat" pitchFamily="2" charset="0"/>
              </a:rPr>
              <a:t>seluruh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tubuh</a:t>
            </a:r>
            <a:r>
              <a:rPr lang="en-ID" dirty="0">
                <a:latin typeface="Montserrat" pitchFamily="2" charset="0"/>
              </a:rPr>
              <a:t>, yang </a:t>
            </a:r>
            <a:r>
              <a:rPr lang="en-ID" dirty="0" err="1">
                <a:latin typeface="Montserrat" pitchFamily="2" charset="0"/>
              </a:rPr>
              <a:t>ditunjang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diikat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menjadi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satu</a:t>
            </a:r>
            <a:r>
              <a:rPr lang="en-ID" dirty="0">
                <a:latin typeface="Montserrat" pitchFamily="2" charset="0"/>
              </a:rPr>
              <a:t> oleh </a:t>
            </a:r>
            <a:r>
              <a:rPr lang="en-ID" dirty="0" err="1">
                <a:latin typeface="Montserrat" pitchFamily="2" charset="0"/>
              </a:rPr>
              <a:t>urat-urat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sendi-sendi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menerima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pertumbuhan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ilahinya</a:t>
            </a:r>
            <a:r>
              <a:rPr lang="en-ID" dirty="0">
                <a:latin typeface="Montserrat" pitchFamily="2" charset="0"/>
              </a:rPr>
              <a:t>.</a:t>
            </a:r>
          </a:p>
          <a:p>
            <a:pPr algn="ctr"/>
            <a:r>
              <a:rPr lang="en-ID" sz="1400" dirty="0">
                <a:latin typeface="Montserrat" pitchFamily="2" charset="0"/>
              </a:rPr>
              <a:t>20</a:t>
            </a:r>
            <a:r>
              <a:rPr lang="en-ID" dirty="0">
                <a:latin typeface="Montserrat" pitchFamily="2" charset="0"/>
              </a:rPr>
              <a:t>Apabila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mati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bersama-sama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dengan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Kristus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bebas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roh-roh</a:t>
            </a:r>
            <a:r>
              <a:rPr lang="en-ID" dirty="0">
                <a:latin typeface="Montserrat" pitchFamily="2" charset="0"/>
              </a:rPr>
              <a:t> dunia, </a:t>
            </a:r>
            <a:r>
              <a:rPr lang="en-ID" dirty="0" err="1">
                <a:latin typeface="Montserrat" pitchFamily="2" charset="0"/>
              </a:rPr>
              <a:t>mengapakah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menaklukkan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dirimu</a:t>
            </a:r>
            <a:r>
              <a:rPr lang="en-ID" dirty="0">
                <a:latin typeface="Montserrat" pitchFamily="2" charset="0"/>
              </a:rPr>
              <a:t> pada </a:t>
            </a:r>
            <a:r>
              <a:rPr lang="en-ID" dirty="0" err="1">
                <a:latin typeface="Montserrat" pitchFamily="2" charset="0"/>
              </a:rPr>
              <a:t>rupa-rupa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peraturan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seolah-olah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masih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hidup</a:t>
            </a:r>
            <a:r>
              <a:rPr lang="en-ID" dirty="0">
                <a:latin typeface="Montserrat" pitchFamily="2" charset="0"/>
              </a:rPr>
              <a:t> di dunia: </a:t>
            </a:r>
            <a:r>
              <a:rPr lang="en-ID" sz="1400" dirty="0">
                <a:latin typeface="Montserrat" pitchFamily="2" charset="0"/>
              </a:rPr>
              <a:t>21</a:t>
            </a:r>
            <a:r>
              <a:rPr lang="en-ID" dirty="0">
                <a:latin typeface="Montserrat" pitchFamily="2" charset="0"/>
              </a:rPr>
              <a:t>jangan </a:t>
            </a:r>
            <a:r>
              <a:rPr lang="en-ID" dirty="0" err="1">
                <a:latin typeface="Montserrat" pitchFamily="2" charset="0"/>
              </a:rPr>
              <a:t>jamah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ini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jangan</a:t>
            </a:r>
            <a:r>
              <a:rPr lang="en-ID" dirty="0">
                <a:latin typeface="Montserrat" pitchFamily="2" charset="0"/>
              </a:rPr>
              <a:t> kecap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jangan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sentuh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ini</a:t>
            </a:r>
            <a:r>
              <a:rPr lang="en-ID" dirty="0">
                <a:latin typeface="Montserrat" pitchFamily="2" charset="0"/>
              </a:rPr>
              <a:t>; </a:t>
            </a:r>
            <a:r>
              <a:rPr lang="en-ID" sz="1400" dirty="0">
                <a:latin typeface="Montserrat" pitchFamily="2" charset="0"/>
              </a:rPr>
              <a:t>22</a:t>
            </a:r>
            <a:r>
              <a:rPr lang="en-ID" dirty="0">
                <a:latin typeface="Montserrat" pitchFamily="2" charset="0"/>
              </a:rPr>
              <a:t>semuanya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hanya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mengenai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barang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binasa</a:t>
            </a:r>
            <a:r>
              <a:rPr lang="en-ID" dirty="0">
                <a:latin typeface="Montserrat" pitchFamily="2" charset="0"/>
              </a:rPr>
              <a:t> oleh </a:t>
            </a:r>
            <a:r>
              <a:rPr lang="en-ID" dirty="0" err="1">
                <a:latin typeface="Montserrat" pitchFamily="2" charset="0"/>
              </a:rPr>
              <a:t>pemakaian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hanya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menurut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perintah-perintah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ajaran-ajaran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manusia</a:t>
            </a:r>
            <a:r>
              <a:rPr lang="en-ID" dirty="0">
                <a:latin typeface="Montserrat" pitchFamily="2" charset="0"/>
              </a:rPr>
              <a:t>. </a:t>
            </a:r>
            <a:r>
              <a:rPr lang="en-ID" sz="1400" dirty="0">
                <a:latin typeface="Montserrat" pitchFamily="2" charset="0"/>
              </a:rPr>
              <a:t>23</a:t>
            </a:r>
            <a:r>
              <a:rPr lang="en-ID" dirty="0">
                <a:latin typeface="Montserrat" pitchFamily="2" charset="0"/>
              </a:rPr>
              <a:t>Peraturan-peraturan </a:t>
            </a:r>
            <a:r>
              <a:rPr lang="en-ID" dirty="0" err="1">
                <a:latin typeface="Montserrat" pitchFamily="2" charset="0"/>
              </a:rPr>
              <a:t>ini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walaupun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nampaknya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penuh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hikmat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dengan</a:t>
            </a:r>
            <a:r>
              <a:rPr lang="en-ID" dirty="0">
                <a:latin typeface="Montserrat" pitchFamily="2" charset="0"/>
              </a:rPr>
              <a:t> ibadah </a:t>
            </a:r>
            <a:r>
              <a:rPr lang="en-ID" dirty="0" err="1">
                <a:latin typeface="Montserrat" pitchFamily="2" charset="0"/>
              </a:rPr>
              <a:t>buatan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sendiri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seperti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merendahkan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diri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menyiksa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diri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gunanya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selain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untuk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memuaskan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hidup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duniawi</a:t>
            </a:r>
            <a:r>
              <a:rPr lang="en-ID" dirty="0"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8938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F73F7-C7A0-5C8F-29E0-23108ED0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E8A035-38FA-000B-09F2-4A325B774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78A5152F-CCAF-6463-9379-29E7EAE436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AA8282-A496-C375-01E4-73EB128804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5D4D14-404B-4BF1-403C-A7903DF1E7AA}"/>
              </a:ext>
            </a:extLst>
          </p:cNvPr>
          <p:cNvSpPr txBox="1"/>
          <p:nvPr/>
        </p:nvSpPr>
        <p:spPr>
          <a:xfrm>
            <a:off x="1538748" y="1166842"/>
            <a:ext cx="91145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b="1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1Yoh. 4:1-6</a:t>
            </a:r>
            <a:endParaRPr lang="en-ID" dirty="0">
              <a:latin typeface="Montserrat" pitchFamily="2" charset="0"/>
            </a:endParaRPr>
          </a:p>
          <a:p>
            <a:pPr algn="ctr"/>
            <a:r>
              <a:rPr lang="en-ID" sz="1400" dirty="0">
                <a:latin typeface="Montserrat" pitchFamily="2" charset="0"/>
              </a:rPr>
              <a:t>1</a:t>
            </a:r>
            <a:r>
              <a:rPr lang="en-ID" dirty="0">
                <a:latin typeface="Montserrat" pitchFamily="2" charset="0"/>
              </a:rPr>
              <a:t>Saudara-saudaraku yang </a:t>
            </a:r>
            <a:r>
              <a:rPr lang="en-ID" dirty="0" err="1">
                <a:latin typeface="Montserrat" pitchFamily="2" charset="0"/>
              </a:rPr>
              <a:t>kekasih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janganlah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percaya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setiap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tetapi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ujilah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roh-roh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apakah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Allah; </a:t>
            </a:r>
            <a:r>
              <a:rPr lang="en-ID" dirty="0" err="1">
                <a:latin typeface="Montserrat" pitchFamily="2" charset="0"/>
              </a:rPr>
              <a:t>sebab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banyak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nabi-nabi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palsu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muncul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pergi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ke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seluruh</a:t>
            </a:r>
            <a:r>
              <a:rPr lang="en-ID" dirty="0">
                <a:latin typeface="Montserrat" pitchFamily="2" charset="0"/>
              </a:rPr>
              <a:t> dunia. </a:t>
            </a:r>
            <a:r>
              <a:rPr lang="en-ID" sz="1400" dirty="0">
                <a:latin typeface="Montserrat" pitchFamily="2" charset="0"/>
              </a:rPr>
              <a:t>2</a:t>
            </a:r>
            <a:r>
              <a:rPr lang="en-ID" dirty="0">
                <a:latin typeface="Montserrat" pitchFamily="2" charset="0"/>
              </a:rPr>
              <a:t>Demikianlah </a:t>
            </a:r>
            <a:r>
              <a:rPr lang="en-ID" dirty="0" err="1">
                <a:latin typeface="Montserrat" pitchFamily="2" charset="0"/>
              </a:rPr>
              <a:t>kita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mengenal</a:t>
            </a:r>
            <a:r>
              <a:rPr lang="en-ID" dirty="0">
                <a:latin typeface="Montserrat" pitchFamily="2" charset="0"/>
              </a:rPr>
              <a:t> Roh Allah: </a:t>
            </a:r>
            <a:r>
              <a:rPr lang="en-ID" dirty="0" err="1">
                <a:latin typeface="Montserrat" pitchFamily="2" charset="0"/>
              </a:rPr>
              <a:t>setiap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mengaku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bahwa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Yesus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Kristus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datang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sebagai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manusia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Allah, </a:t>
            </a:r>
            <a:r>
              <a:rPr lang="en-ID" sz="1400" dirty="0">
                <a:latin typeface="Montserrat" pitchFamily="2" charset="0"/>
              </a:rPr>
              <a:t>3</a:t>
            </a:r>
            <a:r>
              <a:rPr lang="en-ID" dirty="0">
                <a:latin typeface="Montserrat" pitchFamily="2" charset="0"/>
              </a:rPr>
              <a:t>dan </a:t>
            </a:r>
            <a:r>
              <a:rPr lang="en-ID" dirty="0" err="1">
                <a:latin typeface="Montserrat" pitchFamily="2" charset="0"/>
              </a:rPr>
              <a:t>setiap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, yang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mengaku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Yesus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Allah. Roh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antikristus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tentang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dengar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bahwa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datang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sekarang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ini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sudah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di </a:t>
            </a:r>
            <a:r>
              <a:rPr lang="en-ID" dirty="0" err="1">
                <a:latin typeface="Montserrat" pitchFamily="2" charset="0"/>
              </a:rPr>
              <a:t>dalam</a:t>
            </a:r>
            <a:r>
              <a:rPr lang="en-ID" dirty="0">
                <a:latin typeface="Montserrat" pitchFamily="2" charset="0"/>
              </a:rPr>
              <a:t> dunia. </a:t>
            </a:r>
            <a:r>
              <a:rPr lang="en-ID" sz="1400" dirty="0">
                <a:latin typeface="Montserrat" pitchFamily="2" charset="0"/>
              </a:rPr>
              <a:t>4</a:t>
            </a:r>
            <a:r>
              <a:rPr lang="en-ID" dirty="0">
                <a:latin typeface="Montserrat" pitchFamily="2" charset="0"/>
              </a:rPr>
              <a:t>Kamu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Allah, </a:t>
            </a:r>
            <a:r>
              <a:rPr lang="en-ID" dirty="0" err="1">
                <a:latin typeface="Montserrat" pitchFamily="2" charset="0"/>
              </a:rPr>
              <a:t>anak-anakku</a:t>
            </a:r>
            <a:r>
              <a:rPr lang="en-ID" dirty="0">
                <a:latin typeface="Montserrat" pitchFamily="2" charset="0"/>
              </a:rPr>
              <a:t>, dan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mengalahkan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nabi-nabi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palsu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; </a:t>
            </a:r>
            <a:r>
              <a:rPr lang="en-ID" dirty="0" err="1">
                <a:latin typeface="Montserrat" pitchFamily="2" charset="0"/>
              </a:rPr>
              <a:t>sebab</a:t>
            </a:r>
            <a:r>
              <a:rPr lang="en-ID" dirty="0">
                <a:latin typeface="Montserrat" pitchFamily="2" charset="0"/>
              </a:rPr>
              <a:t> Roh yang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di </a:t>
            </a:r>
            <a:r>
              <a:rPr lang="en-ID" dirty="0" err="1">
                <a:latin typeface="Montserrat" pitchFamily="2" charset="0"/>
              </a:rPr>
              <a:t>dalam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kamu</a:t>
            </a:r>
            <a:r>
              <a:rPr lang="en-ID" dirty="0">
                <a:latin typeface="Montserrat" pitchFamily="2" charset="0"/>
              </a:rPr>
              <a:t>, </a:t>
            </a:r>
            <a:r>
              <a:rPr lang="en-ID" dirty="0" err="1">
                <a:latin typeface="Montserrat" pitchFamily="2" charset="0"/>
              </a:rPr>
              <a:t>lebih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besar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pada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ada</a:t>
            </a:r>
            <a:r>
              <a:rPr lang="en-ID" dirty="0">
                <a:latin typeface="Montserrat" pitchFamily="2" charset="0"/>
              </a:rPr>
              <a:t> di </a:t>
            </a:r>
            <a:r>
              <a:rPr lang="en-ID" dirty="0" err="1">
                <a:latin typeface="Montserrat" pitchFamily="2" charset="0"/>
              </a:rPr>
              <a:t>dalam</a:t>
            </a:r>
            <a:r>
              <a:rPr lang="en-ID" dirty="0">
                <a:latin typeface="Montserrat" pitchFamily="2" charset="0"/>
              </a:rPr>
              <a:t> dunia. </a:t>
            </a:r>
            <a:r>
              <a:rPr lang="en-ID" sz="1400" dirty="0">
                <a:latin typeface="Montserrat" pitchFamily="2" charset="0"/>
              </a:rPr>
              <a:t>5</a:t>
            </a:r>
            <a:r>
              <a:rPr lang="en-ID" dirty="0">
                <a:latin typeface="Montserrat" pitchFamily="2" charset="0"/>
              </a:rPr>
              <a:t>Mereka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dunia; </a:t>
            </a:r>
            <a:r>
              <a:rPr lang="en-ID" dirty="0" err="1">
                <a:latin typeface="Montserrat" pitchFamily="2" charset="0"/>
              </a:rPr>
              <a:t>sebab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itu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berbicara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tentang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hal-hal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duniawi</a:t>
            </a:r>
            <a:r>
              <a:rPr lang="en-ID" dirty="0">
                <a:latin typeface="Montserrat" pitchFamily="2" charset="0"/>
              </a:rPr>
              <a:t> dan dunia </a:t>
            </a:r>
            <a:r>
              <a:rPr lang="en-ID" dirty="0" err="1">
                <a:latin typeface="Montserrat" pitchFamily="2" charset="0"/>
              </a:rPr>
              <a:t>mendengarkan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mereka</a:t>
            </a:r>
            <a:r>
              <a:rPr lang="en-ID" dirty="0">
                <a:latin typeface="Montserrat" pitchFamily="2" charset="0"/>
              </a:rPr>
              <a:t>. </a:t>
            </a:r>
            <a:r>
              <a:rPr lang="en-ID" sz="1400" dirty="0">
                <a:latin typeface="Montserrat" pitchFamily="2" charset="0"/>
              </a:rPr>
              <a:t>6</a:t>
            </a:r>
            <a:r>
              <a:rPr lang="en-ID" dirty="0">
                <a:latin typeface="Montserrat" pitchFamily="2" charset="0"/>
              </a:rPr>
              <a:t>Kami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Allah: </a:t>
            </a:r>
            <a:r>
              <a:rPr lang="en-ID" dirty="0" err="1">
                <a:latin typeface="Montserrat" pitchFamily="2" charset="0"/>
              </a:rPr>
              <a:t>barangsiapa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mengenal</a:t>
            </a:r>
            <a:r>
              <a:rPr lang="en-ID" dirty="0">
                <a:latin typeface="Montserrat" pitchFamily="2" charset="0"/>
              </a:rPr>
              <a:t> Allah,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mendengarkan</a:t>
            </a:r>
            <a:r>
              <a:rPr lang="en-ID" dirty="0">
                <a:latin typeface="Montserrat" pitchFamily="2" charset="0"/>
              </a:rPr>
              <a:t> kami; </a:t>
            </a:r>
            <a:r>
              <a:rPr lang="en-ID" dirty="0" err="1">
                <a:latin typeface="Montserrat" pitchFamily="2" charset="0"/>
              </a:rPr>
              <a:t>barangsiapa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berasal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dari</a:t>
            </a:r>
            <a:r>
              <a:rPr lang="en-ID" dirty="0">
                <a:latin typeface="Montserrat" pitchFamily="2" charset="0"/>
              </a:rPr>
              <a:t> Allah, </a:t>
            </a:r>
            <a:r>
              <a:rPr lang="en-ID" dirty="0" err="1">
                <a:latin typeface="Montserrat" pitchFamily="2" charset="0"/>
              </a:rPr>
              <a:t>ia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tidak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mendengarkan</a:t>
            </a:r>
            <a:r>
              <a:rPr lang="en-ID" dirty="0">
                <a:latin typeface="Montserrat" pitchFamily="2" charset="0"/>
              </a:rPr>
              <a:t> kami. </a:t>
            </a:r>
            <a:r>
              <a:rPr lang="en-ID" dirty="0" err="1">
                <a:latin typeface="Montserrat" pitchFamily="2" charset="0"/>
              </a:rPr>
              <a:t>Itulah</a:t>
            </a:r>
            <a:r>
              <a:rPr lang="en-ID" dirty="0">
                <a:latin typeface="Montserrat" pitchFamily="2" charset="0"/>
              </a:rPr>
              <a:t> </a:t>
            </a:r>
            <a:r>
              <a:rPr lang="en-ID" dirty="0" err="1">
                <a:latin typeface="Montserrat" pitchFamily="2" charset="0"/>
              </a:rPr>
              <a:t>tandanya</a:t>
            </a:r>
            <a:r>
              <a:rPr lang="en-ID" dirty="0">
                <a:latin typeface="Montserrat" pitchFamily="2" charset="0"/>
              </a:rPr>
              <a:t> Roh </a:t>
            </a:r>
            <a:r>
              <a:rPr lang="en-ID" dirty="0" err="1">
                <a:latin typeface="Montserrat" pitchFamily="2" charset="0"/>
              </a:rPr>
              <a:t>kebenaran</a:t>
            </a:r>
            <a:r>
              <a:rPr lang="en-ID" dirty="0">
                <a:latin typeface="Montserrat" pitchFamily="2" charset="0"/>
              </a:rPr>
              <a:t> dan </a:t>
            </a:r>
            <a:r>
              <a:rPr lang="en-ID" dirty="0" err="1">
                <a:latin typeface="Montserrat" pitchFamily="2" charset="0"/>
              </a:rPr>
              <a:t>roh</a:t>
            </a:r>
            <a:r>
              <a:rPr lang="en-ID" dirty="0">
                <a:latin typeface="Montserrat" pitchFamily="2" charset="0"/>
              </a:rPr>
              <a:t> yang </a:t>
            </a:r>
            <a:r>
              <a:rPr lang="en-ID" dirty="0" err="1">
                <a:latin typeface="Montserrat" pitchFamily="2" charset="0"/>
              </a:rPr>
              <a:t>menyesatkan</a:t>
            </a:r>
            <a:r>
              <a:rPr lang="en-ID" dirty="0">
                <a:latin typeface="Montserrat" pitchFamily="2" charset="0"/>
              </a:rPr>
              <a:t>.</a:t>
            </a:r>
            <a:endParaRPr lang="en-US" sz="20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538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83E02E-4B48-4329-B115-8EF2E809A6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88CB7A-B818-4E97-B2BE-D18552FA6E6F}"/>
              </a:ext>
            </a:extLst>
          </p:cNvPr>
          <p:cNvSpPr/>
          <p:nvPr/>
        </p:nvSpPr>
        <p:spPr>
          <a:xfrm>
            <a:off x="1802296" y="0"/>
            <a:ext cx="21468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Compass Key Ring – WAR Chest Boutique">
            <a:extLst>
              <a:ext uri="{FF2B5EF4-FFF2-40B4-BE49-F238E27FC236}">
                <a16:creationId xmlns:a16="http://schemas.microsoft.com/office/drawing/2014/main" id="{1FC8CDB1-2E92-43E9-BAF3-61E9ECB3BA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1" b="15942"/>
          <a:stretch/>
        </p:blipFill>
        <p:spPr bwMode="auto">
          <a:xfrm>
            <a:off x="503582" y="546652"/>
            <a:ext cx="3851345" cy="57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5878B5-BFA9-4738-B2F2-E26962FBED05}"/>
              </a:ext>
            </a:extLst>
          </p:cNvPr>
          <p:cNvSpPr txBox="1"/>
          <p:nvPr/>
        </p:nvSpPr>
        <p:spPr>
          <a:xfrm>
            <a:off x="5088835" y="2873527"/>
            <a:ext cx="6162260" cy="111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kompas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peperangan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ideologi</a:t>
            </a:r>
            <a:endParaRPr lang="en-US" sz="16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C6737A-8335-476A-92C6-560DEE743B04}"/>
              </a:ext>
            </a:extLst>
          </p:cNvPr>
          <p:cNvSpPr/>
          <p:nvPr/>
        </p:nvSpPr>
        <p:spPr>
          <a:xfrm>
            <a:off x="5188226" y="1297324"/>
            <a:ext cx="88789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E5866-8520-49DF-944B-36FAD60F4113}"/>
              </a:ext>
            </a:extLst>
          </p:cNvPr>
          <p:cNvSpPr txBox="1"/>
          <p:nvPr/>
        </p:nvSpPr>
        <p:spPr>
          <a:xfrm>
            <a:off x="5022574" y="4373218"/>
            <a:ext cx="62947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Hampir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setiap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pertukaran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Montserrat" panose="00000500000000000000" pitchFamily="50" charset="0"/>
              </a:rPr>
              <a:t>informasi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melibatkan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persentuhan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Montserrat" panose="00000500000000000000" pitchFamily="50" charset="0"/>
              </a:rPr>
              <a:t>ideologi</a:t>
            </a:r>
            <a:r>
              <a:rPr lang="en-US" sz="2400" b="1" dirty="0">
                <a:solidFill>
                  <a:srgbClr val="C00000"/>
                </a:solidFill>
                <a:latin typeface="Montserrat" panose="00000500000000000000" pitchFamily="50" charset="0"/>
              </a:rPr>
              <a:t>.</a:t>
            </a:r>
            <a:r>
              <a:rPr lang="en-US" sz="2400" dirty="0">
                <a:latin typeface="Montserrat" panose="00000500000000000000" pitchFamily="50" charset="0"/>
              </a:rPr>
              <a:t> Kita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hanya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mengakses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tetapi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diakses</a:t>
            </a:r>
            <a:r>
              <a:rPr lang="en-US" sz="2400" dirty="0">
                <a:latin typeface="Montserrat" panose="00000500000000000000" pitchFamily="50" charset="0"/>
              </a:rPr>
              <a:t> oleh </a:t>
            </a:r>
            <a:r>
              <a:rPr lang="en-US" sz="2400" dirty="0" err="1">
                <a:latin typeface="Montserrat" panose="00000500000000000000" pitchFamily="50" charset="0"/>
              </a:rPr>
              <a:t>informasi</a:t>
            </a:r>
            <a:r>
              <a:rPr lang="en-US" sz="2400" dirty="0">
                <a:latin typeface="Montserrat" panose="000005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9468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15E411-FA17-4C04-B36E-E731F81BB07E}"/>
              </a:ext>
            </a:extLst>
          </p:cNvPr>
          <p:cNvSpPr txBox="1"/>
          <p:nvPr/>
        </p:nvSpPr>
        <p:spPr>
          <a:xfrm>
            <a:off x="6602894" y="2601291"/>
            <a:ext cx="4479236" cy="830997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Menunjukkan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keunikan kekristenan </a:t>
            </a:r>
            <a:r>
              <a:rPr lang="id-ID" sz="2400" u="sng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yang </a:t>
            </a:r>
            <a:r>
              <a:rPr lang="id-ID" sz="2400" b="1" u="sng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esensial</a:t>
            </a:r>
            <a:endParaRPr lang="en-US" sz="2400" u="sng" dirty="0">
              <a:solidFill>
                <a:srgbClr val="C00000"/>
              </a:solidFill>
              <a:latin typeface="Montserrat" panose="00000500000000000000" pitchFamily="50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6ED0736-036A-4148-B103-2B08BF9234FB}"/>
              </a:ext>
            </a:extLst>
          </p:cNvPr>
          <p:cNvSpPr/>
          <p:nvPr/>
        </p:nvSpPr>
        <p:spPr>
          <a:xfrm>
            <a:off x="4354927" y="2481469"/>
            <a:ext cx="1974574" cy="94753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ompass Key Ring – WAR Chest Boutique">
            <a:extLst>
              <a:ext uri="{FF2B5EF4-FFF2-40B4-BE49-F238E27FC236}">
                <a16:creationId xmlns:a16="http://schemas.microsoft.com/office/drawing/2014/main" id="{AB15DB06-B5DB-43B3-8CEB-E5040DBF7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1" b="15942"/>
          <a:stretch/>
        </p:blipFill>
        <p:spPr bwMode="auto">
          <a:xfrm>
            <a:off x="503582" y="546652"/>
            <a:ext cx="3851345" cy="57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729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15E411-FA17-4C04-B36E-E731F81BB07E}"/>
              </a:ext>
            </a:extLst>
          </p:cNvPr>
          <p:cNvSpPr txBox="1"/>
          <p:nvPr/>
        </p:nvSpPr>
        <p:spPr>
          <a:xfrm>
            <a:off x="6430616" y="2479769"/>
            <a:ext cx="44792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Menunjukkan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keunikan kekristenan yang esensial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67755-2E7E-486C-8D6C-FAF3DD92A1C9}"/>
              </a:ext>
            </a:extLst>
          </p:cNvPr>
          <p:cNvSpPr txBox="1"/>
          <p:nvPr/>
        </p:nvSpPr>
        <p:spPr>
          <a:xfrm>
            <a:off x="6430616" y="3603579"/>
            <a:ext cx="4479236" cy="120032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u="sng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Menguji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beragam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konsep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religius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spiritualitas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non-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religius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ED50F22-A814-4C64-8F17-292A5D175071}"/>
              </a:ext>
            </a:extLst>
          </p:cNvPr>
          <p:cNvSpPr/>
          <p:nvPr/>
        </p:nvSpPr>
        <p:spPr>
          <a:xfrm>
            <a:off x="4354927" y="3462412"/>
            <a:ext cx="1780828" cy="92866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 descr="Compass Key Ring – WAR Chest Boutique">
            <a:extLst>
              <a:ext uri="{FF2B5EF4-FFF2-40B4-BE49-F238E27FC236}">
                <a16:creationId xmlns:a16="http://schemas.microsoft.com/office/drawing/2014/main" id="{04467D32-8499-40AD-A3AF-ED87BB046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1" b="15942"/>
          <a:stretch/>
        </p:blipFill>
        <p:spPr bwMode="auto">
          <a:xfrm>
            <a:off x="503582" y="546652"/>
            <a:ext cx="3851345" cy="57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288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15E411-FA17-4C04-B36E-E731F81BB07E}"/>
              </a:ext>
            </a:extLst>
          </p:cNvPr>
          <p:cNvSpPr txBox="1"/>
          <p:nvPr/>
        </p:nvSpPr>
        <p:spPr>
          <a:xfrm>
            <a:off x="6430616" y="858067"/>
            <a:ext cx="4256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Menunjukkan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keunikan kekristenan yang esensial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67755-2E7E-486C-8D6C-FAF3DD92A1C9}"/>
              </a:ext>
            </a:extLst>
          </p:cNvPr>
          <p:cNvSpPr txBox="1"/>
          <p:nvPr/>
        </p:nvSpPr>
        <p:spPr>
          <a:xfrm>
            <a:off x="6430616" y="1969467"/>
            <a:ext cx="4479236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Menguji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beragam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konsep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religius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spiritulitas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non-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religius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ED50F22-A814-4C64-8F17-292A5D175071}"/>
              </a:ext>
            </a:extLst>
          </p:cNvPr>
          <p:cNvSpPr/>
          <p:nvPr/>
        </p:nvSpPr>
        <p:spPr>
          <a:xfrm>
            <a:off x="4354927" y="3688204"/>
            <a:ext cx="1741073" cy="92333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380024-4E3D-49F9-A630-9DE3A9B10297}"/>
              </a:ext>
            </a:extLst>
          </p:cNvPr>
          <p:cNvSpPr txBox="1"/>
          <p:nvPr/>
        </p:nvSpPr>
        <p:spPr>
          <a:xfrm>
            <a:off x="6430616" y="3688204"/>
            <a:ext cx="4479236" cy="15696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Menyediakan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jawaban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terhadap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keraguan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b="1" u="sng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sanggahan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luar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kekristenan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13" name="Picture 2" descr="Compass Key Ring – WAR Chest Boutique">
            <a:extLst>
              <a:ext uri="{FF2B5EF4-FFF2-40B4-BE49-F238E27FC236}">
                <a16:creationId xmlns:a16="http://schemas.microsoft.com/office/drawing/2014/main" id="{395EEEEE-1C4A-456F-8669-09FDE56E2A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1" b="15942"/>
          <a:stretch/>
        </p:blipFill>
        <p:spPr bwMode="auto">
          <a:xfrm>
            <a:off x="503582" y="546652"/>
            <a:ext cx="3851345" cy="57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956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15E411-FA17-4C04-B36E-E731F81BB07E}"/>
              </a:ext>
            </a:extLst>
          </p:cNvPr>
          <p:cNvSpPr txBox="1"/>
          <p:nvPr/>
        </p:nvSpPr>
        <p:spPr>
          <a:xfrm>
            <a:off x="6359496" y="560338"/>
            <a:ext cx="44792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Menunjukkan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keunikan kekristenan yang esensial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67755-2E7E-486C-8D6C-FAF3DD92A1C9}"/>
              </a:ext>
            </a:extLst>
          </p:cNvPr>
          <p:cNvSpPr txBox="1"/>
          <p:nvPr/>
        </p:nvSpPr>
        <p:spPr>
          <a:xfrm>
            <a:off x="6430616" y="1546569"/>
            <a:ext cx="4479236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Menguji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beragam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konsep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religius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spiritulitas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non-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religius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ED50F22-A814-4C64-8F17-292A5D175071}"/>
              </a:ext>
            </a:extLst>
          </p:cNvPr>
          <p:cNvSpPr/>
          <p:nvPr/>
        </p:nvSpPr>
        <p:spPr>
          <a:xfrm>
            <a:off x="4354927" y="4662489"/>
            <a:ext cx="1847090" cy="92333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380024-4E3D-49F9-A630-9DE3A9B10297}"/>
              </a:ext>
            </a:extLst>
          </p:cNvPr>
          <p:cNvSpPr txBox="1"/>
          <p:nvPr/>
        </p:nvSpPr>
        <p:spPr>
          <a:xfrm>
            <a:off x="6430616" y="2919863"/>
            <a:ext cx="4479236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Menyediakan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jawaban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terhadap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keraguan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sanggahan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luar</a:t>
            </a:r>
            <a:r>
              <a:rPr lang="en-US" sz="2400" dirty="0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kekristenan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DB9C06-14EB-4DD8-B49A-A8F05CAE222E}"/>
              </a:ext>
            </a:extLst>
          </p:cNvPr>
          <p:cNvSpPr txBox="1"/>
          <p:nvPr/>
        </p:nvSpPr>
        <p:spPr>
          <a:xfrm>
            <a:off x="6430616" y="4662489"/>
            <a:ext cx="4953001" cy="193899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Mengembangkan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Kristen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sebuah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kebenaran</a:t>
            </a:r>
            <a:r>
              <a:rPr lang="en-US" sz="2400" b="1" u="sng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publik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relevan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dihargai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masyarakat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C00000"/>
              </a:solidFill>
              <a:latin typeface="Montserrat" panose="00000500000000000000" pitchFamily="50" charset="0"/>
            </a:endParaRPr>
          </a:p>
        </p:txBody>
      </p:sp>
      <p:pic>
        <p:nvPicPr>
          <p:cNvPr id="14" name="Picture 2" descr="Compass Key Ring – WAR Chest Boutique">
            <a:extLst>
              <a:ext uri="{FF2B5EF4-FFF2-40B4-BE49-F238E27FC236}">
                <a16:creationId xmlns:a16="http://schemas.microsoft.com/office/drawing/2014/main" id="{F8990B51-C63F-4D3D-B2D1-A78442CD1A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1" b="15942"/>
          <a:stretch/>
        </p:blipFill>
        <p:spPr bwMode="auto">
          <a:xfrm>
            <a:off x="503582" y="546652"/>
            <a:ext cx="3851345" cy="57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673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927651" y="2017023"/>
            <a:ext cx="5907157" cy="1115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Bermanfaat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Pemahaman</a:t>
            </a:r>
            <a:r>
              <a:rPr lang="en-US" sz="3200" dirty="0"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effectLst/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Alkitab</a:t>
            </a:r>
            <a:endParaRPr lang="en-US" sz="28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937A5-E18B-4499-BE66-0525F5693721}"/>
              </a:ext>
            </a:extLst>
          </p:cNvPr>
          <p:cNvSpPr/>
          <p:nvPr/>
        </p:nvSpPr>
        <p:spPr>
          <a:xfrm>
            <a:off x="1010479" y="927652"/>
            <a:ext cx="88789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5E411-FA17-4C04-B36E-E731F81BB07E}"/>
              </a:ext>
            </a:extLst>
          </p:cNvPr>
          <p:cNvSpPr txBox="1"/>
          <p:nvPr/>
        </p:nvSpPr>
        <p:spPr>
          <a:xfrm>
            <a:off x="927652" y="3535046"/>
            <a:ext cx="60116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Salah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satu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sikap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naif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ditunjukkan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oleh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banyak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orang Kristen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penolakan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terhadap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alasan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Alkitab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saja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sudah</a:t>
            </a:r>
            <a:r>
              <a:rPr lang="en-US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cukup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Mereka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menyadari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menafsirkan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Alkitab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dipengaruhi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oleh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kerangka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teologis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seseorang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C00000"/>
              </a:solidFill>
              <a:latin typeface="Montserrat" panose="00000500000000000000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CDC719-5E8E-4EFD-BD97-8A88A9A79095}"/>
              </a:ext>
            </a:extLst>
          </p:cNvPr>
          <p:cNvSpPr/>
          <p:nvPr/>
        </p:nvSpPr>
        <p:spPr>
          <a:xfrm>
            <a:off x="10793896" y="106017"/>
            <a:ext cx="1305340" cy="6652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Tips for Reading and Understanding the Bible">
            <a:extLst>
              <a:ext uri="{FF2B5EF4-FFF2-40B4-BE49-F238E27FC236}">
                <a16:creationId xmlns:a16="http://schemas.microsoft.com/office/drawing/2014/main" id="{8C28D134-5ABA-4F10-8A7C-BB5B1EE09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6" r="19973"/>
          <a:stretch/>
        </p:blipFill>
        <p:spPr bwMode="auto">
          <a:xfrm>
            <a:off x="6834809" y="551932"/>
            <a:ext cx="4934732" cy="57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478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B6117-E079-4629-885C-BE41240253D2}"/>
              </a:ext>
            </a:extLst>
          </p:cNvPr>
          <p:cNvSpPr/>
          <p:nvPr/>
        </p:nvSpPr>
        <p:spPr>
          <a:xfrm>
            <a:off x="4598504" y="0"/>
            <a:ext cx="748747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A6103-1F19-4837-9691-20577EEBDB44}"/>
              </a:ext>
            </a:extLst>
          </p:cNvPr>
          <p:cNvSpPr txBox="1"/>
          <p:nvPr/>
        </p:nvSpPr>
        <p:spPr>
          <a:xfrm>
            <a:off x="6096000" y="2497806"/>
            <a:ext cx="4555434" cy="3231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85750" algn="l"/>
              </a:tabLst>
            </a:pP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bantuan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mengerti </a:t>
            </a:r>
            <a:r>
              <a:rPr lang="id-ID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inti ajaran</a:t>
            </a:r>
            <a:r>
              <a:rPr lang="id-ID" sz="2400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 Alkitab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285750" algn="l"/>
              </a:tabLst>
            </a:pPr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Teologi juga berfungsi sebagai </a:t>
            </a:r>
            <a:r>
              <a:rPr lang="id-ID" sz="2400" b="1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kerangka interpretatif</a:t>
            </a:r>
            <a:r>
              <a:rPr lang="id-ID" sz="2400" dirty="0">
                <a:solidFill>
                  <a:srgbClr val="C00000"/>
                </a:solidFill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terhadap Alkitab (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lihat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pengantar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Institutio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John Calvin)</a:t>
            </a:r>
          </a:p>
        </p:txBody>
      </p:sp>
      <p:pic>
        <p:nvPicPr>
          <p:cNvPr id="9" name="Picture 2" descr="Tips for Reading and Understanding the Bible">
            <a:extLst>
              <a:ext uri="{FF2B5EF4-FFF2-40B4-BE49-F238E27FC236}">
                <a16:creationId xmlns:a16="http://schemas.microsoft.com/office/drawing/2014/main" id="{3741700B-363D-4F83-86E4-DC5875612A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826" r="19973"/>
          <a:stretch/>
        </p:blipFill>
        <p:spPr bwMode="auto">
          <a:xfrm>
            <a:off x="515224" y="551932"/>
            <a:ext cx="4934732" cy="57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688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1863</Words>
  <Application>Microsoft Office PowerPoint</Application>
  <PresentationFormat>Widescreen</PresentationFormat>
  <Paragraphs>71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Garamond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NATANAEL WIJAYA TIONO</cp:lastModifiedBy>
  <cp:revision>13</cp:revision>
  <dcterms:created xsi:type="dcterms:W3CDTF">2023-02-23T13:33:45Z</dcterms:created>
  <dcterms:modified xsi:type="dcterms:W3CDTF">2026-02-12T09:45:58Z</dcterms:modified>
</cp:coreProperties>
</file>