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58" r:id="rId5"/>
    <p:sldId id="261" r:id="rId6"/>
    <p:sldId id="262" r:id="rId7"/>
    <p:sldId id="273" r:id="rId8"/>
    <p:sldId id="263" r:id="rId9"/>
    <p:sldId id="264" r:id="rId10"/>
    <p:sldId id="265" r:id="rId11"/>
    <p:sldId id="274" r:id="rId12"/>
    <p:sldId id="266" r:id="rId13"/>
    <p:sldId id="275" r:id="rId14"/>
    <p:sldId id="267" r:id="rId15"/>
    <p:sldId id="276" r:id="rId16"/>
    <p:sldId id="269" r:id="rId17"/>
    <p:sldId id="270" r:id="rId18"/>
    <p:sldId id="272" r:id="rId19"/>
    <p:sldId id="271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6CB6-EDA2-4A7D-912C-D09004B48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03C46-D497-44E3-9E9E-518114A77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126A-0435-4BF9-AA3A-D228D615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CCAE1-3755-4818-80CF-87F8DFD1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13264-D801-4924-A011-848BF682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CDAE-5B04-4399-86C3-4A9718B0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16FD3-2DCF-463B-9DB3-C22F74F6F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B6B15-EBEA-4D07-B11E-4B978147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FD545-21D4-4DCC-B93A-3F0426DE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EFF36-5E70-44D0-9188-B282DD7C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6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A04D-751E-445F-8227-03540018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41A12-4D64-49C7-B376-E9EA8394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E3C7-68F4-4AB9-A51C-30731188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AEC73-CC8F-495B-91F6-5CD36481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3D265-6BDC-42A6-B2BC-C908F7D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6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0CDD-9667-4739-9694-120AAC2A4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89E0-F840-4E01-9DD2-5BA84E40B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F8244-A12E-440D-B1F0-A776873BC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58E22-B9F2-4072-BE6E-F222303B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B2EBF-595A-4E33-AAF6-8D4C3BF8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4369D-965F-4884-AFFC-8F2BE380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6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8A39-8B2B-4FD4-83FE-431BA4C1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F957A-9287-4E32-86DE-46D1672DB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4F89C-8EB8-4BC9-8057-A9347D617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968FF-69F6-42A7-9665-4927A0CA6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2FEAE-355D-47CD-A582-798CE4B51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7A08D-0A68-482A-8F22-8BDCDD8C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66EE7-56DA-472B-B2A4-6B46D6DA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71AAE-E753-4958-A726-D0196B1B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16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0BE9-7ABD-4BA5-AC32-C071A47B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74D1E-8A75-4123-88E0-C8D3F9A0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E1396-475A-4B74-8F53-0EEAB70D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238DD-1782-44C4-A32F-4C405802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2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43B1A-2CC7-481F-B9FD-500E2386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F8FA-8082-4582-B4C0-F5A4933A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25476-E08F-4899-BF48-0D36E520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1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B608-79EA-4BDB-B1C1-66D2ABA39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05619-8BE6-4FD5-8D8C-FCB107FAE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FD079-DB61-4A55-BDBC-90A9794CD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62172-E412-44F6-A10F-B311860ED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A3CC0-E6BC-4D3C-BC5F-CCBAD6D0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AA1FF-105E-4342-8CA7-9DE82619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1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05EA-3A25-44D7-A4F9-FF1D27F6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E50D3-B84D-41CB-8E20-1C1E2A8B0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4614A-13CC-4FE8-9705-737403798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D6901-AC4C-4CCE-96D0-CB677866C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1296F-00CD-4421-8C94-46145289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A71A9-B05D-431B-9B86-46A1B0ED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5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E19D-DCE8-4DFF-AB31-E603EEDF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647DE-C34E-4E33-BB32-A39447F80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42BAB-6922-4F61-83A6-C5AA27B4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D9B3D-F79B-4F5B-82BC-B7AC6E1C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A5E1A-2F09-4B73-BA09-6A3BFAD5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35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835A5-0EEA-4F98-8D85-A5627F2CB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82FC8-8A83-436A-92E5-8FDB04105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30635-D49C-4975-ACE4-82BD2902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4CBEE-7E8A-4F80-BD2D-2E3D7505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4402C-0763-4181-A0A7-3F81AF11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0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A498F5-F30F-45DF-9AFD-3995301D9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88446-B4A2-49F1-AD1A-A6C0F398E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05872-7EE2-45A3-9A8E-DD692B4AD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343D0-3BD1-4639-AAA0-EEAA9510EF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AE6D6-D33F-429A-BBD3-6A6C5E315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80727-08AF-4B2E-BB12-AC0CFE830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6CEDC-4C69-438A-BC4E-2B5EDFE7A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93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B85C0B-BE45-4693-8730-E23D24F7B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2B5B99D-5243-458D-AB5D-DE53A9296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48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727A7-329F-4C51-A0F7-1D492907DC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72"/>
          <a:stretch/>
        </p:blipFill>
        <p:spPr>
          <a:xfrm>
            <a:off x="5824330" y="1"/>
            <a:ext cx="6367670" cy="68579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7142E3-AC67-446F-B4F7-DCC1DACF98D3}"/>
              </a:ext>
            </a:extLst>
          </p:cNvPr>
          <p:cNvSpPr/>
          <p:nvPr/>
        </p:nvSpPr>
        <p:spPr>
          <a:xfrm>
            <a:off x="1372268" y="3284307"/>
            <a:ext cx="4982819" cy="64935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B0F0E-1740-428C-A728-F13045ABB4B3}"/>
              </a:ext>
            </a:extLst>
          </p:cNvPr>
          <p:cNvSpPr txBox="1"/>
          <p:nvPr/>
        </p:nvSpPr>
        <p:spPr>
          <a:xfrm>
            <a:off x="1735403" y="3378152"/>
            <a:ext cx="4432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Mengapa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50" charset="0"/>
              </a:rPr>
              <a:t> Saya Kristen #10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4071D-6BEB-4C48-A902-B6627BDE6EE8}"/>
              </a:ext>
            </a:extLst>
          </p:cNvPr>
          <p:cNvSpPr txBox="1"/>
          <p:nvPr/>
        </p:nvSpPr>
        <p:spPr>
          <a:xfrm>
            <a:off x="1253000" y="4247995"/>
            <a:ext cx="9998096" cy="92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DWI HAKIKAT </a:t>
            </a:r>
            <a:r>
              <a:rPr lang="en-US" sz="5400" dirty="0">
                <a:solidFill>
                  <a:srgbClr val="C00000"/>
                </a:solidFill>
                <a:latin typeface="Montserrat ExtraBold" panose="00000900000000000000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YESUS</a:t>
            </a:r>
            <a:endParaRPr lang="en-US" sz="8800" dirty="0">
              <a:solidFill>
                <a:srgbClr val="C00000"/>
              </a:solidFill>
              <a:effectLst/>
              <a:latin typeface="Montserrat ExtraBold" panose="00000900000000000000" pitchFamily="50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7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303C0D-3D6C-4F7D-9989-4CCB32F21D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2E0F3-1C64-4890-B21C-E526ACC1DC7C}"/>
              </a:ext>
            </a:extLst>
          </p:cNvPr>
          <p:cNvSpPr txBox="1"/>
          <p:nvPr/>
        </p:nvSpPr>
        <p:spPr>
          <a:xfrm>
            <a:off x="1570383" y="3443936"/>
            <a:ext cx="94951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2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Injil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dijanjikan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sebelumnya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dengan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perantaraan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nabi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nabi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dalam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kitab-kitab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suci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3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tentang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>
                <a:solidFill>
                  <a:srgbClr val="C00000"/>
                </a:solidFill>
                <a:latin typeface="Montserrat" panose="00000500000000000000" pitchFamily="50" charset="0"/>
              </a:rPr>
              <a:t>Anak-Nya,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1" i="0" strike="noStrike" baseline="0" dirty="0" err="1">
                <a:latin typeface="Montserrat" panose="00000500000000000000" pitchFamily="50" charset="0"/>
              </a:rPr>
              <a:t>menurut</a:t>
            </a:r>
            <a:r>
              <a:rPr lang="en-US" sz="2400" b="1" i="0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strike="noStrike" baseline="0" dirty="0" err="1">
                <a:latin typeface="Montserrat" panose="00000500000000000000" pitchFamily="50" charset="0"/>
              </a:rPr>
              <a:t>daging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diperanakkan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keturunan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Daud, </a:t>
            </a:r>
            <a:r>
              <a:rPr lang="en-US" sz="2400" b="0" i="0" u="none" strike="noStrike" baseline="30000" dirty="0">
                <a:latin typeface="Montserrat" panose="00000500000000000000" pitchFamily="50" charset="0"/>
              </a:rPr>
              <a:t>4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1" i="0" strike="noStrike" baseline="0" dirty="0" err="1">
                <a:latin typeface="Montserrat" panose="00000500000000000000" pitchFamily="50" charset="0"/>
              </a:rPr>
              <a:t>menurut</a:t>
            </a:r>
            <a:r>
              <a:rPr lang="en-US" sz="2400" b="1" i="0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strike="noStrike" baseline="0" dirty="0" err="1">
                <a:latin typeface="Montserrat" panose="00000500000000000000" pitchFamily="50" charset="0"/>
              </a:rPr>
              <a:t>Roh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kekudusan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dinyatakan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oleh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kebangkitan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dari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mati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bahwa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adalah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Anak Allah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berkuasa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Yesus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Kristus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Tuhan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 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DF618-772F-4447-9335-C35DD4DCD018}"/>
              </a:ext>
            </a:extLst>
          </p:cNvPr>
          <p:cNvSpPr txBox="1"/>
          <p:nvPr/>
        </p:nvSpPr>
        <p:spPr>
          <a:xfrm>
            <a:off x="1570383" y="2644624"/>
            <a:ext cx="35670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ROMA </a:t>
            </a:r>
            <a:r>
              <a:rPr lang="en-US" sz="4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1:2-4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AC34F-C665-4E6A-8F06-6AB64DFF9C73}"/>
              </a:ext>
            </a:extLst>
          </p:cNvPr>
          <p:cNvSpPr/>
          <p:nvPr/>
        </p:nvSpPr>
        <p:spPr>
          <a:xfrm>
            <a:off x="0" y="2855844"/>
            <a:ext cx="1457739" cy="4041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BEC7D36-67FD-42BD-94F0-979A066D5FAF}"/>
              </a:ext>
            </a:extLst>
          </p:cNvPr>
          <p:cNvSpPr/>
          <p:nvPr/>
        </p:nvSpPr>
        <p:spPr>
          <a:xfrm>
            <a:off x="11423374" y="6149009"/>
            <a:ext cx="503582" cy="503583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9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7A0434-8091-4D8B-B6A6-49B80C76A4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2E0F3-1C64-4890-B21C-E526ACC1DC7C}"/>
              </a:ext>
            </a:extLst>
          </p:cNvPr>
          <p:cNvSpPr txBox="1"/>
          <p:nvPr/>
        </p:nvSpPr>
        <p:spPr>
          <a:xfrm>
            <a:off x="1570383" y="3443936"/>
            <a:ext cx="91638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Firman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menjadi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manusia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diam di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antara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,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kita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telah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melihat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kemuliaan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-Nya,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yaitu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kemuliaan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yang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diberikan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-Nya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sebagai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 Anak Tunggal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Bapa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penuh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kasih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karunia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dan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kebenaran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DF618-772F-4447-9335-C35DD4DCD018}"/>
              </a:ext>
            </a:extLst>
          </p:cNvPr>
          <p:cNvSpPr txBox="1"/>
          <p:nvPr/>
        </p:nvSpPr>
        <p:spPr>
          <a:xfrm>
            <a:off x="1570383" y="2644624"/>
            <a:ext cx="43300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YOHANES </a:t>
            </a:r>
            <a:r>
              <a:rPr lang="en-US" sz="44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1:14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AC34F-C665-4E6A-8F06-6AB64DFF9C73}"/>
              </a:ext>
            </a:extLst>
          </p:cNvPr>
          <p:cNvSpPr/>
          <p:nvPr/>
        </p:nvSpPr>
        <p:spPr>
          <a:xfrm>
            <a:off x="0" y="2855844"/>
            <a:ext cx="1457739" cy="40419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BEC7D36-67FD-42BD-94F0-979A066D5FAF}"/>
              </a:ext>
            </a:extLst>
          </p:cNvPr>
          <p:cNvSpPr/>
          <p:nvPr/>
        </p:nvSpPr>
        <p:spPr>
          <a:xfrm>
            <a:off x="11423374" y="6149009"/>
            <a:ext cx="503582" cy="503583"/>
          </a:xfrm>
          <a:prstGeom prst="flowChartConnector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9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2422A-236B-4FD9-9DAC-1249E2C654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4325A26E-EAE1-482D-A2E2-CD8AB0BB7F82}"/>
              </a:ext>
            </a:extLst>
          </p:cNvPr>
          <p:cNvSpPr/>
          <p:nvPr/>
        </p:nvSpPr>
        <p:spPr>
          <a:xfrm>
            <a:off x="0" y="2425148"/>
            <a:ext cx="6096000" cy="861392"/>
          </a:xfrm>
          <a:prstGeom prst="flowChartManualInp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FC072-2664-43FA-BAFD-C7838F824F1C}"/>
              </a:ext>
            </a:extLst>
          </p:cNvPr>
          <p:cNvSpPr txBox="1"/>
          <p:nvPr/>
        </p:nvSpPr>
        <p:spPr>
          <a:xfrm>
            <a:off x="1523997" y="2620617"/>
            <a:ext cx="6096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chemeClr val="bg1"/>
                </a:solidFill>
                <a:effectLst/>
                <a:latin typeface="Montserrat ExtraBold" panose="00000900000000000000" pitchFamily="50" charset="0"/>
              </a:rPr>
              <a:t>Hilary of Poitiers</a:t>
            </a:r>
            <a:endParaRPr lang="en-US" sz="2000" b="0" i="0" dirty="0">
              <a:solidFill>
                <a:srgbClr val="272727"/>
              </a:solidFill>
              <a:effectLst/>
              <a:latin typeface="Montserrat" panose="00000500000000000000" pitchFamily="50" charset="0"/>
            </a:endParaRPr>
          </a:p>
          <a:p>
            <a:endParaRPr lang="en-US" sz="2000" dirty="0">
              <a:solidFill>
                <a:srgbClr val="272727"/>
              </a:solidFill>
              <a:latin typeface="Montserrat" panose="00000500000000000000" pitchFamily="50" charset="0"/>
            </a:endParaRPr>
          </a:p>
          <a:p>
            <a:endParaRPr lang="en-US" sz="2000" b="0" i="0" dirty="0">
              <a:solidFill>
                <a:srgbClr val="272727"/>
              </a:solidFill>
              <a:effectLst/>
              <a:latin typeface="Montserrat" panose="00000500000000000000" pitchFamily="50" charset="0"/>
            </a:endParaRPr>
          </a:p>
          <a:p>
            <a:r>
              <a:rPr lang="en-US" sz="2400" b="0" i="0" dirty="0">
                <a:solidFill>
                  <a:srgbClr val="272727"/>
                </a:solidFill>
                <a:effectLst/>
                <a:latin typeface="Montserrat" panose="00000500000000000000" pitchFamily="50" charset="0"/>
              </a:rPr>
              <a:t>“He did not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Montserrat" panose="00000500000000000000" pitchFamily="50" charset="0"/>
              </a:rPr>
              <a:t>lose</a:t>
            </a:r>
            <a:r>
              <a:rPr lang="en-US" sz="2400" b="0" i="0" dirty="0">
                <a:solidFill>
                  <a:srgbClr val="272727"/>
                </a:solidFill>
                <a:effectLst/>
                <a:latin typeface="Montserrat" panose="00000500000000000000" pitchFamily="50" charset="0"/>
              </a:rPr>
              <a:t> what He was, but began to be what He was not. He did not cease to possess His own nature, but </a:t>
            </a:r>
            <a:r>
              <a:rPr lang="en-US" sz="2400" b="1" i="0" dirty="0">
                <a:solidFill>
                  <a:srgbClr val="C00000"/>
                </a:solidFill>
                <a:effectLst/>
                <a:latin typeface="Montserrat" panose="00000500000000000000" pitchFamily="50" charset="0"/>
              </a:rPr>
              <a:t>received</a:t>
            </a:r>
            <a:r>
              <a:rPr lang="en-US" sz="2400" b="0" i="0" dirty="0">
                <a:solidFill>
                  <a:srgbClr val="272727"/>
                </a:solidFill>
                <a:effectLst/>
                <a:latin typeface="Montserrat" panose="00000500000000000000" pitchFamily="50" charset="0"/>
              </a:rPr>
              <a:t> what was ours.”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2D74AF-D8EB-4313-A5B5-49E9AACB3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553" y="1202423"/>
            <a:ext cx="4133446" cy="4877223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13041D0-EE09-4294-BA5D-0718231F4370}"/>
              </a:ext>
            </a:extLst>
          </p:cNvPr>
          <p:cNvSpPr/>
          <p:nvPr/>
        </p:nvSpPr>
        <p:spPr>
          <a:xfrm>
            <a:off x="7726018" y="5554423"/>
            <a:ext cx="874644" cy="9144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9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17A066-A1A9-4F80-BAB6-42CC67D74B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EB319-70F4-4C8D-8BE1-64345EF3E3C9}"/>
              </a:ext>
            </a:extLst>
          </p:cNvPr>
          <p:cNvSpPr/>
          <p:nvPr/>
        </p:nvSpPr>
        <p:spPr>
          <a:xfrm>
            <a:off x="742120" y="3961572"/>
            <a:ext cx="2994993" cy="28964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One-Stop-Shop definition: This is what the OSS is all about | hellotax">
            <a:extLst>
              <a:ext uri="{FF2B5EF4-FFF2-40B4-BE49-F238E27FC236}">
                <a16:creationId xmlns:a16="http://schemas.microsoft.com/office/drawing/2014/main" id="{4CC23670-193E-4166-AC25-EEE342E54C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9" r="36899" b="33772"/>
          <a:stretch/>
        </p:blipFill>
        <p:spPr bwMode="auto">
          <a:xfrm>
            <a:off x="742120" y="0"/>
            <a:ext cx="2994993" cy="396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0710E2-DAC8-4D37-9B6A-44657E40591C}"/>
              </a:ext>
            </a:extLst>
          </p:cNvPr>
          <p:cNvSpPr txBox="1"/>
          <p:nvPr/>
        </p:nvSpPr>
        <p:spPr>
          <a:xfrm>
            <a:off x="742120" y="4399722"/>
            <a:ext cx="29949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Montserrat ExtraBold" panose="00000900000000000000" pitchFamily="50" charset="0"/>
              </a:rPr>
              <a:t>D E F I</a:t>
            </a:r>
          </a:p>
          <a:p>
            <a:pPr algn="ctr"/>
            <a:r>
              <a:rPr lang="en-US" sz="6600" dirty="0">
                <a:solidFill>
                  <a:schemeClr val="bg1"/>
                </a:solidFill>
                <a:latin typeface="Montserrat ExtraBold" panose="00000900000000000000" pitchFamily="50" charset="0"/>
              </a:rPr>
              <a:t>N I S 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6E39F-ECAF-40F8-94CF-DE9591941A94}"/>
              </a:ext>
            </a:extLst>
          </p:cNvPr>
          <p:cNvSpPr txBox="1"/>
          <p:nvPr/>
        </p:nvSpPr>
        <p:spPr>
          <a:xfrm>
            <a:off x="4896678" y="2460284"/>
            <a:ext cx="61357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 ExtraBold" panose="00000900000000000000" pitchFamily="50" charset="0"/>
              </a:rPr>
              <a:t>SATU </a:t>
            </a:r>
            <a:r>
              <a:rPr lang="en-US" sz="3200" b="1" dirty="0">
                <a:solidFill>
                  <a:srgbClr val="C00000"/>
                </a:solidFill>
                <a:latin typeface="Montserrat ExtraBold" panose="00000900000000000000" pitchFamily="50" charset="0"/>
              </a:rPr>
              <a:t>PRIBADI</a:t>
            </a:r>
            <a:endParaRPr lang="en-US" sz="3200" b="1" dirty="0">
              <a:latin typeface="Montserrat ExtraBold" panose="00000900000000000000" pitchFamily="50" charset="0"/>
            </a:endParaRPr>
          </a:p>
          <a:p>
            <a:r>
              <a:rPr lang="en-US" sz="3200" dirty="0">
                <a:latin typeface="Montserrat ExtraBold" panose="00000900000000000000" pitchFamily="50" charset="0"/>
              </a:rPr>
              <a:t>DALAM DUA </a:t>
            </a:r>
            <a:r>
              <a:rPr lang="en-US" sz="32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HAKIKAT</a:t>
            </a:r>
            <a:endParaRPr lang="en-US" sz="3200" dirty="0">
              <a:latin typeface="Montserrat ExtraBold" panose="000009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E30AC-37C4-4201-BAE8-48FBCE4EF8B2}"/>
              </a:ext>
            </a:extLst>
          </p:cNvPr>
          <p:cNvSpPr txBox="1"/>
          <p:nvPr/>
        </p:nvSpPr>
        <p:spPr>
          <a:xfrm>
            <a:off x="4896678" y="3975652"/>
            <a:ext cx="59733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Pribadi</a:t>
            </a:r>
            <a:r>
              <a:rPr lang="en-US" sz="2400" dirty="0">
                <a:latin typeface="Montserrat" panose="00000500000000000000" pitchFamily="50" charset="0"/>
              </a:rPr>
              <a:t> Anak (the Son) </a:t>
            </a:r>
            <a:r>
              <a:rPr lang="en-US" sz="2400" dirty="0" err="1">
                <a:latin typeface="Montserrat" panose="00000500000000000000" pitchFamily="50" charset="0"/>
              </a:rPr>
              <a:t>adalah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subjek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dari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dua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hakikat</a:t>
            </a:r>
            <a:r>
              <a:rPr lang="en-US" sz="2400" dirty="0">
                <a:latin typeface="Montserrat" panose="00000500000000000000" pitchFamily="50" charset="0"/>
              </a:rPr>
              <a:t>, yang </a:t>
            </a:r>
            <a:r>
              <a:rPr lang="en-US" sz="2400" dirty="0" err="1">
                <a:latin typeface="Montserrat" panose="00000500000000000000" pitchFamily="50" charset="0"/>
              </a:rPr>
              <a:t>berada</a:t>
            </a:r>
            <a:r>
              <a:rPr lang="en-US" sz="2400" dirty="0">
                <a:latin typeface="Montserrat" panose="00000500000000000000" pitchFamily="50" charset="0"/>
              </a:rPr>
              <a:t> di </a:t>
            </a:r>
            <a:r>
              <a:rPr lang="en-US" sz="2400" dirty="0" err="1">
                <a:latin typeface="Montserrat" panose="00000500000000000000" pitchFamily="50" charset="0"/>
              </a:rPr>
              <a:t>dalam</a:t>
            </a:r>
            <a:r>
              <a:rPr lang="en-US" sz="2400" dirty="0">
                <a:latin typeface="Montserrat" panose="00000500000000000000" pitchFamily="50" charset="0"/>
              </a:rPr>
              <a:t> dan </a:t>
            </a:r>
            <a:r>
              <a:rPr lang="en-US" sz="2400" b="1" u="sng" dirty="0" err="1">
                <a:latin typeface="Montserrat" panose="00000500000000000000" pitchFamily="50" charset="0"/>
              </a:rPr>
              <a:t>bertindak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melalui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dua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hakikat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tersebut</a:t>
            </a:r>
            <a:r>
              <a:rPr lang="en-US" sz="2400" dirty="0">
                <a:latin typeface="Montserrat" panose="000005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105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DC075B-BA8E-4836-95F6-6A8EF7628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enteng ABADI - Maridional - Abadi Genteng">
            <a:extLst>
              <a:ext uri="{FF2B5EF4-FFF2-40B4-BE49-F238E27FC236}">
                <a16:creationId xmlns:a16="http://schemas.microsoft.com/office/drawing/2014/main" id="{14EE42F6-AEC3-4A14-9755-284B64DF9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46" t="13715" r="24950" b="12484"/>
          <a:stretch/>
        </p:blipFill>
        <p:spPr bwMode="auto">
          <a:xfrm>
            <a:off x="9318528" y="719093"/>
            <a:ext cx="1127465" cy="159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elengan dari tanah liat kuat tidak mudah pecah. | Lazada Indonesia">
            <a:extLst>
              <a:ext uri="{FF2B5EF4-FFF2-40B4-BE49-F238E27FC236}">
                <a16:creationId xmlns:a16="http://schemas.microsoft.com/office/drawing/2014/main" id="{AF0B5E4B-2D9B-46EA-8FDD-219BE24840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600" b="90000" l="9986" r="89870">
                        <a14:foregroundMark x1="50217" y1="5600" x2="51809" y2="13000"/>
                        <a14:foregroundMark x1="47757" y1="47600" x2="48046" y2="54200"/>
                        <a14:backgroundMark x1="69320" y1="67000" x2="65557" y2="76400"/>
                        <a14:backgroundMark x1="65557" y1="76400" x2="50941" y2="87600"/>
                        <a14:backgroundMark x1="44428" y1="87000" x2="50796" y2="87000"/>
                        <a14:backgroundMark x1="39508" y1="84600" x2="45586" y2="86200"/>
                        <a14:backgroundMark x1="35890" y1="82000" x2="38929" y2="84600"/>
                        <a14:backgroundMark x1="58611" y1="11200" x2="59045" y2="8000"/>
                        <a14:backgroundMark x1="40666" y1="9800" x2="41389" y2="7000"/>
                        <a14:backgroundMark x1="30391" y1="74200" x2="30391" y2="74200"/>
                        <a14:backgroundMark x1="57742" y1="9400" x2="58466" y2="6600"/>
                        <a14:backgroundMark x1="29667" y1="72200" x2="29667" y2="72200"/>
                        <a14:backgroundMark x1="67294" y1="34800" x2="67294" y2="34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22" r="27248" b="13200"/>
          <a:stretch/>
        </p:blipFill>
        <p:spPr bwMode="auto">
          <a:xfrm>
            <a:off x="9260380" y="2571145"/>
            <a:ext cx="1243763" cy="158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Jual Kendi wadah Tempat Air Tanah Liat Tradisional Vas Bunga Kerajinan |  Shopee Indonesia">
            <a:extLst>
              <a:ext uri="{FF2B5EF4-FFF2-40B4-BE49-F238E27FC236}">
                <a16:creationId xmlns:a16="http://schemas.microsoft.com/office/drawing/2014/main" id="{33CC66F0-49E1-4F54-B4C2-EB7A0D3B9A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06" b="91824" l="9906" r="89937">
                        <a14:foregroundMark x1="51258" y1="91824" x2="58491" y2="81918"/>
                        <a14:backgroundMark x1="58805" y1="94497" x2="58805" y2="944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484" t="11116" r="20468" b="4006"/>
          <a:stretch/>
        </p:blipFill>
        <p:spPr bwMode="auto">
          <a:xfrm>
            <a:off x="9268607" y="4386470"/>
            <a:ext cx="1235536" cy="197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2DC545-5C07-4211-8DC0-4CE3CCFC0A00}"/>
              </a:ext>
            </a:extLst>
          </p:cNvPr>
          <p:cNvSpPr/>
          <p:nvPr/>
        </p:nvSpPr>
        <p:spPr>
          <a:xfrm>
            <a:off x="1298714" y="1861114"/>
            <a:ext cx="6222287" cy="18309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8D688-BDC1-421B-A5A8-E6A46ADBE3E3}"/>
              </a:ext>
            </a:extLst>
          </p:cNvPr>
          <p:cNvSpPr txBox="1"/>
          <p:nvPr/>
        </p:nvSpPr>
        <p:spPr>
          <a:xfrm>
            <a:off x="1462596" y="1937699"/>
            <a:ext cx="58878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Montserrat ExtraBold" panose="00000900000000000000" pitchFamily="50" charset="0"/>
              </a:rPr>
              <a:t>HAKIKAT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Sifat-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sifat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solidFill>
                  <a:schemeClr val="bg1"/>
                </a:solidFill>
                <a:latin typeface="Montserrat" panose="00000500000000000000" pitchFamily="50" charset="0"/>
              </a:rPr>
              <a:t>dasar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khas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dimiliki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oleh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semua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anggota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dalam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kategori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/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hakikat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tersebut</a:t>
            </a:r>
            <a:endParaRPr lang="en-US" sz="24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5FF79-D7CA-4989-92DE-EFC8DBB889F7}"/>
              </a:ext>
            </a:extLst>
          </p:cNvPr>
          <p:cNvSpPr/>
          <p:nvPr/>
        </p:nvSpPr>
        <p:spPr>
          <a:xfrm>
            <a:off x="1305342" y="3908578"/>
            <a:ext cx="6215659" cy="1976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A1B81-EC9B-4A30-A0C9-0B12F9869192}"/>
              </a:ext>
            </a:extLst>
          </p:cNvPr>
          <p:cNvSpPr txBox="1"/>
          <p:nvPr/>
        </p:nvSpPr>
        <p:spPr>
          <a:xfrm>
            <a:off x="1469223" y="3985163"/>
            <a:ext cx="61032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Montserrat ExtraBold" panose="00000900000000000000" pitchFamily="50" charset="0"/>
              </a:rPr>
              <a:t>PRIBADI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Sifat-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sifat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lain yang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membedakan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b="1" u="sng" dirty="0">
                <a:solidFill>
                  <a:schemeClr val="bg1"/>
                </a:solidFill>
                <a:latin typeface="Montserrat" panose="00000500000000000000" pitchFamily="50" charset="0"/>
              </a:rPr>
              <a:t>masing-masing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anggota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dalam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kategori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/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hakikat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solidFill>
                  <a:schemeClr val="bg1"/>
                </a:solidFill>
                <a:latin typeface="Montserrat" panose="00000500000000000000" pitchFamily="50" charset="0"/>
              </a:rPr>
              <a:t>sama</a:t>
            </a:r>
            <a:endParaRPr lang="en-US" sz="24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5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E526B3-99BE-44DB-8500-7B949860AF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14326-2C35-4AD8-A36D-76C5B6F8ED4C}"/>
              </a:ext>
            </a:extLst>
          </p:cNvPr>
          <p:cNvSpPr txBox="1"/>
          <p:nvPr/>
        </p:nvSpPr>
        <p:spPr>
          <a:xfrm>
            <a:off x="688369" y="1017456"/>
            <a:ext cx="1078786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Montserrat" panose="00000500000000000000" pitchFamily="50" charset="0"/>
              </a:rPr>
              <a:t>Anak yang </a:t>
            </a:r>
            <a:r>
              <a:rPr lang="en-US" sz="2400" b="1" i="0" u="sng" dirty="0" err="1">
                <a:effectLst/>
                <a:latin typeface="Montserrat" panose="00000500000000000000" pitchFamily="50" charset="0"/>
              </a:rPr>
              <a:t>satu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dan yang </a:t>
            </a:r>
            <a:r>
              <a:rPr lang="en-US" sz="2400" b="1" i="0" u="sng" dirty="0" err="1">
                <a:effectLst/>
                <a:latin typeface="Montserrat" panose="00000500000000000000" pitchFamily="50" charset="0"/>
              </a:rPr>
              <a:t>sama</a:t>
            </a:r>
            <a:r>
              <a:rPr lang="en-US" sz="2400" b="1" i="0" u="sng" dirty="0">
                <a:effectLst/>
                <a:latin typeface="Montserrat" panose="00000500000000000000" pitchFamily="50" charset="0"/>
              </a:rPr>
              <a:t>,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Tuhan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kita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Yesus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Kristus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sempurna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dalam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keilahian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dan juga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sempurna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dalam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kemanusiaan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sungguh-sungguh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Allah dan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sungguh-sungguh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manusia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dengan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jiwa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yang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bisa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berpikir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dan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tubuh</a:t>
            </a:r>
            <a:r>
              <a:rPr lang="en-US" sz="2400" dirty="0">
                <a:latin typeface="Montserrat" panose="00000500000000000000" pitchFamily="50" charset="0"/>
              </a:rPr>
              <a:t>…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400" b="0" i="0" dirty="0" err="1">
                <a:effectLst/>
                <a:latin typeface="Montserrat" panose="00000500000000000000" pitchFamily="50" charset="0"/>
              </a:rPr>
              <a:t>mempunyai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keberadaan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dalam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dua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hakikat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tanpa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percampuran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tanpa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perubahan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tanpa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perpecahan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tanpa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perpisahan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;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perbedaan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dari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dua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hakikat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itu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sama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sekali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tidak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1" i="0" u="sng" dirty="0" err="1">
                <a:effectLst/>
                <a:latin typeface="Montserrat" panose="00000500000000000000" pitchFamily="50" charset="0"/>
              </a:rPr>
              <a:t>dihancurkan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oleh </a:t>
            </a:r>
            <a:r>
              <a:rPr lang="en-US" sz="2400" b="1" i="0" u="sng" dirty="0" err="1">
                <a:effectLst/>
                <a:latin typeface="Montserrat" panose="00000500000000000000" pitchFamily="50" charset="0"/>
              </a:rPr>
              <a:t>persatuan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mereka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tetapi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sifat-sifat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dasar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yang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khas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dari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setiap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hakikat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dipertahankan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dan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bersatu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menjadi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satu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pribadi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dan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satu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keberadaan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/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makhluk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tidak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berpisah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atau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terbagi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menjadi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dua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pribadi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tetapi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Anak yang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satu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dan yang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sama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dan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satu-satunya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yang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diperanakkan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Allah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Firman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,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Tuhan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Yesus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50" charset="0"/>
              </a:rPr>
              <a:t>Kristus</a:t>
            </a:r>
            <a:r>
              <a:rPr lang="en-US" sz="2400" b="0" i="0" dirty="0">
                <a:effectLst/>
                <a:latin typeface="Montserrat" panose="00000500000000000000" pitchFamily="50" charset="0"/>
              </a:rPr>
              <a:t>;</a:t>
            </a:r>
            <a:endParaRPr lang="en-US" sz="2400" dirty="0">
              <a:latin typeface="Montserrat" panose="00000500000000000000" pitchFamily="50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A8134D-3652-4762-B137-C5A7F5C85016}"/>
              </a:ext>
            </a:extLst>
          </p:cNvPr>
          <p:cNvSpPr/>
          <p:nvPr/>
        </p:nvSpPr>
        <p:spPr>
          <a:xfrm>
            <a:off x="1205948" y="345731"/>
            <a:ext cx="8216348" cy="5830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0424A-26E8-4E9E-973A-2FA6FEDA3746}"/>
              </a:ext>
            </a:extLst>
          </p:cNvPr>
          <p:cNvSpPr txBox="1"/>
          <p:nvPr/>
        </p:nvSpPr>
        <p:spPr>
          <a:xfrm>
            <a:off x="1446717" y="406447"/>
            <a:ext cx="773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Montserrat ExtraBold" panose="00000900000000000000" pitchFamily="50" charset="0"/>
              </a:rPr>
              <a:t>Pengakuan</a:t>
            </a:r>
            <a:r>
              <a:rPr lang="en-US" sz="2400" dirty="0">
                <a:solidFill>
                  <a:schemeClr val="bg1"/>
                </a:solidFill>
                <a:latin typeface="Montserrat ExtraBold" panose="00000900000000000000" pitchFamily="50" charset="0"/>
              </a:rPr>
              <a:t> Iman </a:t>
            </a:r>
            <a:r>
              <a:rPr lang="en-US" sz="2400" dirty="0" err="1">
                <a:solidFill>
                  <a:schemeClr val="bg1"/>
                </a:solidFill>
                <a:latin typeface="Montserrat ExtraBold" panose="00000900000000000000" pitchFamily="50" charset="0"/>
              </a:rPr>
              <a:t>Kalsedon</a:t>
            </a:r>
            <a:r>
              <a:rPr lang="en-US" sz="2400" dirty="0">
                <a:solidFill>
                  <a:schemeClr val="bg1"/>
                </a:solidFill>
                <a:latin typeface="Montserrat ExtraBold" panose="00000900000000000000" pitchFamily="50" charset="0"/>
              </a:rPr>
              <a:t> (Chalcedon Creed)</a:t>
            </a:r>
          </a:p>
        </p:txBody>
      </p:sp>
    </p:spTree>
    <p:extLst>
      <p:ext uri="{BB962C8B-B14F-4D97-AF65-F5344CB8AC3E}">
        <p14:creationId xmlns:p14="http://schemas.microsoft.com/office/powerpoint/2010/main" val="278136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A2AB1-C2B9-4585-B400-681EF5B1F8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5644C1-0AAD-472F-BBF7-620FD84F91E8}"/>
              </a:ext>
            </a:extLst>
          </p:cNvPr>
          <p:cNvSpPr/>
          <p:nvPr/>
        </p:nvSpPr>
        <p:spPr>
          <a:xfrm>
            <a:off x="9250017" y="-1"/>
            <a:ext cx="2438400" cy="42009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170,000+ Wondering Pictures">
            <a:extLst>
              <a:ext uri="{FF2B5EF4-FFF2-40B4-BE49-F238E27FC236}">
                <a16:creationId xmlns:a16="http://schemas.microsoft.com/office/drawing/2014/main" id="{4E1B3E2C-4314-46F9-9BB2-972B013A6D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86" b="99616" l="9585" r="89617">
                        <a14:foregroundMark x1="67572" y1="7486" x2="63898" y2="8253"/>
                        <a14:foregroundMark x1="62780" y1="28407" x2="60703" y2="33397"/>
                        <a14:foregroundMark x1="64217" y1="41459" x2="78914" y2="53359"/>
                        <a14:foregroundMark x1="81629" y1="58541" x2="81629" y2="66027"/>
                        <a14:foregroundMark x1="75719" y1="94242" x2="77476" y2="90787"/>
                        <a14:foregroundMark x1="70607" y1="98464" x2="40415" y2="99232"/>
                        <a14:foregroundMark x1="25240" y1="98464" x2="25240" y2="99616"/>
                        <a14:backgroundMark x1="25719" y1="65067" x2="26358" y2="56238"/>
                        <a14:backgroundMark x1="26358" y1="56238" x2="33866" y2="43186"/>
                        <a14:backgroundMark x1="35783" y1="83109" x2="35783" y2="83109"/>
                        <a14:backgroundMark x1="36102" y1="84453" x2="35463" y2="90787"/>
                        <a14:backgroundMark x1="77316" y1="45873" x2="83227" y2="422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66" t="5875" r="15056"/>
          <a:stretch/>
        </p:blipFill>
        <p:spPr bwMode="auto">
          <a:xfrm>
            <a:off x="7911548" y="1550503"/>
            <a:ext cx="4280452" cy="530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A18D1-0C97-4B0F-9788-CB1DBC8D55A1}"/>
              </a:ext>
            </a:extLst>
          </p:cNvPr>
          <p:cNvSpPr txBox="1"/>
          <p:nvPr/>
        </p:nvSpPr>
        <p:spPr>
          <a:xfrm>
            <a:off x="1903039" y="1351508"/>
            <a:ext cx="475482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CUR</a:t>
            </a:r>
          </a:p>
          <a:p>
            <a:pPr algn="ctr"/>
            <a:r>
              <a:rPr lang="en-US" sz="8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DEUS</a:t>
            </a:r>
          </a:p>
          <a:p>
            <a:pPr algn="ctr"/>
            <a:r>
              <a:rPr lang="en-US" sz="8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HOMO?</a:t>
            </a:r>
          </a:p>
        </p:txBody>
      </p:sp>
    </p:spTree>
    <p:extLst>
      <p:ext uri="{BB962C8B-B14F-4D97-AF65-F5344CB8AC3E}">
        <p14:creationId xmlns:p14="http://schemas.microsoft.com/office/powerpoint/2010/main" val="1775278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50939" y="5908581"/>
            <a:ext cx="4781265" cy="818866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060295" y="6008946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1071292" y="1315692"/>
            <a:ext cx="60562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Keadilan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Allah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menuntut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hakikat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insani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yang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sama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telah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berdosa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memberi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tebusan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1071292" y="3238957"/>
            <a:ext cx="64066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anose="00000500000000000000" pitchFamily="50" charset="0"/>
              </a:rPr>
              <a:t>Darah </a:t>
            </a:r>
            <a:r>
              <a:rPr lang="en-US" sz="2400" dirty="0" err="1">
                <a:latin typeface="Montserrat" panose="00000500000000000000" pitchFamily="50" charset="0"/>
              </a:rPr>
              <a:t>binatang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mungkin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menghapus</a:t>
            </a:r>
            <a:r>
              <a:rPr lang="en-US" sz="2400" dirty="0">
                <a:latin typeface="Montserrat" panose="00000500000000000000" pitchFamily="50" charset="0"/>
              </a:rPr>
              <a:t> dosa </a:t>
            </a:r>
            <a:r>
              <a:rPr lang="en-US" sz="2400" dirty="0" err="1">
                <a:latin typeface="Montserrat" panose="00000500000000000000" pitchFamily="50" charset="0"/>
              </a:rPr>
              <a:t>atau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menebus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manusia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Ibr</a:t>
            </a:r>
            <a:r>
              <a:rPr lang="en-US" sz="2400" dirty="0">
                <a:latin typeface="Montserrat" panose="00000500000000000000" pitchFamily="50" charset="0"/>
              </a:rPr>
              <a:t>. 10:4). Gregorius Nazianzus: “what is not taken up (assumed) is not </a:t>
            </a:r>
            <a:r>
              <a:rPr lang="en-US" sz="2400" b="1" u="sng" dirty="0">
                <a:latin typeface="Montserrat" panose="00000500000000000000" pitchFamily="50" charset="0"/>
              </a:rPr>
              <a:t>healed</a:t>
            </a:r>
            <a:r>
              <a:rPr lang="en-US" sz="2400" dirty="0">
                <a:latin typeface="Montserrat" panose="00000500000000000000" pitchFamily="50" charset="0"/>
              </a:rPr>
              <a:t>” (juga Athanasius).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</a:rPr>
              <a:t>Sebab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mungkin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darah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lembu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jantan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atau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darah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domba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jantan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menghapuskan</a:t>
            </a:r>
            <a:r>
              <a:rPr lang="en-US" sz="2400" dirty="0">
                <a:latin typeface="Montserrat" panose="00000500000000000000" pitchFamily="50" charset="0"/>
              </a:rPr>
              <a:t> dosa. (</a:t>
            </a:r>
            <a:r>
              <a:rPr lang="en-US" sz="2400" dirty="0" err="1">
                <a:latin typeface="Montserrat" panose="00000500000000000000" pitchFamily="50" charset="0"/>
              </a:rPr>
              <a:t>Ibrani</a:t>
            </a:r>
            <a:r>
              <a:rPr lang="en-US" sz="2400" dirty="0">
                <a:latin typeface="Montserrat" panose="00000500000000000000" pitchFamily="50" charset="0"/>
              </a:rPr>
              <a:t> 10:4)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1224539" y="404027"/>
            <a:ext cx="726693" cy="6361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730048-C6C9-425D-AF83-0246FA9AD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13" y="1970224"/>
            <a:ext cx="3664014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5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50939" y="5908581"/>
            <a:ext cx="4781265" cy="818866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060295" y="6008946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1344248" y="2594494"/>
            <a:ext cx="60562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Penebusan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mencakup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kematian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sedangkan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Allah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tidak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bisa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mati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1344248" y="4708252"/>
            <a:ext cx="61337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Tanpa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penumpahan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darah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mungkin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penebusan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Ibr</a:t>
            </a:r>
            <a:r>
              <a:rPr lang="en-US" sz="2400" dirty="0">
                <a:latin typeface="Montserrat" panose="00000500000000000000" pitchFamily="50" charset="0"/>
              </a:rPr>
              <a:t>. 9:22), </a:t>
            </a:r>
            <a:r>
              <a:rPr lang="en-US" sz="2400" dirty="0" err="1">
                <a:latin typeface="Montserrat" panose="00000500000000000000" pitchFamily="50" charset="0"/>
              </a:rPr>
              <a:t>sedangkan</a:t>
            </a:r>
            <a:r>
              <a:rPr lang="en-US" sz="2400" dirty="0">
                <a:latin typeface="Montserrat" panose="00000500000000000000" pitchFamily="50" charset="0"/>
              </a:rPr>
              <a:t> Allah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takluk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kepada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maut</a:t>
            </a:r>
            <a:r>
              <a:rPr lang="en-US" sz="2400" dirty="0">
                <a:latin typeface="Montserrat" panose="00000500000000000000" pitchFamily="50" charset="0"/>
              </a:rPr>
              <a:t> (1Tim. 6:16).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1497495" y="1682829"/>
            <a:ext cx="726693" cy="6361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B887AF-3827-4C6D-8D9A-E7E6EA4C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13" y="1970224"/>
            <a:ext cx="3664014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0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A839-3AE9-20A8-277B-531F21E0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90067D-8F25-520B-282E-BB740EE053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4FFE49E0-8FDF-3E3C-5D3B-6A171D574D34}"/>
              </a:ext>
            </a:extLst>
          </p:cNvPr>
          <p:cNvSpPr/>
          <p:nvPr/>
        </p:nvSpPr>
        <p:spPr>
          <a:xfrm>
            <a:off x="7750939" y="5908581"/>
            <a:ext cx="4781265" cy="818866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6D9F9-047D-5E57-58EE-3729EA5C1996}"/>
              </a:ext>
            </a:extLst>
          </p:cNvPr>
          <p:cNvSpPr txBox="1"/>
          <p:nvPr/>
        </p:nvSpPr>
        <p:spPr>
          <a:xfrm>
            <a:off x="8060295" y="6008946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93A88-BD00-5376-2DBA-A9185C7AD45F}"/>
              </a:ext>
            </a:extLst>
          </p:cNvPr>
          <p:cNvSpPr txBox="1"/>
          <p:nvPr/>
        </p:nvSpPr>
        <p:spPr>
          <a:xfrm>
            <a:off x="1004439" y="1384266"/>
            <a:ext cx="61337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anose="00000500000000000000" pitchFamily="50" charset="0"/>
              </a:rPr>
              <a:t>Dan </a:t>
            </a:r>
            <a:r>
              <a:rPr lang="en-US" sz="2400" dirty="0" err="1">
                <a:latin typeface="Montserrat" panose="00000500000000000000" pitchFamily="50" charset="0"/>
              </a:rPr>
              <a:t>hampir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segala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sesuatu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disucikan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menurut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hukum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Taurat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dengan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darah</a:t>
            </a:r>
            <a:r>
              <a:rPr lang="en-US" sz="2400" dirty="0">
                <a:latin typeface="Montserrat" panose="00000500000000000000" pitchFamily="50" charset="0"/>
              </a:rPr>
              <a:t>, dan </a:t>
            </a:r>
            <a:r>
              <a:rPr lang="en-US" sz="2400" dirty="0" err="1">
                <a:latin typeface="Montserrat" panose="00000500000000000000" pitchFamily="50" charset="0"/>
              </a:rPr>
              <a:t>tanpa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penumpahan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darah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pengampunan</a:t>
            </a:r>
            <a:r>
              <a:rPr lang="en-US" sz="2400" dirty="0">
                <a:latin typeface="Montserrat" panose="00000500000000000000" pitchFamily="50" charset="0"/>
              </a:rPr>
              <a:t>. (</a:t>
            </a:r>
            <a:r>
              <a:rPr lang="en-US" sz="2400" dirty="0" err="1">
                <a:latin typeface="Montserrat" panose="00000500000000000000" pitchFamily="50" charset="0"/>
              </a:rPr>
              <a:t>Ibrani</a:t>
            </a:r>
            <a:r>
              <a:rPr lang="en-US" sz="2400" dirty="0">
                <a:latin typeface="Montserrat" panose="00000500000000000000" pitchFamily="50" charset="0"/>
              </a:rPr>
              <a:t> 9:22)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</a:rPr>
              <a:t>Dialah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satu-satunya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takluk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kepada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maut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bersemayam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dalam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terang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tak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terhampiri</a:t>
            </a:r>
            <a:r>
              <a:rPr lang="en-US" sz="2400" dirty="0">
                <a:latin typeface="Montserrat" panose="00000500000000000000" pitchFamily="50" charset="0"/>
              </a:rPr>
              <a:t>. </a:t>
            </a:r>
            <a:r>
              <a:rPr lang="en-US" sz="2400" dirty="0" err="1">
                <a:latin typeface="Montserrat" panose="00000500000000000000" pitchFamily="50" charset="0"/>
              </a:rPr>
              <a:t>Seorang</a:t>
            </a:r>
            <a:r>
              <a:rPr lang="en-US" sz="2400" dirty="0">
                <a:latin typeface="Montserrat" panose="00000500000000000000" pitchFamily="50" charset="0"/>
              </a:rPr>
              <a:t> pun </a:t>
            </a:r>
            <a:r>
              <a:rPr lang="en-US" sz="2400" dirty="0" err="1">
                <a:latin typeface="Montserrat" panose="00000500000000000000" pitchFamily="50" charset="0"/>
              </a:rPr>
              <a:t>tak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pernah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melihat</a:t>
            </a:r>
            <a:r>
              <a:rPr lang="en-US" sz="2400" dirty="0">
                <a:latin typeface="Montserrat" panose="00000500000000000000" pitchFamily="50" charset="0"/>
              </a:rPr>
              <a:t> Dia dan </a:t>
            </a:r>
            <a:r>
              <a:rPr lang="en-US" sz="2400" dirty="0" err="1">
                <a:latin typeface="Montserrat" panose="00000500000000000000" pitchFamily="50" charset="0"/>
              </a:rPr>
              <a:t>memang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manusia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dapat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melihat</a:t>
            </a:r>
            <a:r>
              <a:rPr lang="en-US" sz="2400" dirty="0">
                <a:latin typeface="Montserrat" panose="00000500000000000000" pitchFamily="50" charset="0"/>
              </a:rPr>
              <a:t> Dia. Bagi-Nyalah </a:t>
            </a:r>
            <a:r>
              <a:rPr lang="en-US" sz="2400" dirty="0" err="1">
                <a:latin typeface="Montserrat" panose="00000500000000000000" pitchFamily="50" charset="0"/>
              </a:rPr>
              <a:t>hormat</a:t>
            </a:r>
            <a:r>
              <a:rPr lang="en-US" sz="2400" dirty="0">
                <a:latin typeface="Montserrat" panose="00000500000000000000" pitchFamily="50" charset="0"/>
              </a:rPr>
              <a:t> dan </a:t>
            </a:r>
            <a:r>
              <a:rPr lang="en-US" sz="2400" dirty="0" err="1">
                <a:latin typeface="Montserrat" panose="00000500000000000000" pitchFamily="50" charset="0"/>
              </a:rPr>
              <a:t>kuasa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kekal</a:t>
            </a:r>
            <a:r>
              <a:rPr lang="en-US" sz="2400" dirty="0">
                <a:latin typeface="Montserrat" panose="00000500000000000000" pitchFamily="50" charset="0"/>
              </a:rPr>
              <a:t>! Amin. (1 </a:t>
            </a:r>
            <a:r>
              <a:rPr lang="en-US" sz="2400" dirty="0" err="1">
                <a:latin typeface="Montserrat" panose="00000500000000000000" pitchFamily="50" charset="0"/>
              </a:rPr>
              <a:t>Timotius</a:t>
            </a:r>
            <a:r>
              <a:rPr lang="en-US" sz="2400" dirty="0">
                <a:latin typeface="Montserrat" panose="00000500000000000000" pitchFamily="50" charset="0"/>
              </a:rPr>
              <a:t> 6:16).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A0EB40-07B4-80B5-5F24-949AEF97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13" y="1970224"/>
            <a:ext cx="3664014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78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50939" y="5908581"/>
            <a:ext cx="4781265" cy="818866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060295" y="6008946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1344248" y="2769506"/>
            <a:ext cx="60562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Yesus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dapat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berempati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dengan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berdosa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1344248" y="4530321"/>
            <a:ext cx="7090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Kristus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menjadi</a:t>
            </a:r>
            <a:r>
              <a:rPr lang="en-US" sz="2400" dirty="0">
                <a:latin typeface="Montserrat" panose="00000500000000000000" pitchFamily="50" charset="0"/>
              </a:rPr>
              <a:t> Imam </a:t>
            </a:r>
            <a:r>
              <a:rPr lang="en-US" sz="2400" dirty="0" err="1">
                <a:latin typeface="Montserrat" panose="00000500000000000000" pitchFamily="50" charset="0"/>
              </a:rPr>
              <a:t>Besar</a:t>
            </a:r>
            <a:r>
              <a:rPr lang="en-US" sz="2400" dirty="0">
                <a:latin typeface="Montserrat" panose="00000500000000000000" pitchFamily="50" charset="0"/>
              </a:rPr>
              <a:t> Agung yang </a:t>
            </a:r>
            <a:r>
              <a:rPr lang="en-US" sz="2400" dirty="0" err="1">
                <a:latin typeface="Montserrat" panose="00000500000000000000" pitchFamily="50" charset="0"/>
              </a:rPr>
              <a:t>menaruh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belas</a:t>
            </a:r>
            <a:r>
              <a:rPr lang="en-US" sz="2400" b="1" u="sng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kasihan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kepada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manusia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Ibr</a:t>
            </a:r>
            <a:r>
              <a:rPr lang="en-US" sz="2400" dirty="0">
                <a:latin typeface="Montserrat" panose="00000500000000000000" pitchFamily="50" charset="0"/>
              </a:rPr>
              <a:t>. 2:17) </a:t>
            </a:r>
            <a:r>
              <a:rPr lang="en-US" sz="2400" dirty="0" err="1">
                <a:latin typeface="Montserrat" panose="00000500000000000000" pitchFamily="50" charset="0"/>
              </a:rPr>
              <a:t>karena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turut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merasakan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penderitaan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mereka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Ibr</a:t>
            </a:r>
            <a:r>
              <a:rPr lang="en-US" sz="2400" dirty="0">
                <a:latin typeface="Montserrat" panose="00000500000000000000" pitchFamily="50" charset="0"/>
              </a:rPr>
              <a:t>. 4:16).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1497495" y="1857841"/>
            <a:ext cx="726693" cy="6361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D487AD-A69C-495B-A8AE-F3B3727A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13" y="1970224"/>
            <a:ext cx="3664014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5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5593F-F759-5174-5532-A4EF625B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76E65A-C33A-33D3-5405-4804B8CF73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2FDAE3A4-53FA-736A-1A6A-4C3ADD369FFF}"/>
              </a:ext>
            </a:extLst>
          </p:cNvPr>
          <p:cNvSpPr/>
          <p:nvPr/>
        </p:nvSpPr>
        <p:spPr>
          <a:xfrm>
            <a:off x="7750939" y="5908581"/>
            <a:ext cx="4781265" cy="818866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23D2A-046D-AA59-605C-DF6D56D4332D}"/>
              </a:ext>
            </a:extLst>
          </p:cNvPr>
          <p:cNvSpPr txBox="1"/>
          <p:nvPr/>
        </p:nvSpPr>
        <p:spPr>
          <a:xfrm>
            <a:off x="8060295" y="6008946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034BD-4ACD-C333-C12A-9B5B2CEBC731}"/>
              </a:ext>
            </a:extLst>
          </p:cNvPr>
          <p:cNvSpPr txBox="1"/>
          <p:nvPr/>
        </p:nvSpPr>
        <p:spPr>
          <a:xfrm>
            <a:off x="380372" y="1166842"/>
            <a:ext cx="73818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Itulah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sebabnya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maka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dalam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segala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hal</a:t>
            </a:r>
            <a:r>
              <a:rPr lang="en-US" sz="2400" dirty="0">
                <a:latin typeface="Montserrat" panose="00000500000000000000" pitchFamily="50" charset="0"/>
              </a:rPr>
              <a:t> Ia </a:t>
            </a:r>
            <a:r>
              <a:rPr lang="en-US" sz="2400" dirty="0" err="1">
                <a:latin typeface="Montserrat" panose="00000500000000000000" pitchFamily="50" charset="0"/>
              </a:rPr>
              <a:t>harus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disamakan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dengan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saudara</a:t>
            </a:r>
            <a:r>
              <a:rPr lang="en-US" sz="2400" dirty="0">
                <a:latin typeface="Montserrat" panose="00000500000000000000" pitchFamily="50" charset="0"/>
              </a:rPr>
              <a:t>-</a:t>
            </a:r>
            <a:r>
              <a:rPr lang="en-US" sz="2400" dirty="0" err="1">
                <a:latin typeface="Montserrat" panose="00000500000000000000" pitchFamily="50" charset="0"/>
              </a:rPr>
              <a:t>saudara</a:t>
            </a:r>
            <a:r>
              <a:rPr lang="en-US" sz="2400" dirty="0">
                <a:latin typeface="Montserrat" panose="00000500000000000000" pitchFamily="50" charset="0"/>
              </a:rPr>
              <a:t>-Nya, </a:t>
            </a:r>
            <a:r>
              <a:rPr lang="en-US" sz="2400" dirty="0" err="1">
                <a:latin typeface="Montserrat" panose="00000500000000000000" pitchFamily="50" charset="0"/>
              </a:rPr>
              <a:t>supaya</a:t>
            </a:r>
            <a:r>
              <a:rPr lang="en-US" sz="2400" dirty="0">
                <a:latin typeface="Montserrat" panose="00000500000000000000" pitchFamily="50" charset="0"/>
              </a:rPr>
              <a:t> Ia </a:t>
            </a:r>
            <a:r>
              <a:rPr lang="en-US" sz="2400" dirty="0" err="1">
                <a:latin typeface="Montserrat" panose="00000500000000000000" pitchFamily="50" charset="0"/>
              </a:rPr>
              <a:t>menjadi</a:t>
            </a:r>
            <a:r>
              <a:rPr lang="en-US" sz="2400" dirty="0">
                <a:latin typeface="Montserrat" panose="00000500000000000000" pitchFamily="50" charset="0"/>
              </a:rPr>
              <a:t> Imam Besar yang </a:t>
            </a:r>
            <a:r>
              <a:rPr lang="en-US" sz="2400" dirty="0" err="1">
                <a:latin typeface="Montserrat" panose="00000500000000000000" pitchFamily="50" charset="0"/>
              </a:rPr>
              <a:t>menaruh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belas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kasihan</a:t>
            </a:r>
            <a:r>
              <a:rPr lang="en-US" sz="2400" dirty="0">
                <a:latin typeface="Montserrat" panose="00000500000000000000" pitchFamily="50" charset="0"/>
              </a:rPr>
              <a:t> dan yang </a:t>
            </a:r>
            <a:r>
              <a:rPr lang="en-US" sz="2400" dirty="0" err="1">
                <a:latin typeface="Montserrat" panose="00000500000000000000" pitchFamily="50" charset="0"/>
              </a:rPr>
              <a:t>setia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kepada</a:t>
            </a:r>
            <a:r>
              <a:rPr lang="en-US" sz="2400" dirty="0">
                <a:latin typeface="Montserrat" panose="00000500000000000000" pitchFamily="50" charset="0"/>
              </a:rPr>
              <a:t> Allah </a:t>
            </a:r>
            <a:r>
              <a:rPr lang="en-US" sz="2400" dirty="0" err="1">
                <a:latin typeface="Montserrat" panose="00000500000000000000" pitchFamily="50" charset="0"/>
              </a:rPr>
              <a:t>untuk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mendamaikan</a:t>
            </a:r>
            <a:r>
              <a:rPr lang="en-US" sz="2400" dirty="0">
                <a:latin typeface="Montserrat" panose="00000500000000000000" pitchFamily="50" charset="0"/>
              </a:rPr>
              <a:t> dosa </a:t>
            </a:r>
            <a:r>
              <a:rPr lang="en-US" sz="2400" dirty="0" err="1">
                <a:latin typeface="Montserrat" panose="00000500000000000000" pitchFamily="50" charset="0"/>
              </a:rPr>
              <a:t>seluruh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bangsa</a:t>
            </a:r>
            <a:r>
              <a:rPr lang="en-US" sz="2400" dirty="0">
                <a:latin typeface="Montserrat" panose="00000500000000000000" pitchFamily="50" charset="0"/>
              </a:rPr>
              <a:t>. (</a:t>
            </a:r>
            <a:r>
              <a:rPr lang="en-US" sz="2400" dirty="0" err="1">
                <a:latin typeface="Montserrat" panose="00000500000000000000" pitchFamily="50" charset="0"/>
              </a:rPr>
              <a:t>Ibrani</a:t>
            </a:r>
            <a:r>
              <a:rPr lang="en-US" sz="2400" dirty="0">
                <a:latin typeface="Montserrat" panose="00000500000000000000" pitchFamily="50" charset="0"/>
              </a:rPr>
              <a:t> 2:17)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</a:rPr>
              <a:t>Sebab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itu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marilah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kita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dengan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penuh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keberanian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menghampiri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takhta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kasih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karunia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supaya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kita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menerima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rahmat</a:t>
            </a:r>
            <a:r>
              <a:rPr lang="en-US" sz="2400" dirty="0">
                <a:latin typeface="Montserrat" panose="00000500000000000000" pitchFamily="50" charset="0"/>
              </a:rPr>
              <a:t> dan </a:t>
            </a:r>
            <a:r>
              <a:rPr lang="en-US" sz="2400" dirty="0" err="1">
                <a:latin typeface="Montserrat" panose="00000500000000000000" pitchFamily="50" charset="0"/>
              </a:rPr>
              <a:t>menemukan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kasih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karunia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untuk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mendapat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pertolongan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kita</a:t>
            </a:r>
            <a:r>
              <a:rPr lang="en-US" sz="2400" dirty="0">
                <a:latin typeface="Montserrat" panose="00000500000000000000" pitchFamily="50" charset="0"/>
              </a:rPr>
              <a:t> pada </a:t>
            </a:r>
            <a:r>
              <a:rPr lang="en-US" sz="2400" dirty="0" err="1">
                <a:latin typeface="Montserrat" panose="00000500000000000000" pitchFamily="50" charset="0"/>
              </a:rPr>
              <a:t>waktunya</a:t>
            </a:r>
            <a:r>
              <a:rPr lang="en-US" sz="2400" dirty="0">
                <a:latin typeface="Montserrat" panose="00000500000000000000" pitchFamily="50" charset="0"/>
              </a:rPr>
              <a:t>. (</a:t>
            </a:r>
            <a:r>
              <a:rPr lang="en-US" sz="2400" dirty="0" err="1">
                <a:latin typeface="Montserrat" panose="00000500000000000000" pitchFamily="50" charset="0"/>
              </a:rPr>
              <a:t>Ibrani</a:t>
            </a:r>
            <a:r>
              <a:rPr lang="en-US" sz="2400" dirty="0">
                <a:latin typeface="Montserrat" panose="00000500000000000000" pitchFamily="50" charset="0"/>
              </a:rPr>
              <a:t> 4:16)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DBBE0D-4622-2105-1A7E-53924D32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13" y="1970224"/>
            <a:ext cx="3664014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850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50939" y="5908581"/>
            <a:ext cx="4781265" cy="818866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060295" y="6008946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1344248" y="2751185"/>
            <a:ext cx="60562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Yesus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menjadi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teladan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sempurna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bagi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1344248" y="3980853"/>
            <a:ext cx="61337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Kristus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menghadapi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pencobaan-pencobaan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begitu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berat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Ibr</a:t>
            </a:r>
            <a:r>
              <a:rPr lang="en-US" sz="2400" dirty="0">
                <a:latin typeface="Montserrat" panose="00000500000000000000" pitchFamily="50" charset="0"/>
              </a:rPr>
              <a:t>. 2:18; 4:15). </a:t>
            </a:r>
            <a:r>
              <a:rPr lang="en-US" sz="2400" dirty="0" err="1">
                <a:latin typeface="Montserrat" panose="00000500000000000000" pitchFamily="50" charset="0"/>
              </a:rPr>
              <a:t>Bahkan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sebagai</a:t>
            </a:r>
            <a:r>
              <a:rPr lang="en-US" sz="2400" dirty="0">
                <a:latin typeface="Montserrat" panose="00000500000000000000" pitchFamily="50" charset="0"/>
              </a:rPr>
              <a:t> Anak, </a:t>
            </a:r>
            <a:r>
              <a:rPr lang="en-US" sz="2400" dirty="0" err="1">
                <a:latin typeface="Montserrat" panose="00000500000000000000" pitchFamily="50" charset="0"/>
              </a:rPr>
              <a:t>Dia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tetap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harus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belajar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untuk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dalam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semua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penderitaan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Dia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alami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Ibr</a:t>
            </a:r>
            <a:r>
              <a:rPr lang="en-US" sz="2400" dirty="0">
                <a:latin typeface="Montserrat" panose="00000500000000000000" pitchFamily="50" charset="0"/>
              </a:rPr>
              <a:t>. 5:8).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1497495" y="1839520"/>
            <a:ext cx="726693" cy="6361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EF0788-5F88-43CD-9966-2F8B33082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13" y="1970224"/>
            <a:ext cx="3664014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54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DDEF-C0B8-4E1B-B563-F96CC09D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2EA12B5-7335-3F49-1C7D-D9D510349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F46EAAE-1655-94DD-739E-3C3FB532CA58}"/>
              </a:ext>
            </a:extLst>
          </p:cNvPr>
          <p:cNvSpPr/>
          <p:nvPr/>
        </p:nvSpPr>
        <p:spPr>
          <a:xfrm>
            <a:off x="7750939" y="5908581"/>
            <a:ext cx="4781265" cy="818866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7E7BC-2B09-63B6-10B1-D78443278F89}"/>
              </a:ext>
            </a:extLst>
          </p:cNvPr>
          <p:cNvSpPr txBox="1"/>
          <p:nvPr/>
        </p:nvSpPr>
        <p:spPr>
          <a:xfrm>
            <a:off x="8060295" y="6008946"/>
            <a:ext cx="3858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endParaRPr lang="en-US" sz="3600" dirty="0">
              <a:solidFill>
                <a:schemeClr val="bg1">
                  <a:lumMod val="95000"/>
                </a:schemeClr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64D11F-6C92-C0CA-56FE-A256281A2F0F}"/>
              </a:ext>
            </a:extLst>
          </p:cNvPr>
          <p:cNvSpPr txBox="1"/>
          <p:nvPr/>
        </p:nvSpPr>
        <p:spPr>
          <a:xfrm>
            <a:off x="1004439" y="612844"/>
            <a:ext cx="61337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Montserrat" panose="00000500000000000000" pitchFamily="50" charset="0"/>
              </a:rPr>
              <a:t>Sebab oleh karena Ia sendiri telah menderita karena pencobaan, maka Ia dapat menolong mereka yang dicobai. (Ibrani 2:18)</a:t>
            </a:r>
          </a:p>
          <a:p>
            <a:endParaRPr lang="sv-SE" sz="2400" dirty="0">
              <a:latin typeface="Montserrat" panose="00000500000000000000" pitchFamily="50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</a:rPr>
              <a:t>Sebab</a:t>
            </a:r>
            <a:r>
              <a:rPr lang="en-US" sz="2400" dirty="0">
                <a:latin typeface="Montserrat" panose="00000500000000000000" pitchFamily="50" charset="0"/>
              </a:rPr>
              <a:t> Imam Besar yang </a:t>
            </a:r>
            <a:r>
              <a:rPr lang="en-US" sz="2400" dirty="0" err="1">
                <a:latin typeface="Montserrat" panose="00000500000000000000" pitchFamily="50" charset="0"/>
              </a:rPr>
              <a:t>kita</a:t>
            </a:r>
            <a:r>
              <a:rPr lang="en-US" sz="2400" dirty="0">
                <a:latin typeface="Montserrat" panose="00000500000000000000" pitchFamily="50" charset="0"/>
              </a:rPr>
              <a:t> punya, </a:t>
            </a:r>
            <a:r>
              <a:rPr lang="en-US" sz="2400" dirty="0" err="1">
                <a:latin typeface="Montserrat" panose="00000500000000000000" pitchFamily="50" charset="0"/>
              </a:rPr>
              <a:t>bukanlah</a:t>
            </a:r>
            <a:r>
              <a:rPr lang="en-US" sz="2400" dirty="0">
                <a:latin typeface="Montserrat" panose="00000500000000000000" pitchFamily="50" charset="0"/>
              </a:rPr>
              <a:t> imam </a:t>
            </a:r>
            <a:r>
              <a:rPr lang="en-US" sz="2400" dirty="0" err="1">
                <a:latin typeface="Montserrat" panose="00000500000000000000" pitchFamily="50" charset="0"/>
              </a:rPr>
              <a:t>besar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dapat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turut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merasakan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kelemahan-kelemahan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kita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sebaliknya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sama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dengan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kita</a:t>
            </a:r>
            <a:r>
              <a:rPr lang="en-US" sz="2400" dirty="0">
                <a:latin typeface="Montserrat" panose="00000500000000000000" pitchFamily="50" charset="0"/>
              </a:rPr>
              <a:t>, Ia </a:t>
            </a:r>
            <a:r>
              <a:rPr lang="en-US" sz="2400" dirty="0" err="1">
                <a:latin typeface="Montserrat" panose="00000500000000000000" pitchFamily="50" charset="0"/>
              </a:rPr>
              <a:t>telah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dicobai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hanya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berbuat</a:t>
            </a:r>
            <a:r>
              <a:rPr lang="en-US" sz="2400" dirty="0">
                <a:latin typeface="Montserrat" panose="00000500000000000000" pitchFamily="50" charset="0"/>
              </a:rPr>
              <a:t> dosa. (</a:t>
            </a:r>
            <a:r>
              <a:rPr lang="en-US" sz="2400" dirty="0" err="1">
                <a:latin typeface="Montserrat" panose="00000500000000000000" pitchFamily="50" charset="0"/>
              </a:rPr>
              <a:t>Ibrani</a:t>
            </a:r>
            <a:r>
              <a:rPr lang="en-US" sz="2400" dirty="0">
                <a:latin typeface="Montserrat" panose="00000500000000000000" pitchFamily="50" charset="0"/>
              </a:rPr>
              <a:t> 4:15)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400" dirty="0">
                <a:latin typeface="Montserrat" panose="00000500000000000000" pitchFamily="50" charset="0"/>
              </a:rPr>
              <a:t>Dan </a:t>
            </a:r>
            <a:r>
              <a:rPr lang="en-US" sz="2400" dirty="0" err="1">
                <a:latin typeface="Montserrat" panose="00000500000000000000" pitchFamily="50" charset="0"/>
              </a:rPr>
              <a:t>sekalipun</a:t>
            </a:r>
            <a:r>
              <a:rPr lang="en-US" sz="2400" dirty="0">
                <a:latin typeface="Montserrat" panose="00000500000000000000" pitchFamily="50" charset="0"/>
              </a:rPr>
              <a:t> Ia </a:t>
            </a:r>
            <a:r>
              <a:rPr lang="en-US" sz="2400" dirty="0" err="1">
                <a:latin typeface="Montserrat" panose="00000500000000000000" pitchFamily="50" charset="0"/>
              </a:rPr>
              <a:t>adalah</a:t>
            </a:r>
            <a:r>
              <a:rPr lang="en-US" sz="2400" dirty="0">
                <a:latin typeface="Montserrat" panose="00000500000000000000" pitchFamily="50" charset="0"/>
              </a:rPr>
              <a:t> Anak, Ia </a:t>
            </a:r>
            <a:r>
              <a:rPr lang="en-US" sz="2400" dirty="0" err="1">
                <a:latin typeface="Montserrat" panose="00000500000000000000" pitchFamily="50" charset="0"/>
              </a:rPr>
              <a:t>telah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belajar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menjadi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taat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dari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apa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telah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diderita</a:t>
            </a:r>
            <a:r>
              <a:rPr lang="en-US" sz="2400" dirty="0">
                <a:latin typeface="Montserrat" panose="00000500000000000000" pitchFamily="50" charset="0"/>
              </a:rPr>
              <a:t>-Nya (</a:t>
            </a:r>
            <a:r>
              <a:rPr lang="en-US" sz="2400" dirty="0" err="1">
                <a:latin typeface="Montserrat" panose="00000500000000000000" pitchFamily="50" charset="0"/>
              </a:rPr>
              <a:t>Ibrani</a:t>
            </a:r>
            <a:r>
              <a:rPr lang="en-US" sz="2400" dirty="0">
                <a:latin typeface="Montserrat" panose="00000500000000000000" pitchFamily="50" charset="0"/>
              </a:rPr>
              <a:t> 5:8)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B797A1-687F-92E9-2D73-88ED61B7F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613" y="1970224"/>
            <a:ext cx="3664014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88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1344248" y="2279176"/>
            <a:ext cx="60562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tidak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mungkin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dapat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menebus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sesamanya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1285155" y="3429000"/>
            <a:ext cx="62640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Mazmur</a:t>
            </a:r>
            <a:r>
              <a:rPr lang="en-US" sz="2400" dirty="0">
                <a:latin typeface="Montserrat" panose="00000500000000000000" pitchFamily="50" charset="0"/>
              </a:rPr>
              <a:t> 49:7 ESV “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Truly no man can ransom 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another,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or give to God the price of his life.</a:t>
            </a:r>
            <a:r>
              <a:rPr lang="en-US" sz="2400" dirty="0">
                <a:latin typeface="Montserrat" panose="00000500000000000000" pitchFamily="50" charset="0"/>
              </a:rPr>
              <a:t>” 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400" dirty="0" err="1">
                <a:latin typeface="Montserrat" panose="00000500000000000000" pitchFamily="50" charset="0"/>
              </a:rPr>
              <a:t>Mazmur</a:t>
            </a:r>
            <a:r>
              <a:rPr lang="en-US" sz="2400" dirty="0">
                <a:latin typeface="Montserrat" panose="00000500000000000000" pitchFamily="50" charset="0"/>
              </a:rPr>
              <a:t> 49:8 LAI:TB “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Tidak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seorangpun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dapat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membebaskan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1" i="0" u="sng" strike="noStrike" baseline="0" dirty="0" err="1">
                <a:latin typeface="Montserrat" panose="00000500000000000000" pitchFamily="50" charset="0"/>
              </a:rPr>
              <a:t>dirinya</a:t>
            </a:r>
            <a:r>
              <a:rPr lang="en-US" sz="2400" b="1" i="0" u="sng" strike="noStrike" baseline="0" dirty="0">
                <a:latin typeface="Montserrat" panose="00000500000000000000" pitchFamily="50" charset="0"/>
              </a:rPr>
              <a:t>,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atau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memberikan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tebusan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kepada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Allah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ganti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 </a:t>
            </a:r>
            <a:r>
              <a:rPr lang="en-US" sz="2400" b="0" i="0" u="none" strike="noStrike" baseline="0" dirty="0" err="1">
                <a:latin typeface="Montserrat" panose="00000500000000000000" pitchFamily="50" charset="0"/>
              </a:rPr>
              <a:t>nyawanya</a:t>
            </a:r>
            <a:r>
              <a:rPr lang="en-US" sz="2400" b="0" i="0" u="none" strike="noStrike" baseline="0" dirty="0">
                <a:latin typeface="Montserrat" panose="00000500000000000000" pitchFamily="50" charset="0"/>
              </a:rPr>
              <a:t>.</a:t>
            </a:r>
            <a:r>
              <a:rPr lang="en-US" sz="2400" dirty="0">
                <a:latin typeface="Montserrat" panose="00000500000000000000" pitchFamily="50" charset="0"/>
              </a:rPr>
              <a:t>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1497495" y="1367511"/>
            <a:ext cx="726693" cy="6361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1</a:t>
            </a:r>
          </a:p>
        </p:txBody>
      </p:sp>
      <p:pic>
        <p:nvPicPr>
          <p:cNvPr id="6148" name="Picture 4" descr="Jesus' Claims That He Is God – NIV Bible">
            <a:extLst>
              <a:ext uri="{FF2B5EF4-FFF2-40B4-BE49-F238E27FC236}">
                <a16:creationId xmlns:a16="http://schemas.microsoft.com/office/drawing/2014/main" id="{AF851A54-D223-41F9-92B7-A7D434E84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4" r="8696"/>
          <a:stretch/>
        </p:blipFill>
        <p:spPr bwMode="auto">
          <a:xfrm>
            <a:off x="8261920" y="0"/>
            <a:ext cx="3392556" cy="568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30324" y="5659441"/>
            <a:ext cx="4781265" cy="818866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458865" y="5759806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Allah</a:t>
            </a:r>
          </a:p>
        </p:txBody>
      </p:sp>
    </p:spTree>
    <p:extLst>
      <p:ext uri="{BB962C8B-B14F-4D97-AF65-F5344CB8AC3E}">
        <p14:creationId xmlns:p14="http://schemas.microsoft.com/office/powerpoint/2010/main" val="2616631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615708" y="1596458"/>
            <a:ext cx="66552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Hanya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Anak Allah 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sanggup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menanggung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murka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Allah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atas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keberdosaan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manusia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615707" y="3257014"/>
            <a:ext cx="713040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Kristus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menanggung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seluruh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hukuman</a:t>
            </a:r>
            <a:r>
              <a:rPr lang="en-US" sz="2400" dirty="0">
                <a:latin typeface="Montserrat" panose="00000500000000000000" pitchFamily="50" charset="0"/>
              </a:rPr>
              <a:t> Allah </a:t>
            </a:r>
            <a:r>
              <a:rPr lang="en-US" sz="2400" dirty="0" err="1">
                <a:latin typeface="Montserrat" panose="00000500000000000000" pitchFamily="50" charset="0"/>
              </a:rPr>
              <a:t>atas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seluruh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dosa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umat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pilihan</a:t>
            </a:r>
            <a:r>
              <a:rPr lang="en-US" sz="2400" dirty="0">
                <a:latin typeface="Montserrat" panose="00000500000000000000" pitchFamily="50" charset="0"/>
              </a:rPr>
              <a:t>. </a:t>
            </a:r>
            <a:r>
              <a:rPr lang="en-US" sz="2400" dirty="0" err="1">
                <a:latin typeface="Montserrat" panose="00000500000000000000" pitchFamily="50" charset="0"/>
              </a:rPr>
              <a:t>Keterpisahan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dari</a:t>
            </a:r>
            <a:r>
              <a:rPr lang="en-US" sz="2400" dirty="0">
                <a:latin typeface="Montserrat" panose="00000500000000000000" pitchFamily="50" charset="0"/>
              </a:rPr>
              <a:t> Allah yang </a:t>
            </a:r>
            <a:r>
              <a:rPr lang="en-US" sz="2400" dirty="0" err="1">
                <a:latin typeface="Montserrat" panose="00000500000000000000" pitchFamily="50" charset="0"/>
              </a:rPr>
              <a:t>Dia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derita</a:t>
            </a:r>
            <a:r>
              <a:rPr lang="en-US" sz="2400" dirty="0">
                <a:latin typeface="Montserrat" panose="00000500000000000000" pitchFamily="50" charset="0"/>
              </a:rPr>
              <a:t> (Mat. 27:46) </a:t>
            </a:r>
            <a:r>
              <a:rPr lang="en-US" sz="2400" dirty="0" err="1">
                <a:latin typeface="Montserrat" panose="00000500000000000000" pitchFamily="50" charset="0"/>
              </a:rPr>
              <a:t>sungguh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duanya</a:t>
            </a:r>
            <a:r>
              <a:rPr lang="en-US" sz="2400" dirty="0">
                <a:latin typeface="Montserrat" panose="00000500000000000000" pitchFamily="50" charset="0"/>
              </a:rPr>
              <a:t>!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000" dirty="0">
                <a:latin typeface="Montserrat" panose="00000500000000000000" pitchFamily="50" charset="0"/>
              </a:rPr>
              <a:t>Kira-</a:t>
            </a:r>
            <a:r>
              <a:rPr lang="en-US" sz="2000" dirty="0" err="1">
                <a:latin typeface="Montserrat" panose="00000500000000000000" pitchFamily="50" charset="0"/>
              </a:rPr>
              <a:t>kira</a:t>
            </a:r>
            <a:r>
              <a:rPr lang="en-US" sz="2000" dirty="0">
                <a:latin typeface="Montserrat" panose="00000500000000000000" pitchFamily="50" charset="0"/>
              </a:rPr>
              <a:t> jam </a:t>
            </a:r>
            <a:r>
              <a:rPr lang="en-US" sz="2000" dirty="0" err="1">
                <a:latin typeface="Montserrat" panose="00000500000000000000" pitchFamily="50" charset="0"/>
              </a:rPr>
              <a:t>tiga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berserulah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Yesus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dengan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suara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nyaring</a:t>
            </a:r>
            <a:r>
              <a:rPr lang="en-US" sz="2000" dirty="0">
                <a:latin typeface="Montserrat" panose="00000500000000000000" pitchFamily="50" charset="0"/>
              </a:rPr>
              <a:t>: ”Eli, Eli, lama </a:t>
            </a:r>
            <a:r>
              <a:rPr lang="en-US" sz="2000" dirty="0" err="1">
                <a:latin typeface="Montserrat" panose="00000500000000000000" pitchFamily="50" charset="0"/>
              </a:rPr>
              <a:t>sabakhtani</a:t>
            </a:r>
            <a:r>
              <a:rPr lang="en-US" sz="2000" dirty="0">
                <a:latin typeface="Montserrat" panose="00000500000000000000" pitchFamily="50" charset="0"/>
              </a:rPr>
              <a:t>?” </a:t>
            </a:r>
            <a:r>
              <a:rPr lang="en-US" sz="2000" dirty="0" err="1">
                <a:latin typeface="Montserrat" panose="00000500000000000000" pitchFamily="50" charset="0"/>
              </a:rPr>
              <a:t>Artinya</a:t>
            </a:r>
            <a:r>
              <a:rPr lang="en-US" sz="2000" dirty="0">
                <a:latin typeface="Montserrat" panose="00000500000000000000" pitchFamily="50" charset="0"/>
              </a:rPr>
              <a:t>: Allah-Ku, Allah-Ku, </a:t>
            </a:r>
            <a:r>
              <a:rPr lang="en-US" sz="2000" dirty="0" err="1">
                <a:latin typeface="Montserrat" panose="00000500000000000000" pitchFamily="50" charset="0"/>
              </a:rPr>
              <a:t>mengapa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Engkau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meninggalkan</a:t>
            </a:r>
            <a:r>
              <a:rPr lang="en-US" sz="2000" dirty="0">
                <a:latin typeface="Montserrat" panose="00000500000000000000" pitchFamily="50" charset="0"/>
              </a:rPr>
              <a:t> Aku? (Matius 27:46)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768955" y="684793"/>
            <a:ext cx="726693" cy="6361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2</a:t>
            </a:r>
          </a:p>
        </p:txBody>
      </p:sp>
      <p:pic>
        <p:nvPicPr>
          <p:cNvPr id="6148" name="Picture 4" descr="Jesus' Claims That He Is God – NIV Bible">
            <a:extLst>
              <a:ext uri="{FF2B5EF4-FFF2-40B4-BE49-F238E27FC236}">
                <a16:creationId xmlns:a16="http://schemas.microsoft.com/office/drawing/2014/main" id="{AF851A54-D223-41F9-92B7-A7D434E84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4" r="8696"/>
          <a:stretch/>
        </p:blipFill>
        <p:spPr bwMode="auto">
          <a:xfrm>
            <a:off x="8261920" y="0"/>
            <a:ext cx="3392556" cy="568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30324" y="5659441"/>
            <a:ext cx="4781265" cy="818866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458865" y="5759806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Allah</a:t>
            </a:r>
          </a:p>
        </p:txBody>
      </p:sp>
    </p:spTree>
    <p:extLst>
      <p:ext uri="{BB962C8B-B14F-4D97-AF65-F5344CB8AC3E}">
        <p14:creationId xmlns:p14="http://schemas.microsoft.com/office/powerpoint/2010/main" val="3650762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537524" y="1364776"/>
            <a:ext cx="65980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Hanya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Anak Allah 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dapat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memberikan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kuasa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penebusan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tidak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terbatas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537524" y="2880282"/>
            <a:ext cx="71868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anose="00000500000000000000" pitchFamily="50" charset="0"/>
              </a:rPr>
              <a:t>Allah yang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terbatas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telah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menyediakan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penebusan</a:t>
            </a:r>
            <a:r>
              <a:rPr lang="en-US" sz="2400" dirty="0">
                <a:latin typeface="Montserrat" panose="00000500000000000000" pitchFamily="50" charset="0"/>
              </a:rPr>
              <a:t> yang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terbatas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bagi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semua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dosa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umat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pilihan</a:t>
            </a:r>
            <a:r>
              <a:rPr lang="en-US" sz="2400" dirty="0">
                <a:latin typeface="Montserrat" panose="00000500000000000000" pitchFamily="50" charset="0"/>
              </a:rPr>
              <a:t>-Nya, </a:t>
            </a:r>
            <a:r>
              <a:rPr lang="en-US" sz="2400" dirty="0" err="1">
                <a:latin typeface="Montserrat" panose="00000500000000000000" pitchFamily="50" charset="0"/>
              </a:rPr>
              <a:t>sehingga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tidak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ada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keselamatan</a:t>
            </a:r>
            <a:r>
              <a:rPr lang="en-US" sz="2400" dirty="0">
                <a:latin typeface="Montserrat" panose="00000500000000000000" pitchFamily="50" charset="0"/>
              </a:rPr>
              <a:t> di </a:t>
            </a:r>
            <a:r>
              <a:rPr lang="en-US" sz="2400" dirty="0" err="1">
                <a:latin typeface="Montserrat" panose="00000500000000000000" pitchFamily="50" charset="0"/>
              </a:rPr>
              <a:t>luar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Yesus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Kis</a:t>
            </a:r>
            <a:r>
              <a:rPr lang="en-US" sz="2400" dirty="0">
                <a:latin typeface="Montserrat" panose="00000500000000000000" pitchFamily="50" charset="0"/>
              </a:rPr>
              <a:t>. 4:12).</a:t>
            </a:r>
          </a:p>
          <a:p>
            <a:endParaRPr lang="en-US" sz="2400" dirty="0">
              <a:latin typeface="Montserrat" panose="00000500000000000000" pitchFamily="50" charset="0"/>
            </a:endParaRPr>
          </a:p>
          <a:p>
            <a:r>
              <a:rPr lang="en-US" sz="2000" dirty="0">
                <a:latin typeface="Montserrat" panose="00000500000000000000" pitchFamily="50" charset="0"/>
              </a:rPr>
              <a:t>Dan </a:t>
            </a:r>
            <a:r>
              <a:rPr lang="en-US" sz="2000" dirty="0" err="1">
                <a:latin typeface="Montserrat" panose="00000500000000000000" pitchFamily="50" charset="0"/>
              </a:rPr>
              <a:t>keselamatan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tidak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ada</a:t>
            </a:r>
            <a:r>
              <a:rPr lang="en-US" sz="2000" dirty="0">
                <a:latin typeface="Montserrat" panose="00000500000000000000" pitchFamily="50" charset="0"/>
              </a:rPr>
              <a:t> di </a:t>
            </a:r>
            <a:r>
              <a:rPr lang="en-US" sz="2000" dirty="0" err="1">
                <a:latin typeface="Montserrat" panose="00000500000000000000" pitchFamily="50" charset="0"/>
              </a:rPr>
              <a:t>dalam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siapa</a:t>
            </a:r>
            <a:r>
              <a:rPr lang="en-US" sz="2000" dirty="0">
                <a:latin typeface="Montserrat" panose="00000500000000000000" pitchFamily="50" charset="0"/>
              </a:rPr>
              <a:t> pun juga </a:t>
            </a:r>
            <a:r>
              <a:rPr lang="en-US" sz="2000" dirty="0" err="1">
                <a:latin typeface="Montserrat" panose="00000500000000000000" pitchFamily="50" charset="0"/>
              </a:rPr>
              <a:t>selain</a:t>
            </a:r>
            <a:r>
              <a:rPr lang="en-US" sz="2000" dirty="0">
                <a:latin typeface="Montserrat" panose="00000500000000000000" pitchFamily="50" charset="0"/>
              </a:rPr>
              <a:t> di </a:t>
            </a:r>
            <a:r>
              <a:rPr lang="en-US" sz="2000" dirty="0" err="1">
                <a:latin typeface="Montserrat" panose="00000500000000000000" pitchFamily="50" charset="0"/>
              </a:rPr>
              <a:t>dalam</a:t>
            </a:r>
            <a:r>
              <a:rPr lang="en-US" sz="2000" dirty="0">
                <a:latin typeface="Montserrat" panose="00000500000000000000" pitchFamily="50" charset="0"/>
              </a:rPr>
              <a:t> Dia, </a:t>
            </a:r>
            <a:r>
              <a:rPr lang="en-US" sz="2000" dirty="0" err="1">
                <a:latin typeface="Montserrat" panose="00000500000000000000" pitchFamily="50" charset="0"/>
              </a:rPr>
              <a:t>sebab</a:t>
            </a:r>
            <a:r>
              <a:rPr lang="en-US" sz="2000" dirty="0">
                <a:latin typeface="Montserrat" panose="00000500000000000000" pitchFamily="50" charset="0"/>
              </a:rPr>
              <a:t> di </a:t>
            </a:r>
            <a:r>
              <a:rPr lang="en-US" sz="2000" dirty="0" err="1">
                <a:latin typeface="Montserrat" panose="00000500000000000000" pitchFamily="50" charset="0"/>
              </a:rPr>
              <a:t>bawah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kolong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langit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ini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tidak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ada</a:t>
            </a:r>
            <a:r>
              <a:rPr lang="en-US" sz="2000" dirty="0">
                <a:latin typeface="Montserrat" panose="00000500000000000000" pitchFamily="50" charset="0"/>
              </a:rPr>
              <a:t> nama lain yang </a:t>
            </a:r>
            <a:r>
              <a:rPr lang="en-US" sz="2000" dirty="0" err="1">
                <a:latin typeface="Montserrat" panose="00000500000000000000" pitchFamily="50" charset="0"/>
              </a:rPr>
              <a:t>diberikan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kepada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manusia</a:t>
            </a:r>
            <a:r>
              <a:rPr lang="en-US" sz="2000" dirty="0">
                <a:latin typeface="Montserrat" panose="00000500000000000000" pitchFamily="50" charset="0"/>
              </a:rPr>
              <a:t> yang </a:t>
            </a:r>
            <a:r>
              <a:rPr lang="en-US" sz="2000" dirty="0" err="1">
                <a:latin typeface="Montserrat" panose="00000500000000000000" pitchFamily="50" charset="0"/>
              </a:rPr>
              <a:t>olehnya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kita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dapat</a:t>
            </a:r>
            <a:r>
              <a:rPr lang="en-US" sz="2000" dirty="0">
                <a:latin typeface="Montserrat" panose="00000500000000000000" pitchFamily="50" charset="0"/>
              </a:rPr>
              <a:t> </a:t>
            </a:r>
            <a:r>
              <a:rPr lang="en-US" sz="2000" dirty="0" err="1">
                <a:latin typeface="Montserrat" panose="00000500000000000000" pitchFamily="50" charset="0"/>
              </a:rPr>
              <a:t>diselamatkan</a:t>
            </a:r>
            <a:r>
              <a:rPr lang="en-US" sz="2000" dirty="0">
                <a:latin typeface="Montserrat" panose="00000500000000000000" pitchFamily="50" charset="0"/>
              </a:rPr>
              <a:t>.” (</a:t>
            </a:r>
            <a:r>
              <a:rPr lang="en-US" sz="2000" dirty="0" err="1">
                <a:latin typeface="Montserrat" panose="00000500000000000000" pitchFamily="50" charset="0"/>
              </a:rPr>
              <a:t>Kisah</a:t>
            </a:r>
            <a:r>
              <a:rPr lang="en-US" sz="2000" dirty="0">
                <a:latin typeface="Montserrat" panose="00000500000000000000" pitchFamily="50" charset="0"/>
              </a:rPr>
              <a:t> Para Rasul 4:12)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690771" y="453111"/>
            <a:ext cx="726693" cy="6361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3</a:t>
            </a:r>
          </a:p>
        </p:txBody>
      </p:sp>
      <p:pic>
        <p:nvPicPr>
          <p:cNvPr id="6148" name="Picture 4" descr="Jesus' Claims That He Is God – NIV Bible">
            <a:extLst>
              <a:ext uri="{FF2B5EF4-FFF2-40B4-BE49-F238E27FC236}">
                <a16:creationId xmlns:a16="http://schemas.microsoft.com/office/drawing/2014/main" id="{AF851A54-D223-41F9-92B7-A7D434E84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4" r="8696"/>
          <a:stretch/>
        </p:blipFill>
        <p:spPr bwMode="auto">
          <a:xfrm>
            <a:off x="8261920" y="0"/>
            <a:ext cx="3392556" cy="568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30324" y="5659441"/>
            <a:ext cx="4781265" cy="818866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458865" y="5759806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Allah</a:t>
            </a:r>
          </a:p>
        </p:txBody>
      </p:sp>
    </p:spTree>
    <p:extLst>
      <p:ext uri="{BB962C8B-B14F-4D97-AF65-F5344CB8AC3E}">
        <p14:creationId xmlns:p14="http://schemas.microsoft.com/office/powerpoint/2010/main" val="2490172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CCDCC0-6DFB-425D-87F6-5AFC31AF05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2FB94-AFDE-4FD0-B5E3-234C1A6E0DF6}"/>
              </a:ext>
            </a:extLst>
          </p:cNvPr>
          <p:cNvSpPr txBox="1"/>
          <p:nvPr/>
        </p:nvSpPr>
        <p:spPr>
          <a:xfrm>
            <a:off x="1344248" y="2279176"/>
            <a:ext cx="5851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Hanya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Allah yang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dapat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mengalahkan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Bold" panose="00000900000000000000" pitchFamily="50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Montserrat ExtraBold" panose="00000900000000000000" pitchFamily="50" charset="0"/>
              </a:rPr>
              <a:t>kematian</a:t>
            </a:r>
            <a:r>
              <a:rPr lang="en-US" sz="28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54E62-A090-40E8-8416-CDBD452393BB}"/>
              </a:ext>
            </a:extLst>
          </p:cNvPr>
          <p:cNvSpPr txBox="1"/>
          <p:nvPr/>
        </p:nvSpPr>
        <p:spPr>
          <a:xfrm>
            <a:off x="1264754" y="3624718"/>
            <a:ext cx="68745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Montserrat" panose="00000500000000000000" pitchFamily="50" charset="0"/>
              </a:rPr>
              <a:t>Melalui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kematian</a:t>
            </a:r>
            <a:r>
              <a:rPr lang="en-US" sz="2400" dirty="0">
                <a:latin typeface="Montserrat" panose="00000500000000000000" pitchFamily="50" charset="0"/>
              </a:rPr>
              <a:t> dan </a:t>
            </a:r>
            <a:r>
              <a:rPr lang="en-US" sz="2400" dirty="0" err="1">
                <a:latin typeface="Montserrat" panose="00000500000000000000" pitchFamily="50" charset="0"/>
              </a:rPr>
              <a:t>kebangkitan</a:t>
            </a:r>
            <a:r>
              <a:rPr lang="en-US" sz="2400" dirty="0">
                <a:latin typeface="Montserrat" panose="00000500000000000000" pitchFamily="50" charset="0"/>
              </a:rPr>
              <a:t>-Nya, </a:t>
            </a:r>
            <a:r>
              <a:rPr lang="en-US" sz="2400" dirty="0" err="1">
                <a:latin typeface="Montserrat" panose="00000500000000000000" pitchFamily="50" charset="0"/>
              </a:rPr>
              <a:t>Yesus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dapat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mengalahkan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upah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dosa</a:t>
            </a:r>
            <a:r>
              <a:rPr lang="en-US" sz="2400" dirty="0">
                <a:latin typeface="Montserrat" panose="00000500000000000000" pitchFamily="50" charset="0"/>
              </a:rPr>
              <a:t>, </a:t>
            </a:r>
            <a:r>
              <a:rPr lang="en-US" sz="2400" dirty="0" err="1">
                <a:latin typeface="Montserrat" panose="00000500000000000000" pitchFamily="50" charset="0"/>
              </a:rPr>
              <a:t>yaitu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maut</a:t>
            </a:r>
            <a:r>
              <a:rPr lang="en-US" sz="2400" dirty="0">
                <a:latin typeface="Montserrat" panose="00000500000000000000" pitchFamily="50" charset="0"/>
              </a:rPr>
              <a:t> (</a:t>
            </a:r>
            <a:r>
              <a:rPr lang="en-US" sz="2400" dirty="0" err="1">
                <a:latin typeface="Montserrat" panose="00000500000000000000" pitchFamily="50" charset="0"/>
              </a:rPr>
              <a:t>Ibr</a:t>
            </a:r>
            <a:r>
              <a:rPr lang="en-US" sz="2400" dirty="0">
                <a:latin typeface="Montserrat" panose="00000500000000000000" pitchFamily="50" charset="0"/>
              </a:rPr>
              <a:t>. 2:14-15). </a:t>
            </a:r>
            <a:r>
              <a:rPr lang="en-US" sz="2400" dirty="0" err="1">
                <a:latin typeface="Montserrat" panose="00000500000000000000" pitchFamily="50" charset="0"/>
              </a:rPr>
              <a:t>Yesus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berkuasa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untuk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menyerahkan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nyawa</a:t>
            </a:r>
            <a:r>
              <a:rPr lang="en-US" sz="2400" dirty="0">
                <a:latin typeface="Montserrat" panose="00000500000000000000" pitchFamily="50" charset="0"/>
              </a:rPr>
              <a:t>-Nya </a:t>
            </a:r>
            <a:r>
              <a:rPr lang="en-US" sz="2400" dirty="0" err="1">
                <a:latin typeface="Montserrat" panose="00000500000000000000" pitchFamily="50" charset="0"/>
              </a:rPr>
              <a:t>maupun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b="1" u="sng" dirty="0" err="1">
                <a:latin typeface="Montserrat" panose="00000500000000000000" pitchFamily="50" charset="0"/>
              </a:rPr>
              <a:t>mengambilnya</a:t>
            </a:r>
            <a:r>
              <a:rPr lang="en-US" sz="2400" dirty="0">
                <a:latin typeface="Montserrat" panose="00000500000000000000" pitchFamily="50" charset="0"/>
              </a:rPr>
              <a:t> </a:t>
            </a:r>
            <a:r>
              <a:rPr lang="en-US" sz="2400" dirty="0" err="1">
                <a:latin typeface="Montserrat" panose="00000500000000000000" pitchFamily="50" charset="0"/>
              </a:rPr>
              <a:t>kembali</a:t>
            </a:r>
            <a:r>
              <a:rPr lang="en-US" sz="2400" dirty="0">
                <a:latin typeface="Montserrat" panose="00000500000000000000" pitchFamily="50" charset="0"/>
              </a:rPr>
              <a:t> (Yoh. 10:18).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FC8C6E-A684-4DC4-970A-22935D48DE6D}"/>
              </a:ext>
            </a:extLst>
          </p:cNvPr>
          <p:cNvSpPr/>
          <p:nvPr/>
        </p:nvSpPr>
        <p:spPr>
          <a:xfrm>
            <a:off x="1497495" y="1367511"/>
            <a:ext cx="726693" cy="6361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Montserrat ExtraBold" panose="00000900000000000000" pitchFamily="50" charset="0"/>
              </a:rPr>
              <a:t>4</a:t>
            </a:r>
          </a:p>
        </p:txBody>
      </p:sp>
      <p:pic>
        <p:nvPicPr>
          <p:cNvPr id="6148" name="Picture 4" descr="Jesus' Claims That He Is God – NIV Bible">
            <a:extLst>
              <a:ext uri="{FF2B5EF4-FFF2-40B4-BE49-F238E27FC236}">
                <a16:creationId xmlns:a16="http://schemas.microsoft.com/office/drawing/2014/main" id="{AF851A54-D223-41F9-92B7-A7D434E84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4" r="8696"/>
          <a:stretch/>
        </p:blipFill>
        <p:spPr bwMode="auto">
          <a:xfrm>
            <a:off x="8261920" y="0"/>
            <a:ext cx="3392556" cy="568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982A2136-0174-4454-BABB-F9D3DE6E9021}"/>
              </a:ext>
            </a:extLst>
          </p:cNvPr>
          <p:cNvSpPr/>
          <p:nvPr/>
        </p:nvSpPr>
        <p:spPr>
          <a:xfrm>
            <a:off x="7730324" y="5659441"/>
            <a:ext cx="4781265" cy="818866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35073-541D-480A-B68E-6B7710F12106}"/>
              </a:ext>
            </a:extLst>
          </p:cNvPr>
          <p:cNvSpPr txBox="1"/>
          <p:nvPr/>
        </p:nvSpPr>
        <p:spPr>
          <a:xfrm>
            <a:off x="8458865" y="5759806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Allah</a:t>
            </a:r>
          </a:p>
        </p:txBody>
      </p:sp>
    </p:spTree>
    <p:extLst>
      <p:ext uri="{BB962C8B-B14F-4D97-AF65-F5344CB8AC3E}">
        <p14:creationId xmlns:p14="http://schemas.microsoft.com/office/powerpoint/2010/main" val="2949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BB4A-2140-8531-0AE4-A0E26602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7956E0-F391-F393-E79C-6C4A4A4A55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C2E5-E476-B714-EA2D-977EC6E48A6C}"/>
              </a:ext>
            </a:extLst>
          </p:cNvPr>
          <p:cNvSpPr txBox="1"/>
          <p:nvPr/>
        </p:nvSpPr>
        <p:spPr>
          <a:xfrm>
            <a:off x="674642" y="674400"/>
            <a:ext cx="687452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Montserrat" panose="00000500000000000000" pitchFamily="50" charset="0"/>
              </a:rPr>
              <a:t>Karena </a:t>
            </a:r>
            <a:r>
              <a:rPr lang="en-US" sz="2200" dirty="0" err="1">
                <a:latin typeface="Montserrat" panose="00000500000000000000" pitchFamily="50" charset="0"/>
              </a:rPr>
              <a:t>anak-anak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itu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adalah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anak-anak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dari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darah</a:t>
            </a:r>
            <a:r>
              <a:rPr lang="en-US" sz="2200" dirty="0">
                <a:latin typeface="Montserrat" panose="00000500000000000000" pitchFamily="50" charset="0"/>
              </a:rPr>
              <a:t> dan </a:t>
            </a:r>
            <a:r>
              <a:rPr lang="en-US" sz="2200" dirty="0" err="1">
                <a:latin typeface="Montserrat" panose="00000500000000000000" pitchFamily="50" charset="0"/>
              </a:rPr>
              <a:t>daging</a:t>
            </a:r>
            <a:r>
              <a:rPr lang="en-US" sz="2200" dirty="0">
                <a:latin typeface="Montserrat" panose="00000500000000000000" pitchFamily="50" charset="0"/>
              </a:rPr>
              <a:t>, </a:t>
            </a:r>
            <a:r>
              <a:rPr lang="en-US" sz="2200" dirty="0" err="1">
                <a:latin typeface="Montserrat" panose="00000500000000000000" pitchFamily="50" charset="0"/>
              </a:rPr>
              <a:t>maka</a:t>
            </a:r>
            <a:r>
              <a:rPr lang="en-US" sz="2200" dirty="0">
                <a:latin typeface="Montserrat" panose="00000500000000000000" pitchFamily="50" charset="0"/>
              </a:rPr>
              <a:t> Ia juga </a:t>
            </a:r>
            <a:r>
              <a:rPr lang="en-US" sz="2200" dirty="0" err="1">
                <a:latin typeface="Montserrat" panose="00000500000000000000" pitchFamily="50" charset="0"/>
              </a:rPr>
              <a:t>menjadi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sama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dengan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mereka</a:t>
            </a:r>
            <a:r>
              <a:rPr lang="en-US" sz="2200" dirty="0">
                <a:latin typeface="Montserrat" panose="00000500000000000000" pitchFamily="50" charset="0"/>
              </a:rPr>
              <a:t> dan </a:t>
            </a:r>
            <a:r>
              <a:rPr lang="en-US" sz="2200" dirty="0" err="1">
                <a:latin typeface="Montserrat" panose="00000500000000000000" pitchFamily="50" charset="0"/>
              </a:rPr>
              <a:t>mendapat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bagian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dalam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keadaan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mereka</a:t>
            </a:r>
            <a:r>
              <a:rPr lang="en-US" sz="2200" dirty="0">
                <a:latin typeface="Montserrat" panose="00000500000000000000" pitchFamily="50" charset="0"/>
              </a:rPr>
              <a:t>, </a:t>
            </a:r>
            <a:r>
              <a:rPr lang="en-US" sz="2200" dirty="0" err="1">
                <a:latin typeface="Montserrat" panose="00000500000000000000" pitchFamily="50" charset="0"/>
              </a:rPr>
              <a:t>supaya</a:t>
            </a:r>
            <a:r>
              <a:rPr lang="en-US" sz="2200" dirty="0">
                <a:latin typeface="Montserrat" panose="00000500000000000000" pitchFamily="50" charset="0"/>
              </a:rPr>
              <a:t> oleh </a:t>
            </a:r>
            <a:r>
              <a:rPr lang="en-US" sz="2200" dirty="0" err="1">
                <a:latin typeface="Montserrat" panose="00000500000000000000" pitchFamily="50" charset="0"/>
              </a:rPr>
              <a:t>kematian</a:t>
            </a:r>
            <a:r>
              <a:rPr lang="en-US" sz="2200" dirty="0">
                <a:latin typeface="Montserrat" panose="00000500000000000000" pitchFamily="50" charset="0"/>
              </a:rPr>
              <a:t>-Nya Ia </a:t>
            </a:r>
            <a:r>
              <a:rPr lang="en-US" sz="2200" dirty="0" err="1">
                <a:latin typeface="Montserrat" panose="00000500000000000000" pitchFamily="50" charset="0"/>
              </a:rPr>
              <a:t>memusnahkan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dia</a:t>
            </a:r>
            <a:r>
              <a:rPr lang="en-US" sz="2200" dirty="0">
                <a:latin typeface="Montserrat" panose="00000500000000000000" pitchFamily="50" charset="0"/>
              </a:rPr>
              <a:t>, </a:t>
            </a:r>
            <a:r>
              <a:rPr lang="en-US" sz="2200" dirty="0" err="1">
                <a:latin typeface="Montserrat" panose="00000500000000000000" pitchFamily="50" charset="0"/>
              </a:rPr>
              <a:t>yaitu</a:t>
            </a:r>
            <a:r>
              <a:rPr lang="en-US" sz="2200" dirty="0">
                <a:latin typeface="Montserrat" panose="00000500000000000000" pitchFamily="50" charset="0"/>
              </a:rPr>
              <a:t> Iblis, yang </a:t>
            </a:r>
            <a:r>
              <a:rPr lang="en-US" sz="2200" dirty="0" err="1">
                <a:latin typeface="Montserrat" panose="00000500000000000000" pitchFamily="50" charset="0"/>
              </a:rPr>
              <a:t>berkuasa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atas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maut</a:t>
            </a:r>
            <a:r>
              <a:rPr lang="en-US" sz="2200" dirty="0">
                <a:latin typeface="Montserrat" panose="00000500000000000000" pitchFamily="50" charset="0"/>
              </a:rPr>
              <a:t>; dan </a:t>
            </a:r>
            <a:r>
              <a:rPr lang="en-US" sz="2200" dirty="0" err="1">
                <a:latin typeface="Montserrat" panose="00000500000000000000" pitchFamily="50" charset="0"/>
              </a:rPr>
              <a:t>supaya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dengan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jalan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demikian</a:t>
            </a:r>
            <a:r>
              <a:rPr lang="en-US" sz="2200" dirty="0">
                <a:latin typeface="Montserrat" panose="00000500000000000000" pitchFamily="50" charset="0"/>
              </a:rPr>
              <a:t> Ia </a:t>
            </a:r>
            <a:r>
              <a:rPr lang="en-US" sz="2200" dirty="0" err="1">
                <a:latin typeface="Montserrat" panose="00000500000000000000" pitchFamily="50" charset="0"/>
              </a:rPr>
              <a:t>membebaskan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mereka</a:t>
            </a:r>
            <a:r>
              <a:rPr lang="en-US" sz="2200" dirty="0">
                <a:latin typeface="Montserrat" panose="00000500000000000000" pitchFamily="50" charset="0"/>
              </a:rPr>
              <a:t> yang </a:t>
            </a:r>
            <a:r>
              <a:rPr lang="en-US" sz="2200" dirty="0" err="1">
                <a:latin typeface="Montserrat" panose="00000500000000000000" pitchFamily="50" charset="0"/>
              </a:rPr>
              <a:t>seumur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hidupnya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berada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dalam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perhambaan</a:t>
            </a:r>
            <a:r>
              <a:rPr lang="en-US" sz="2200" dirty="0">
                <a:latin typeface="Montserrat" panose="00000500000000000000" pitchFamily="50" charset="0"/>
              </a:rPr>
              <a:t> oleh </a:t>
            </a:r>
            <a:r>
              <a:rPr lang="en-US" sz="2200" dirty="0" err="1">
                <a:latin typeface="Montserrat" panose="00000500000000000000" pitchFamily="50" charset="0"/>
              </a:rPr>
              <a:t>karena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takutnya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kepada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maut</a:t>
            </a:r>
            <a:r>
              <a:rPr lang="en-US" sz="2200" dirty="0">
                <a:latin typeface="Montserrat" panose="00000500000000000000" pitchFamily="50" charset="0"/>
              </a:rPr>
              <a:t>. (</a:t>
            </a:r>
            <a:r>
              <a:rPr lang="en-US" sz="2200" dirty="0" err="1">
                <a:latin typeface="Montserrat" panose="00000500000000000000" pitchFamily="50" charset="0"/>
              </a:rPr>
              <a:t>Ibrani</a:t>
            </a:r>
            <a:r>
              <a:rPr lang="en-US" sz="2200" dirty="0">
                <a:latin typeface="Montserrat" panose="00000500000000000000" pitchFamily="50" charset="0"/>
              </a:rPr>
              <a:t> 2:14-15)</a:t>
            </a:r>
          </a:p>
          <a:p>
            <a:endParaRPr lang="en-US" sz="2200" dirty="0">
              <a:latin typeface="Montserrat" panose="00000500000000000000" pitchFamily="50" charset="0"/>
            </a:endParaRPr>
          </a:p>
          <a:p>
            <a:r>
              <a:rPr lang="en-US" sz="2200" dirty="0">
                <a:latin typeface="Montserrat" panose="00000500000000000000" pitchFamily="50" charset="0"/>
              </a:rPr>
              <a:t>Tidak </a:t>
            </a:r>
            <a:r>
              <a:rPr lang="en-US" sz="2200" dirty="0" err="1">
                <a:latin typeface="Montserrat" panose="00000500000000000000" pitchFamily="50" charset="0"/>
              </a:rPr>
              <a:t>seorang</a:t>
            </a:r>
            <a:r>
              <a:rPr lang="en-US" sz="2200" dirty="0">
                <a:latin typeface="Montserrat" panose="00000500000000000000" pitchFamily="50" charset="0"/>
              </a:rPr>
              <a:t> pun </a:t>
            </a:r>
            <a:r>
              <a:rPr lang="en-US" sz="2200" dirty="0" err="1">
                <a:latin typeface="Montserrat" panose="00000500000000000000" pitchFamily="50" charset="0"/>
              </a:rPr>
              <a:t>mengambilnya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dari</a:t>
            </a:r>
            <a:r>
              <a:rPr lang="en-US" sz="2200" dirty="0">
                <a:latin typeface="Montserrat" panose="00000500000000000000" pitchFamily="50" charset="0"/>
              </a:rPr>
              <a:t> pada-Ku, </a:t>
            </a:r>
            <a:r>
              <a:rPr lang="en-US" sz="2200" dirty="0" err="1">
                <a:latin typeface="Montserrat" panose="00000500000000000000" pitchFamily="50" charset="0"/>
              </a:rPr>
              <a:t>melainkan</a:t>
            </a:r>
            <a:r>
              <a:rPr lang="en-US" sz="2200" dirty="0">
                <a:latin typeface="Montserrat" panose="00000500000000000000" pitchFamily="50" charset="0"/>
              </a:rPr>
              <a:t> Aku </a:t>
            </a:r>
            <a:r>
              <a:rPr lang="en-US" sz="2200" dirty="0" err="1">
                <a:latin typeface="Montserrat" panose="00000500000000000000" pitchFamily="50" charset="0"/>
              </a:rPr>
              <a:t>memberikannya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menurut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kehendak</a:t>
            </a:r>
            <a:r>
              <a:rPr lang="en-US" sz="2200" dirty="0">
                <a:latin typeface="Montserrat" panose="00000500000000000000" pitchFamily="50" charset="0"/>
              </a:rPr>
              <a:t>-Ku </a:t>
            </a:r>
            <a:r>
              <a:rPr lang="en-US" sz="2200" dirty="0" err="1">
                <a:latin typeface="Montserrat" panose="00000500000000000000" pitchFamily="50" charset="0"/>
              </a:rPr>
              <a:t>sendiri</a:t>
            </a:r>
            <a:r>
              <a:rPr lang="en-US" sz="2200" dirty="0">
                <a:latin typeface="Montserrat" panose="00000500000000000000" pitchFamily="50" charset="0"/>
              </a:rPr>
              <a:t>. Aku </a:t>
            </a:r>
            <a:r>
              <a:rPr lang="en-US" sz="2200" dirty="0" err="1">
                <a:latin typeface="Montserrat" panose="00000500000000000000" pitchFamily="50" charset="0"/>
              </a:rPr>
              <a:t>berkuasa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memberikannya</a:t>
            </a:r>
            <a:r>
              <a:rPr lang="en-US" sz="2200" dirty="0">
                <a:latin typeface="Montserrat" panose="00000500000000000000" pitchFamily="50" charset="0"/>
              </a:rPr>
              <a:t> dan </a:t>
            </a:r>
            <a:r>
              <a:rPr lang="en-US" sz="2200" dirty="0" err="1">
                <a:latin typeface="Montserrat" panose="00000500000000000000" pitchFamily="50" charset="0"/>
              </a:rPr>
              <a:t>berkuasa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mengambilnya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kembali</a:t>
            </a:r>
            <a:r>
              <a:rPr lang="en-US" sz="2200" dirty="0">
                <a:latin typeface="Montserrat" panose="00000500000000000000" pitchFamily="50" charset="0"/>
              </a:rPr>
              <a:t>. </a:t>
            </a:r>
            <a:r>
              <a:rPr lang="en-US" sz="2200" dirty="0" err="1">
                <a:latin typeface="Montserrat" panose="00000500000000000000" pitchFamily="50" charset="0"/>
              </a:rPr>
              <a:t>Inilah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tugas</a:t>
            </a:r>
            <a:r>
              <a:rPr lang="en-US" sz="2200" dirty="0">
                <a:latin typeface="Montserrat" panose="00000500000000000000" pitchFamily="50" charset="0"/>
              </a:rPr>
              <a:t> yang </a:t>
            </a:r>
            <a:r>
              <a:rPr lang="en-US" sz="2200" dirty="0" err="1">
                <a:latin typeface="Montserrat" panose="00000500000000000000" pitchFamily="50" charset="0"/>
              </a:rPr>
              <a:t>Kuterima</a:t>
            </a:r>
            <a:r>
              <a:rPr lang="en-US" sz="2200" dirty="0">
                <a:latin typeface="Montserrat" panose="00000500000000000000" pitchFamily="50" charset="0"/>
              </a:rPr>
              <a:t> </a:t>
            </a:r>
            <a:r>
              <a:rPr lang="en-US" sz="2200" dirty="0" err="1">
                <a:latin typeface="Montserrat" panose="00000500000000000000" pitchFamily="50" charset="0"/>
              </a:rPr>
              <a:t>dari</a:t>
            </a:r>
            <a:r>
              <a:rPr lang="en-US" sz="2200" dirty="0">
                <a:latin typeface="Montserrat" panose="00000500000000000000" pitchFamily="50" charset="0"/>
              </a:rPr>
              <a:t> Bapa-Ku.” (Yohanes 10:18)</a:t>
            </a:r>
          </a:p>
        </p:txBody>
      </p:sp>
      <p:pic>
        <p:nvPicPr>
          <p:cNvPr id="6148" name="Picture 4" descr="Jesus' Claims That He Is God – NIV Bible">
            <a:extLst>
              <a:ext uri="{FF2B5EF4-FFF2-40B4-BE49-F238E27FC236}">
                <a16:creationId xmlns:a16="http://schemas.microsoft.com/office/drawing/2014/main" id="{D4D6D23F-D458-FF6F-F775-0ACD9DD579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4" r="8696"/>
          <a:stretch/>
        </p:blipFill>
        <p:spPr bwMode="auto">
          <a:xfrm>
            <a:off x="8261920" y="0"/>
            <a:ext cx="3392556" cy="568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53C39E64-2A34-1D50-C36E-BA02DEE87566}"/>
              </a:ext>
            </a:extLst>
          </p:cNvPr>
          <p:cNvSpPr/>
          <p:nvPr/>
        </p:nvSpPr>
        <p:spPr>
          <a:xfrm>
            <a:off x="7730324" y="5659441"/>
            <a:ext cx="4781265" cy="818866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8DB7F-B96A-2F61-4B81-6CC93116C1B4}"/>
              </a:ext>
            </a:extLst>
          </p:cNvPr>
          <p:cNvSpPr txBox="1"/>
          <p:nvPr/>
        </p:nvSpPr>
        <p:spPr>
          <a:xfrm>
            <a:off x="8458865" y="5759806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ontserrat ExtraBold" panose="00000900000000000000" pitchFamily="50" charset="0"/>
              </a:rPr>
              <a:t>Harus 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Montserrat ExtraBold" panose="00000900000000000000" pitchFamily="50" charset="0"/>
              </a:rPr>
              <a:t>Allah</a:t>
            </a:r>
          </a:p>
        </p:txBody>
      </p:sp>
    </p:spTree>
    <p:extLst>
      <p:ext uri="{BB962C8B-B14F-4D97-AF65-F5344CB8AC3E}">
        <p14:creationId xmlns:p14="http://schemas.microsoft.com/office/powerpoint/2010/main" val="49735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1072</Words>
  <Application>Microsoft Office PowerPoint</Application>
  <PresentationFormat>Widescreen</PresentationFormat>
  <Paragraphs>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Montserrat</vt:lpstr>
      <vt:lpstr>Montserrat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NATANAEL WIJAYA TIONO</cp:lastModifiedBy>
  <cp:revision>20</cp:revision>
  <dcterms:created xsi:type="dcterms:W3CDTF">2023-03-31T09:40:15Z</dcterms:created>
  <dcterms:modified xsi:type="dcterms:W3CDTF">2026-03-05T08:10:24Z</dcterms:modified>
</cp:coreProperties>
</file>