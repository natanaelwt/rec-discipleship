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85" r:id="rId10"/>
    <p:sldId id="279" r:id="rId11"/>
    <p:sldId id="284" r:id="rId12"/>
    <p:sldId id="280" r:id="rId13"/>
    <p:sldId id="281" r:id="rId14"/>
    <p:sldId id="286" r:id="rId15"/>
    <p:sldId id="28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78161-E94F-4D20-88DC-A7F2D6B75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C4A33-7E9D-4D46-AA4A-1BAC10876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499E-7FF1-41F1-8F41-C9A5A344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DECEF-751A-4B9C-B3D4-46255053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CAA86-5535-4020-8E47-96A5462C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11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BD31E-B364-499C-B571-893068B8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01060-6B9F-4DA2-801B-97E4E6C5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AC2C-9047-4EEC-9093-3278176E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5F008-847F-4586-A8E9-2334D494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F6C2D-6BB0-4108-8994-119DAB66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4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ED4A-05F7-4EA3-A463-81FC52A46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94445-F66E-4B4D-B7E2-B82248EBB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3EF58-9552-46DF-BD78-13BC8FF0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3DB14-D2DE-4C1B-A4ED-89461699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848FF-BFC9-4AC4-A6BE-59660DCD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1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33A5-3027-474C-8163-9CC5E3E7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F3541-0DD1-4382-9786-C92CEA441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02DF3-5830-4434-AFA4-FCB80E249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34886-4A14-4424-93B8-63047B0C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CECB2-2533-416C-BE3F-6EC1E0525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1C2D3-B311-4CD1-ACD3-91BE0A41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7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FB8F-C4BB-43BB-BA5B-074E7DBC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88F7E-58A3-429D-9F22-4CDCC3AE0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3E77E-6B9A-45FA-A260-A67EFA5C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0BEDA-8B09-4175-9096-10AEBDBDA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4A74C-C8EF-4628-9C7A-80655F8D9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56E45-C602-4F5F-A511-B4D3D895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9D5301-6970-4FAD-8815-C4033888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223B2-05D1-4601-8EF8-F95C1FB8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0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4E46C-3FC6-41F7-81D4-B2EE79EB5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A1E30-0DE7-4951-BE81-E6952CDB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03D42-0420-4BAE-B591-0C2C6696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977BC-0B68-4D57-A63B-E411F588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A66B72-D567-4D55-886E-BBCD31EF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443C7-7D5C-440A-A29E-28E3BCC8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7DA59-DE36-4C9C-81E9-B1C240D3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2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7B04-1600-467A-A2FD-F00D1D11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305B3-C9F1-44A0-A4D9-644D262BA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30635-E3B9-41DF-80C3-9A76B1461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E837E-8A7F-4109-A4B3-96A2D979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E7FFE-6F97-483E-BCD9-1B5B1FC3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DE9F-AC3E-4384-984A-CBD2CFEB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3B73-E632-4DA5-8B1B-62E65F53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AD92D-969E-4897-A3CF-BB99FEE75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55F81-4BE5-4AE0-B374-044A94B1B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6BA73-7F9C-470A-8B4D-F166A32C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A0307-03CD-40A2-8DF3-D615358A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36403-FE3B-40A5-9222-311C8D86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8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BB75-CB27-4D33-9922-8029A30E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6BA45-0485-4526-9392-3C8B60B84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BC4D3-8FF3-4B25-A911-19D19834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AC8F5-6D1A-4607-A9E9-6D7F0D82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632BE-2AB8-4BDE-9F1D-3749BB49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9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DA52F4-5064-416B-AB4E-16338E467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4B70E-3249-436C-BDA6-0AF7D698C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26FAE-198A-4B1E-9B65-BB701394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52C75-A5A0-4C80-B20E-3F335139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D96C4-C859-4F6D-A7D6-10C90A1D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9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310E1-8127-421E-B929-8DBDC1B12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9C66E-DF96-41AA-9C3A-CAE9E4875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A3AA2-DD87-4AC8-A74B-C882B643D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AB4E1-A077-4E14-9075-21EBE1A80FE0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34FAE-4491-44A6-937F-5DE1064A0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E730C-A541-45D5-9BC7-00B8E7502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52178-9516-4F32-8C3C-0B5B20FB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7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7142E3-AC67-446F-B4F7-DCC1DACF98D3}"/>
              </a:ext>
            </a:extLst>
          </p:cNvPr>
          <p:cNvSpPr/>
          <p:nvPr/>
        </p:nvSpPr>
        <p:spPr>
          <a:xfrm>
            <a:off x="1113181" y="3631096"/>
            <a:ext cx="4982819" cy="64935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476316" y="3724941"/>
            <a:ext cx="4285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Mengapa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 Saya Kristen #2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4071D-6BEB-4C48-A902-B6627BDE6EE8}"/>
              </a:ext>
            </a:extLst>
          </p:cNvPr>
          <p:cNvSpPr txBox="1"/>
          <p:nvPr/>
        </p:nvSpPr>
        <p:spPr>
          <a:xfrm>
            <a:off x="993913" y="4594784"/>
            <a:ext cx="10204174" cy="61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400" b="1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KESELAMATAN BERDASARKAN </a:t>
            </a:r>
            <a:r>
              <a:rPr lang="en-US" sz="3400" b="1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ANUGERAH</a:t>
            </a:r>
            <a:endParaRPr lang="en-US" sz="34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0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5658678" y="2102852"/>
            <a:ext cx="537682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SOLA </a:t>
            </a:r>
            <a:r>
              <a:rPr lang="en-US" sz="44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GRATIA</a:t>
            </a:r>
            <a:endParaRPr lang="en-US" sz="44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Kritikan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reformator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abad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ke-16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gereja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waktu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itu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meyakini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kebutuhan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anugerah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tetapi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meragukan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kecukupan</a:t>
            </a:r>
            <a:r>
              <a:rPr lang="en-US" sz="2400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anugerah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</a:t>
            </a:r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lam keselamatan.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rotestant Reformation | The First Amendment Encyclopedia">
            <a:extLst>
              <a:ext uri="{FF2B5EF4-FFF2-40B4-BE49-F238E27FC236}">
                <a16:creationId xmlns:a16="http://schemas.microsoft.com/office/drawing/2014/main" id="{862D280F-6915-4688-B0BC-42E863FCBE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" r="36794"/>
          <a:stretch/>
        </p:blipFill>
        <p:spPr bwMode="auto">
          <a:xfrm>
            <a:off x="106017" y="1311965"/>
            <a:ext cx="4704522" cy="4234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D66D58-AE05-4D9D-A6EF-5B899D7CCF18}"/>
              </a:ext>
            </a:extLst>
          </p:cNvPr>
          <p:cNvSpPr/>
          <p:nvPr/>
        </p:nvSpPr>
        <p:spPr>
          <a:xfrm>
            <a:off x="3564835" y="5272951"/>
            <a:ext cx="874643" cy="69052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33E5C5-06DC-4035-81E1-70FF77202F11}"/>
              </a:ext>
            </a:extLst>
          </p:cNvPr>
          <p:cNvSpPr/>
          <p:nvPr/>
        </p:nvSpPr>
        <p:spPr>
          <a:xfrm>
            <a:off x="3564834" y="1078638"/>
            <a:ext cx="874643" cy="69052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28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216923" y="791151"/>
            <a:ext cx="975814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EFESUS 2:8-10</a:t>
            </a:r>
            <a:endParaRPr lang="en-US" dirty="0">
              <a:solidFill>
                <a:srgbClr val="C00000"/>
              </a:solidFill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Arial" panose="020B0604020202020204" pitchFamily="34" charset="0"/>
              </a:rPr>
              <a:t>Sebab karena kasih karunia kamu diselamatkan oleh iman; itu bukan hasil usahamu, tetapi pemberian Allah, itu bukan hasil pekerjaanmu: jangan ada orang yang memegahkan diri. Karena kita ini buatan Allah, diciptakan dalam Kristus Yesus untuk melakukan pekerjaan baik, yang dipersiapkan Allah sebelumnya. Ia mau, supaya kita hidup di dalamnya.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EFBF22-6510-4333-8148-C1C4CFF1DAD8}"/>
              </a:ext>
            </a:extLst>
          </p:cNvPr>
          <p:cNvSpPr/>
          <p:nvPr/>
        </p:nvSpPr>
        <p:spPr>
          <a:xfrm>
            <a:off x="4167805" y="1629576"/>
            <a:ext cx="3856383" cy="1027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07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386080" y="331134"/>
            <a:ext cx="5151119" cy="57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EFESUS 2:8-10</a:t>
            </a: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effectLst/>
              <a:latin typeface="Montserrat" panose="00000500000000000000" pitchFamily="50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Arial" panose="020B0604020202020204" pitchFamily="34" charset="0"/>
              </a:rPr>
              <a:t>Sebab karena kasih karunia kamu diselamatkan oleh iman; itu bukan hasil usahamu, tetapi pemberian Allah, itu bukan hasil pekerjaanmu: jangan ada orang yang memegahkan diri. Karena kita ini buatan Allah, diciptakan dalam Kristus Yesus untuk melakukan pekerjaan baik, yang dipersiapkan Allah sebelumnya. Ia mau, supaya kita hidup di dalamnya.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endParaRPr lang="en-US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5824330" y="0"/>
            <a:ext cx="626165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A6103-1F19-4837-9691-20577EEBDB44}"/>
              </a:ext>
            </a:extLst>
          </p:cNvPr>
          <p:cNvSpPr txBox="1"/>
          <p:nvPr/>
        </p:nvSpPr>
        <p:spPr>
          <a:xfrm>
            <a:off x="6677439" y="605908"/>
            <a:ext cx="4555434" cy="1444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85750" algn="l"/>
              </a:tabLst>
            </a:pP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Kita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diselamatkan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berbuat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bukan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sebaliknya</a:t>
            </a:r>
            <a:endParaRPr lang="en-US" sz="3200" dirty="0"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FCE1A-94A1-4ED0-8840-9BFCA5FEF6EF}"/>
              </a:ext>
            </a:extLst>
          </p:cNvPr>
          <p:cNvSpPr txBox="1"/>
          <p:nvPr/>
        </p:nvSpPr>
        <p:spPr>
          <a:xfrm>
            <a:off x="6677439" y="2409812"/>
            <a:ext cx="4555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Injil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bukan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nasihat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tetapi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kabar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Perbuatan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wujud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ucapan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syukur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bukti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sudah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diselamatkan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ayat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10). </a:t>
            </a:r>
            <a:endParaRPr lang="en-US" sz="2400" dirty="0"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497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508000" y="422574"/>
            <a:ext cx="5008879" cy="591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EFESUS 2:8-10</a:t>
            </a:r>
          </a:p>
          <a:p>
            <a:endParaRPr lang="en-US" sz="2400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Arial" panose="020B0604020202020204" pitchFamily="34" charset="0"/>
              </a:rPr>
              <a:t>Sebab karena kasih karunia kamu diselamatkan oleh iman; itu bukan hasil usahamu, tetapi pemberian Allah, itu bukan hasil pekerjaanmu: jangan ada orang yang memegahkan diri. Karena kita ini buatan Allah, diciptakan dalam Kristus Yesus untuk melakukan pekerjaan baik, yang dipersiapkan Allah sebelumnya. Ia mau, supaya kita hidup di dalamnya.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endParaRPr lang="en-US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5824330" y="-1"/>
            <a:ext cx="626165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A6103-1F19-4837-9691-20577EEBDB44}"/>
              </a:ext>
            </a:extLst>
          </p:cNvPr>
          <p:cNvSpPr txBox="1"/>
          <p:nvPr/>
        </p:nvSpPr>
        <p:spPr>
          <a:xfrm>
            <a:off x="6677439" y="422574"/>
            <a:ext cx="4555434" cy="1444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85750" algn="l"/>
              </a:tabLst>
            </a:pP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Kasih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karunia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keselamatan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juga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mencakup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iman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4400" dirty="0"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FCE1A-94A1-4ED0-8840-9BFCA5FEF6EF}"/>
              </a:ext>
            </a:extLst>
          </p:cNvPr>
          <p:cNvSpPr txBox="1"/>
          <p:nvPr/>
        </p:nvSpPr>
        <p:spPr>
          <a:xfrm>
            <a:off x="6597042" y="2393115"/>
            <a:ext cx="45554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aik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tawaran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keselamatan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melalui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Kristus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maupun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iman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pemberian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Allah. Kata “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itu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 (</a:t>
            </a:r>
            <a:r>
              <a:rPr lang="en-US" sz="2400" i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touto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) di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ayat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8-9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merujuk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pada “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kasih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karunia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iman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saja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tetapi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seluruh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proses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  </a:t>
            </a:r>
            <a:endParaRPr lang="en-US" sz="2400" dirty="0"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19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692648" y="443398"/>
            <a:ext cx="4856479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KEBUTUHAN MUTLAK TERHADAP KASIH KARUNIA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eselamatan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dimungkinkan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melalui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kasih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karunia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Why do so many incompetent men become leaders? And what can we do about it?  |">
            <a:extLst>
              <a:ext uri="{FF2B5EF4-FFF2-40B4-BE49-F238E27FC236}">
                <a16:creationId xmlns:a16="http://schemas.microsoft.com/office/drawing/2014/main" id="{2A282D24-4E2E-4955-A23B-D33B1E1517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8" r="22754"/>
          <a:stretch/>
        </p:blipFill>
        <p:spPr bwMode="auto">
          <a:xfrm>
            <a:off x="6241774" y="0"/>
            <a:ext cx="595022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22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068956" y="1"/>
            <a:ext cx="7123044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5374640" y="371981"/>
            <a:ext cx="649224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#1</a:t>
            </a:r>
          </a:p>
          <a:p>
            <a:r>
              <a:rPr lang="en-US" sz="4000" dirty="0"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TUNTUTAN KEBAIKAN YANG </a:t>
            </a:r>
            <a:r>
              <a:rPr lang="en-US" sz="40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SEMPURNA</a:t>
            </a:r>
            <a:endParaRPr lang="en-US" sz="1600" dirty="0">
              <a:solidFill>
                <a:srgbClr val="C00000"/>
              </a:solidFill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Dorongan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intrinsik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diri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berbuat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Kej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1:26-27; Rm. 2:12-14)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US" sz="2400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memadai</a:t>
            </a:r>
            <a:r>
              <a:rPr lang="en-US" sz="2400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Tuntutan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Allah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bukan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tetapi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sempurna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Sebagaimana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Bapa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sorga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sempurna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juga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dituntut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sempurna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(Mat. 5:48).</a:t>
            </a:r>
          </a:p>
        </p:txBody>
      </p:sp>
      <p:pic>
        <p:nvPicPr>
          <p:cNvPr id="3076" name="Picture 4" descr="Beautiful Starry Sky Picking Up The Stars Teenage, Star, Night, Good Night  Illustration Image on Pngtree, Free Download on Pngtree | Night  illustration, Star illustration, Image illustration">
            <a:extLst>
              <a:ext uri="{FF2B5EF4-FFF2-40B4-BE49-F238E27FC236}">
                <a16:creationId xmlns:a16="http://schemas.microsoft.com/office/drawing/2014/main" id="{E075AD56-3DD9-4AB4-8B15-469B346ED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93" y="0"/>
            <a:ext cx="4576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57F573-4962-4439-876A-89142F3F2502}"/>
              </a:ext>
            </a:extLst>
          </p:cNvPr>
          <p:cNvSpPr/>
          <p:nvPr/>
        </p:nvSpPr>
        <p:spPr>
          <a:xfrm>
            <a:off x="5561149" y="2478612"/>
            <a:ext cx="1389303" cy="1855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00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085543" y="254196"/>
            <a:ext cx="1017173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i="0" u="none" strike="noStrike" baseline="0" dirty="0">
                <a:latin typeface="Montserrat" panose="00000500000000000000" pitchFamily="50" charset="0"/>
              </a:rPr>
              <a:t>26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Berfirmanlah Allah: ”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Baiklah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Kita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menjadikan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menurut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gambar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rupa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Kita,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supaya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berkuasa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atas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ikan-ikan di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laut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burung-burung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udara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atas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ternak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atas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seluruh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bumi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atas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segala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binatang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melata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merayap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bumi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.” </a:t>
            </a:r>
            <a:r>
              <a:rPr lang="en-US" sz="1100" b="0" i="0" u="none" strike="noStrike" baseline="0" dirty="0">
                <a:latin typeface="Montserrat" panose="00000500000000000000" pitchFamily="50" charset="0"/>
              </a:rPr>
              <a:t>27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Maka Allah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menciptakan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menurut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gambar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-Nya,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menurut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gambar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Allah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diciptakan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dia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;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laki-laki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perempuan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diciptakan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.(Kej 1 :26-27)</a:t>
            </a:r>
          </a:p>
          <a:p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 b="0" i="0" u="none" strike="noStrike" baseline="0" dirty="0">
                <a:latin typeface="Montserrat" panose="00000500000000000000" pitchFamily="50" charset="0"/>
              </a:rPr>
              <a:t>12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Sebab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orang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berdosa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tanpa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akan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binasa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tanpa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; dan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orang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berdosa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bawah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akan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dihakimi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1100" b="0" i="0" u="none" strike="noStrike" baseline="0" dirty="0">
                <a:latin typeface="Montserrat" panose="00000500000000000000" pitchFamily="50" charset="0"/>
              </a:rPr>
              <a:t>13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Karena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bukanlah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orang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mendengar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benar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hadapan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Allah,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tetapi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orang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melakukan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Tauratlah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akan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dibenarkan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1100" b="0" i="0" u="none" strike="noStrike" baseline="0" dirty="0">
                <a:latin typeface="Montserrat" panose="00000500000000000000" pitchFamily="50" charset="0"/>
              </a:rPr>
              <a:t>14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Apabila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bangsa-bangsa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lain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memiliki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dorongan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diri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sendiri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melakukan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apa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dituntut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maka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walaupun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memiliki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menjadi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bagi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diri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b="0" i="0" u="none" strike="noStrike" baseline="0" dirty="0" err="1">
                <a:latin typeface="Montserrat" panose="00000500000000000000" pitchFamily="50" charset="0"/>
              </a:rPr>
              <a:t>sendiri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. (Rm. 2:12-14)</a:t>
            </a:r>
            <a:endParaRPr lang="en-US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v-SE" b="0" i="0" u="none" strike="noStrike" baseline="0" dirty="0">
                <a:latin typeface="Montserrat" panose="00000500000000000000" pitchFamily="50" charset="0"/>
              </a:rPr>
              <a:t>Karena itu haruslah kamu sempurna, sama seperti Bapamu yang di sorga adalah sempurna.”</a:t>
            </a:r>
            <a:r>
              <a:rPr lang="en-US" b="0" i="0" u="none" strike="noStrike" baseline="0" dirty="0">
                <a:latin typeface="Montserrat" panose="00000500000000000000" pitchFamily="50" charset="0"/>
              </a:rPr>
              <a:t> (Mat. 5:48)</a:t>
            </a:r>
            <a:endParaRPr lang="en-US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0A152E-1574-4863-9AC5-4B10714549FA}"/>
              </a:ext>
            </a:extLst>
          </p:cNvPr>
          <p:cNvSpPr/>
          <p:nvPr/>
        </p:nvSpPr>
        <p:spPr>
          <a:xfrm>
            <a:off x="11179754" y="-1"/>
            <a:ext cx="795131" cy="15902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7BDBFA-DF09-433F-8448-FF55464B035F}"/>
              </a:ext>
            </a:extLst>
          </p:cNvPr>
          <p:cNvSpPr/>
          <p:nvPr/>
        </p:nvSpPr>
        <p:spPr>
          <a:xfrm>
            <a:off x="290411" y="5267739"/>
            <a:ext cx="795131" cy="15902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5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AC7AB-319D-72CF-D441-35308B8D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8BD556-3616-6A0E-433C-F01EE592F3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F98ED49E-143D-E3C0-B816-CEF3C6E907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FE0E9-9CAD-6D9F-588A-374F82C52E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2EBE02-132E-EDDB-311F-B19BE96F2C5F}"/>
              </a:ext>
            </a:extLst>
          </p:cNvPr>
          <p:cNvSpPr txBox="1"/>
          <p:nvPr/>
        </p:nvSpPr>
        <p:spPr>
          <a:xfrm>
            <a:off x="1085543" y="254196"/>
            <a:ext cx="101717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latin typeface="Montserrat" panose="00000500000000000000" pitchFamily="50" charset="0"/>
              </a:rPr>
              <a:t>Karena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orang,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hidup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pekerjaan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bawah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kutuk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Sebab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tertulis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Terkutuklah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setia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melakukan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segala</a:t>
            </a:r>
            <a:r>
              <a:rPr lang="en-US" sz="2400" b="1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sesuatu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tertulis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kitab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Taurat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." (Gal. 3:10)</a:t>
            </a:r>
          </a:p>
          <a:p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Sebab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barangsiapa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menuruti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seluruh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hukum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tetapi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mengabaikan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satu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bagian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padanya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bersalah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terhadap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seluruhnya</a:t>
            </a:r>
            <a:r>
              <a:rPr lang="en-US" sz="2400" b="1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.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(Yak. 2:10)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Demikianlah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sekalian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seperti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seorang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najis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segala</a:t>
            </a:r>
            <a:r>
              <a:rPr lang="en-US" sz="2400" b="1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kesalehan</a:t>
            </a:r>
            <a:r>
              <a:rPr lang="en-US" sz="2400" b="1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kami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seperti</a:t>
            </a:r>
            <a:r>
              <a:rPr lang="en-US" sz="2400" b="1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kain</a:t>
            </a:r>
            <a:r>
              <a:rPr lang="en-US" sz="2400" b="1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kotor</a:t>
            </a:r>
            <a:r>
              <a:rPr lang="en-US" sz="2400" b="1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; 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sekalian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menjadi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layu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seperti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lenyap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kejahatan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seperti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dilenyapkan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angin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(Yes. 64:6)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9299DC-6856-6DE5-C4C9-FDAF468C4F3D}"/>
              </a:ext>
            </a:extLst>
          </p:cNvPr>
          <p:cNvSpPr/>
          <p:nvPr/>
        </p:nvSpPr>
        <p:spPr>
          <a:xfrm>
            <a:off x="11179754" y="-1"/>
            <a:ext cx="795131" cy="15902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7B84F3-769F-1BA8-0A88-983B94EAF65E}"/>
              </a:ext>
            </a:extLst>
          </p:cNvPr>
          <p:cNvSpPr/>
          <p:nvPr/>
        </p:nvSpPr>
        <p:spPr>
          <a:xfrm>
            <a:off x="290411" y="5267739"/>
            <a:ext cx="795131" cy="15902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9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345440" y="206047"/>
            <a:ext cx="600456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#2</a:t>
            </a:r>
          </a:p>
          <a:p>
            <a:r>
              <a:rPr lang="en-US" sz="44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Natur</a:t>
            </a:r>
            <a:r>
              <a:rPr lang="en-US" sz="44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US" sz="44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4400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berdosa</a:t>
            </a:r>
            <a:r>
              <a:rPr lang="en-US" sz="44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000" dirty="0"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Ketidakmampuan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memenuhi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tuntutan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Allah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sebenarnya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berkaitan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hakikat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tercemar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oleh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dosa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Kej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6:5;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Mzm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51:7; 58:4)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daripada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sifat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tuntutan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Allah.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Perintah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Allah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sejatinya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tidaklah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sukar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(Ul. 30:11-14).</a:t>
            </a:r>
          </a:p>
        </p:txBody>
      </p:sp>
      <p:pic>
        <p:nvPicPr>
          <p:cNvPr id="4100" name="Picture 4" descr="The Dirt on Dirt: Is Hyper-Hygiene Making Us Too Clean? | Resource |  Baptist Health South Florida">
            <a:extLst>
              <a:ext uri="{FF2B5EF4-FFF2-40B4-BE49-F238E27FC236}">
                <a16:creationId xmlns:a16="http://schemas.microsoft.com/office/drawing/2014/main" id="{21F8B46B-A252-4749-913D-FE85F56A54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44"/>
          <a:stretch/>
        </p:blipFill>
        <p:spPr bwMode="auto">
          <a:xfrm>
            <a:off x="6551198" y="-1"/>
            <a:ext cx="56408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AF2B79-4305-4062-A63A-E26D6DD12C6B}"/>
              </a:ext>
            </a:extLst>
          </p:cNvPr>
          <p:cNvSpPr/>
          <p:nvPr/>
        </p:nvSpPr>
        <p:spPr>
          <a:xfrm>
            <a:off x="907535" y="2495981"/>
            <a:ext cx="1456564" cy="17227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8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159121" y="397401"/>
            <a:ext cx="987022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5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Ketika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dilihat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TUHAN,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kejahatan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besar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bumi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segala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kecenderungan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hatinya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selalu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membuahkan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kejahatan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semata-mata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6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menyesallah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TUHAN,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menjadikan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bumi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memilukan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(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Kej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6:5-6).</a:t>
            </a:r>
          </a:p>
          <a:p>
            <a:pPr algn="l" rtl="0"/>
            <a:endParaRPr lang="en-US" sz="2400" dirty="0">
              <a:latin typeface="Montserrat" panose="00000500000000000000" pitchFamily="50" charset="0"/>
            </a:endParaRPr>
          </a:p>
          <a:p>
            <a:pPr algn="l" rtl="0"/>
            <a:r>
              <a:rPr lang="sv-SE" sz="2400" b="0" i="0" u="none" strike="noStrike" baseline="0" dirty="0">
                <a:latin typeface="Montserrat" panose="00000500000000000000" pitchFamily="50" charset="0"/>
              </a:rPr>
              <a:t>Sesungguhnya, dalam kesalahan aku diperanakkan, dalam dosa aku dikandung ibuku. (Mzm 51:7)</a:t>
            </a:r>
            <a:endParaRPr lang="en-US" sz="2400" b="0" i="0" u="none" strike="noStrike" baseline="0" dirty="0">
              <a:latin typeface="Montserrat" panose="00000500000000000000" pitchFamily="50" charset="0"/>
            </a:endParaRPr>
          </a:p>
          <a:p>
            <a:pPr algn="l" rtl="0"/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 rtl="0"/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Sejak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lahir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orang-orang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fasik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menyimpang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sejak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kandungan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pendusta-pendusta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sesat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(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Mzm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58:4).</a:t>
            </a:r>
          </a:p>
          <a:p>
            <a:pPr algn="l" rtl="0"/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11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"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Sebab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perintah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kusampaikan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pada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tidaklah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terlalu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sukar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bagimu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pula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terlalu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jauh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…</a:t>
            </a:r>
          </a:p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14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Tetapi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firman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sangat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dekat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yakni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mulutmu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hatimu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untuk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dilakukan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(Ul. 30:11-14).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 rtl="0"/>
            <a:endParaRPr lang="en-US" sz="28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FDE269-A7A0-442D-99FD-DE5648A1DD69}"/>
              </a:ext>
            </a:extLst>
          </p:cNvPr>
          <p:cNvSpPr/>
          <p:nvPr/>
        </p:nvSpPr>
        <p:spPr>
          <a:xfrm>
            <a:off x="11213106" y="0"/>
            <a:ext cx="795131" cy="15902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FF682-006B-49A3-9649-20661B646253}"/>
              </a:ext>
            </a:extLst>
          </p:cNvPr>
          <p:cNvSpPr/>
          <p:nvPr/>
        </p:nvSpPr>
        <p:spPr>
          <a:xfrm>
            <a:off x="181995" y="5194207"/>
            <a:ext cx="795131" cy="15902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4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216925" y="488118"/>
            <a:ext cx="975814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EFESUS 2:1-3</a:t>
            </a:r>
            <a:endParaRPr lang="en-US" dirty="0">
              <a:solidFill>
                <a:srgbClr val="C00000"/>
              </a:solidFill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0"/>
            <a:r>
              <a:rPr lang="en-US" sz="2400" baseline="30000" dirty="0">
                <a:latin typeface="Montserrat" panose="00000500000000000000" pitchFamily="50" charset="0"/>
              </a:rPr>
              <a:t>1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dahulu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sudah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karena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pelanggaran-pelanggaran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dosa-dosamu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</a:t>
            </a:r>
          </a:p>
          <a:p>
            <a:pPr algn="ctr" rtl="0"/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2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hidup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karena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mengikuti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jalan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dunia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ini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karena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mentaati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penguasa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kerajaan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angkasa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yaitu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sekarang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sedang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bekerja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antara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orang-orang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durhaka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3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Sebenarnya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dahulu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juga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terhitung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antara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ketika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hidup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nafsu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daging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menuruti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kehendak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daging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pikiran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jahat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Pada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dasarnya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orang-orang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harus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dimurkai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seperti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lain. 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642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4850296" y="0"/>
            <a:ext cx="7235687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A6103-1F19-4837-9691-20577EEBDB44}"/>
              </a:ext>
            </a:extLst>
          </p:cNvPr>
          <p:cNvSpPr txBox="1"/>
          <p:nvPr/>
        </p:nvSpPr>
        <p:spPr>
          <a:xfrm>
            <a:off x="6460227" y="396893"/>
            <a:ext cx="4819650" cy="983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tabLst>
                <a:tab pos="285750" algn="l"/>
              </a:tabLst>
            </a:pP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US" sz="2800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berdaya</a:t>
            </a:r>
            <a:r>
              <a:rPr lang="en-US" sz="2800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hadapan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dosa</a:t>
            </a:r>
            <a:endParaRPr lang="en-US" sz="4400" dirty="0"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FCE1A-94A1-4ED0-8840-9BFCA5FEF6EF}"/>
              </a:ext>
            </a:extLst>
          </p:cNvPr>
          <p:cNvSpPr txBox="1"/>
          <p:nvPr/>
        </p:nvSpPr>
        <p:spPr>
          <a:xfrm>
            <a:off x="6460227" y="1720839"/>
            <a:ext cx="45554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Metafora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mati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menyiratkan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ketidakmampuan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total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menaklukkan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dosa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pelanggaran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Penambahan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aturan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menambah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pelanggaran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bdk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Rm. 5:13, 20).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pic>
        <p:nvPicPr>
          <p:cNvPr id="5122" name="Picture 2" descr="All about the legal rights of the dead">
            <a:extLst>
              <a:ext uri="{FF2B5EF4-FFF2-40B4-BE49-F238E27FC236}">
                <a16:creationId xmlns:a16="http://schemas.microsoft.com/office/drawing/2014/main" id="{67588D1C-1D79-42C8-AC3B-17FCAAE4C4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9" r="8823"/>
          <a:stretch/>
        </p:blipFill>
        <p:spPr bwMode="auto">
          <a:xfrm>
            <a:off x="404191" y="1023496"/>
            <a:ext cx="5420139" cy="481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D3A47E-BBF0-4B65-A3CC-69108AD41329}"/>
              </a:ext>
            </a:extLst>
          </p:cNvPr>
          <p:cNvSpPr txBox="1"/>
          <p:nvPr/>
        </p:nvSpPr>
        <p:spPr>
          <a:xfrm>
            <a:off x="6507230" y="5276372"/>
            <a:ext cx="54201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400" baseline="30000" dirty="0">
                <a:latin typeface="Montserrat" panose="00000500000000000000" pitchFamily="50" charset="0"/>
              </a:rPr>
              <a:t>1</a:t>
            </a:r>
            <a:r>
              <a:rPr lang="en-US" sz="2400" b="0" u="none" strike="noStrike" baseline="3000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dahulu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sudah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mati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karena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pelanggaran-pelanggaran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dosa-dosamu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4325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8B1F-167F-4970-3C54-9F441622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4A38F6-9D54-3BB4-8A7B-D30A8E60B0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A2327B25-BBE6-9B79-BB74-130C346D5B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D6476-4A39-3935-66AE-B0BB14C2C4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4FA58E-04C6-BD7D-85CD-03125775F3C1}"/>
              </a:ext>
            </a:extLst>
          </p:cNvPr>
          <p:cNvSpPr/>
          <p:nvPr/>
        </p:nvSpPr>
        <p:spPr>
          <a:xfrm>
            <a:off x="4850296" y="0"/>
            <a:ext cx="7235687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10DC4-9036-D8CC-EA3E-DDD6F0905FC6}"/>
              </a:ext>
            </a:extLst>
          </p:cNvPr>
          <p:cNvSpPr txBox="1"/>
          <p:nvPr/>
        </p:nvSpPr>
        <p:spPr>
          <a:xfrm>
            <a:off x="6460227" y="806432"/>
            <a:ext cx="455543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Sebab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sebelum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hukum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Taurat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telah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 dosa di dunia. </a:t>
            </a:r>
            <a:r>
              <a:rPr lang="en-US" sz="2400" dirty="0" err="1">
                <a:latin typeface="Montserrat" panose="00000500000000000000" pitchFamily="50" charset="0"/>
              </a:rPr>
              <a:t>Tetapi</a:t>
            </a:r>
            <a:r>
              <a:rPr lang="en-US" sz="2400" dirty="0">
                <a:latin typeface="Montserrat" panose="00000500000000000000" pitchFamily="50" charset="0"/>
              </a:rPr>
              <a:t> dosa </a:t>
            </a:r>
            <a:r>
              <a:rPr lang="en-US" sz="2400" dirty="0" err="1">
                <a:latin typeface="Montserrat" panose="00000500000000000000" pitchFamily="50" charset="0"/>
              </a:rPr>
              <a:t>itu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diperhitungkan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kalau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hukum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Taurat</a:t>
            </a:r>
            <a:r>
              <a:rPr lang="en-US" sz="2400" dirty="0">
                <a:latin typeface="Montserrat" panose="00000500000000000000" pitchFamily="50" charset="0"/>
              </a:rPr>
              <a:t>. (Rm 5:13)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400" dirty="0" err="1">
                <a:latin typeface="Montserrat" panose="00000500000000000000" pitchFamily="50" charset="0"/>
              </a:rPr>
              <a:t>Tetapi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hukum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Taurat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ditambahkan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supaya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pelanggaran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menjadi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semakin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banyak</a:t>
            </a:r>
            <a:r>
              <a:rPr lang="en-US" sz="2400" dirty="0">
                <a:latin typeface="Montserrat" panose="00000500000000000000" pitchFamily="50" charset="0"/>
              </a:rPr>
              <a:t>; dan di mana dosa </a:t>
            </a:r>
            <a:r>
              <a:rPr lang="en-US" sz="2400" dirty="0" err="1">
                <a:latin typeface="Montserrat" panose="00000500000000000000" pitchFamily="50" charset="0"/>
              </a:rPr>
              <a:t>bertambah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banyak</a:t>
            </a:r>
            <a:r>
              <a:rPr lang="en-US" sz="2400" dirty="0">
                <a:latin typeface="Montserrat" panose="00000500000000000000" pitchFamily="50" charset="0"/>
              </a:rPr>
              <a:t>, di sana </a:t>
            </a:r>
            <a:r>
              <a:rPr lang="en-US" sz="2400" dirty="0" err="1">
                <a:latin typeface="Montserrat" panose="00000500000000000000" pitchFamily="50" charset="0"/>
              </a:rPr>
              <a:t>kasih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karunia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menjadi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berlimpah-limpah</a:t>
            </a:r>
            <a:r>
              <a:rPr lang="en-US" sz="2400" dirty="0">
                <a:latin typeface="Montserrat" panose="00000500000000000000" pitchFamily="50" charset="0"/>
              </a:rPr>
              <a:t> (Rm 5:20)</a:t>
            </a:r>
          </a:p>
        </p:txBody>
      </p:sp>
      <p:pic>
        <p:nvPicPr>
          <p:cNvPr id="5122" name="Picture 2" descr="All about the legal rights of the dead">
            <a:extLst>
              <a:ext uri="{FF2B5EF4-FFF2-40B4-BE49-F238E27FC236}">
                <a16:creationId xmlns:a16="http://schemas.microsoft.com/office/drawing/2014/main" id="{C97AF70A-B7E0-D294-A21B-F6DF3A2B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9" r="8823"/>
          <a:stretch/>
        </p:blipFill>
        <p:spPr bwMode="auto">
          <a:xfrm>
            <a:off x="404191" y="1023496"/>
            <a:ext cx="5420139" cy="481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938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4306956" y="0"/>
            <a:ext cx="7779027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A6103-1F19-4837-9691-20577EEBDB44}"/>
              </a:ext>
            </a:extLst>
          </p:cNvPr>
          <p:cNvSpPr txBox="1"/>
          <p:nvPr/>
        </p:nvSpPr>
        <p:spPr>
          <a:xfrm>
            <a:off x="5824330" y="93535"/>
            <a:ext cx="4819650" cy="111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tabLst>
                <a:tab pos="285750" algn="l"/>
              </a:tabLst>
            </a:pP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takluk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kepada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Iblis</a:t>
            </a:r>
            <a:endParaRPr lang="en-US" sz="6600" dirty="0"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FCE1A-94A1-4ED0-8840-9BFCA5FEF6EF}"/>
              </a:ext>
            </a:extLst>
          </p:cNvPr>
          <p:cNvSpPr txBox="1"/>
          <p:nvPr/>
        </p:nvSpPr>
        <p:spPr>
          <a:xfrm>
            <a:off x="5824330" y="1298014"/>
            <a:ext cx="518822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Gaya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hidup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duniawi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ternyata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gejala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saja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Ada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persoalan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fatal,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ketundukan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kepada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penguasa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kerajaan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angkasa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Roh-roh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jahat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sama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sedang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menguasai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orang-orang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durhaka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(“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anak-anak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kedurhakaan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”).</a:t>
            </a:r>
          </a:p>
        </p:txBody>
      </p:sp>
      <p:pic>
        <p:nvPicPr>
          <p:cNvPr id="6146" name="Picture 2" descr="HD devil wallpapers | Peakpx">
            <a:extLst>
              <a:ext uri="{FF2B5EF4-FFF2-40B4-BE49-F238E27FC236}">
                <a16:creationId xmlns:a16="http://schemas.microsoft.com/office/drawing/2014/main" id="{820C97AE-331B-4A95-906F-CF9F9909E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76" y="737077"/>
            <a:ext cx="4301986" cy="538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74BDD1-E5C7-4770-9C3D-A3D971E5F546}"/>
              </a:ext>
            </a:extLst>
          </p:cNvPr>
          <p:cNvSpPr txBox="1"/>
          <p:nvPr/>
        </p:nvSpPr>
        <p:spPr>
          <a:xfrm>
            <a:off x="5313680" y="4438536"/>
            <a:ext cx="67723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u="none" strike="noStrike" baseline="30000" dirty="0">
                <a:latin typeface="Montserrat" panose="00000500000000000000" pitchFamily="50" charset="0"/>
              </a:rPr>
              <a:t>2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hidup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dalamnya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karena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mengikuti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jalan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dunia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ini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karena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mentaati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penguasa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kerajaan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angkasa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yaitu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sekarang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sedang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bekerja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antara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orang-orang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durhaka</a:t>
            </a:r>
            <a:r>
              <a:rPr lang="en-US" sz="1200" b="0" u="none" strike="noStrike" baseline="0" dirty="0">
                <a:latin typeface="Montserrat" panose="00000500000000000000" pitchFamily="50" charset="0"/>
              </a:rPr>
              <a:t>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28451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4545496" y="0"/>
            <a:ext cx="7540487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A6103-1F19-4837-9691-20577EEBDB44}"/>
              </a:ext>
            </a:extLst>
          </p:cNvPr>
          <p:cNvSpPr txBox="1"/>
          <p:nvPr/>
        </p:nvSpPr>
        <p:spPr>
          <a:xfrm>
            <a:off x="5686067" y="223761"/>
            <a:ext cx="4819650" cy="983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tabLst>
                <a:tab pos="285750" algn="l"/>
              </a:tabLst>
            </a:pP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dikuasai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oleh </a:t>
            </a:r>
            <a:r>
              <a:rPr lang="en-US" sz="28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natur</a:t>
            </a:r>
            <a:r>
              <a:rPr lang="en-US" sz="28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8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berdosa</a:t>
            </a:r>
            <a:endParaRPr lang="en-US" sz="8800" dirty="0"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FCE1A-94A1-4ED0-8840-9BFCA5FEF6EF}"/>
              </a:ext>
            </a:extLst>
          </p:cNvPr>
          <p:cNvSpPr txBox="1"/>
          <p:nvPr/>
        </p:nvSpPr>
        <p:spPr>
          <a:xfrm>
            <a:off x="5686067" y="1308914"/>
            <a:ext cx="58695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Kita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dahulu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hidup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hawa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nafsu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daging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mengikuti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keinginannya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karena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“pada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dasarnya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 (lit. “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secara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natur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”)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memang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orang-orang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harus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dimurkai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(lit. “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anak-anak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kemurkaan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”). </a:t>
            </a:r>
          </a:p>
          <a:p>
            <a:endParaRPr lang="en-US" sz="18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DIRTY HEART | Free Dirty Sponge Heart for the Trash Lovers. … | Flickr">
            <a:extLst>
              <a:ext uri="{FF2B5EF4-FFF2-40B4-BE49-F238E27FC236}">
                <a16:creationId xmlns:a16="http://schemas.microsoft.com/office/drawing/2014/main" id="{D6F40B57-C270-4C74-9176-EB8CA2977C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8" r="20724"/>
          <a:stretch/>
        </p:blipFill>
        <p:spPr bwMode="auto">
          <a:xfrm>
            <a:off x="409933" y="384994"/>
            <a:ext cx="4482188" cy="608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FC1605-E11C-422A-9C6C-0F3C4919CDBF}"/>
              </a:ext>
            </a:extLst>
          </p:cNvPr>
          <p:cNvSpPr txBox="1"/>
          <p:nvPr/>
        </p:nvSpPr>
        <p:spPr>
          <a:xfrm>
            <a:off x="5030383" y="3715829"/>
            <a:ext cx="70555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u="none" strike="noStrike" baseline="30000" dirty="0">
                <a:latin typeface="Montserrat" panose="00000500000000000000" pitchFamily="50" charset="0"/>
              </a:rPr>
              <a:t>3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Sebenarnya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dahulu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juga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terhitung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antara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ketika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hidup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hawa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nafsu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daging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menuruti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kehendak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daging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pikiran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kami yang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jahat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. Pada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dasarnya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orang-orang yang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harus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dimurkai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sama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seperti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yang lain.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47307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1165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NATANAEL WIJAYA TIONO</cp:lastModifiedBy>
  <cp:revision>15</cp:revision>
  <dcterms:created xsi:type="dcterms:W3CDTF">2023-02-27T07:16:54Z</dcterms:created>
  <dcterms:modified xsi:type="dcterms:W3CDTF">2026-02-20T03:06:44Z</dcterms:modified>
</cp:coreProperties>
</file>