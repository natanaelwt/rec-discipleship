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58" r:id="rId4"/>
    <p:sldId id="259" r:id="rId5"/>
    <p:sldId id="261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8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2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E083-73F8-4779-B45F-A3FEA6DD6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3B64B-8686-4535-A9F0-7D01BB0EF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066C2-429F-4B7A-B73D-FE916F7E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521F-FB58-40E8-B8EF-ECC8F244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C77D4-4149-4D63-A904-45DBE9BB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29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0310-A70E-4EF1-8669-C7291A98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658CA-AE14-402C-9493-76BFA9319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ABCC4-AAA9-407E-99BB-12480E468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FCB5-E27A-4F6B-AC39-F9D301AA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5B987-25C7-48DB-BBD1-517CDC22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5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8364-AD62-49CC-AE43-434C20F8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96CE6-A417-48A2-B159-A690B752A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934D0-AE42-4849-8AB4-A4077AF7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2D433-5C2E-4AAD-9F2D-D516134F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B3C52-BC32-4DE8-B57A-19E98587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0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6178-501D-461D-B0DC-E9292545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1A50-B168-419A-B3D2-AAB3D89A2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6B54D-037B-4ED9-9C59-5CDD75892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E6EE3-00D5-459E-8B28-9F289443B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B1868-6D19-4EA6-BCC2-CA403077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CF324-BF80-43A8-BC1A-D7A116C1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5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D344-07CB-406A-9DAE-1D31C2B42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04905-7BF7-483F-86DD-304B4E889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7CBF1-42B5-45BE-943E-1EB7109D7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596EBB-68A1-4521-84DC-87B431FA2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6ABDC-8B68-4062-AE3E-0ECF5B1AF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669E8-4717-483F-82FF-A0706115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EF5F77-BF62-4AE2-9C83-850BAAB4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AAFB70-9DF5-4294-BE70-30E8350A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9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800C-A8E5-4109-9B2F-FA2578686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1B5C0-DD4E-4596-8A31-F4E700FD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30EB1-E52C-43FA-8E69-2235DCBB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A7E58-3B3E-4DBF-BE76-3C9ACB8B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24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F33AA-B11B-4C5E-9F3F-C25606B3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2C05E-7EC4-49CD-AA69-64E305D6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4D632-074E-4111-91BA-4718C27A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9A1F-C875-4842-9C6B-9B486DD6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40C2-9303-44B8-8708-A1F5E9AB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2A2DA-D801-416A-A202-18CC7933D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5962-D344-4F40-8525-E5872C79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91AE9-AF35-4805-AAED-428E88E0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E4E01-E520-4EF2-8BF2-94EDFE2F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FFA7-9552-4A4F-AC7D-261B0F7C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0639FA-4BA5-4209-89A9-7FC4A3674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C95A3-0DAA-4B81-8A8F-4C6F19A8B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6B5BC-B7EE-499A-9F31-D9BDC14A2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47C3E-AAE4-4359-85D2-C0A6A92E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96C7E-E63E-4319-9A67-0877C1F3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9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55AE-2198-4D87-8E1B-4DCB7885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7421A-89B5-4CB9-9BDD-3F53935F1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B3E19-6C0A-46E9-ABA1-11CDDDCDD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8B935-3D3D-4790-AE25-73496215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64297-15E0-4193-ABE4-34869407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4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D55C8-7C1C-4E39-B7C5-38E822475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E34D6-77D5-4AF3-882B-99E23DE83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A7E4F-184B-421C-AA2B-969749DF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01DA0-9651-4F46-8669-77FC0698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2A405-75F2-401B-AD4C-1481A2B0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65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11F30-A5C8-42DF-982C-BCB5C9BB0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B906D-2D1B-45F5-827D-6768D5DD9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47AB1-29C3-4B90-AD32-389D5EF10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F0391-1EC4-4E61-9F89-6F796FFEBF3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21ED8-350B-404F-8897-CBE299CD0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A328F-CA3D-4E91-9FC6-01FBFA2B8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01FC-387F-4C94-9343-85E9E611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7142E3-AC67-446F-B4F7-DCC1DACF98D3}"/>
              </a:ext>
            </a:extLst>
          </p:cNvPr>
          <p:cNvSpPr/>
          <p:nvPr/>
        </p:nvSpPr>
        <p:spPr>
          <a:xfrm>
            <a:off x="1113181" y="3631096"/>
            <a:ext cx="4982819" cy="64935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476316" y="3724941"/>
            <a:ext cx="4283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Mengapa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 Saya Kristen #3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4071D-6BEB-4C48-A902-B6627BDE6EE8}"/>
              </a:ext>
            </a:extLst>
          </p:cNvPr>
          <p:cNvSpPr txBox="1"/>
          <p:nvPr/>
        </p:nvSpPr>
        <p:spPr>
          <a:xfrm>
            <a:off x="993913" y="4594784"/>
            <a:ext cx="10204174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dirty="0"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KELAHIRAN KEMBALI OLEH ROH KUDUS</a:t>
            </a:r>
            <a:endParaRPr lang="en-US" sz="36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67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pic>
        <p:nvPicPr>
          <p:cNvPr id="1026" name="Picture 2" descr="What Does the Bible Say about Reincarnation?">
            <a:extLst>
              <a:ext uri="{FF2B5EF4-FFF2-40B4-BE49-F238E27FC236}">
                <a16:creationId xmlns:a16="http://schemas.microsoft.com/office/drawing/2014/main" id="{89C1AFEF-A643-43B6-B43E-552CC26522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9"/>
          <a:stretch/>
        </p:blipFill>
        <p:spPr bwMode="auto">
          <a:xfrm>
            <a:off x="0" y="1020417"/>
            <a:ext cx="9918919" cy="511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8FBE9-7053-4775-931D-41C93E0062EB}"/>
              </a:ext>
            </a:extLst>
          </p:cNvPr>
          <p:cNvSpPr txBox="1"/>
          <p:nvPr/>
        </p:nvSpPr>
        <p:spPr>
          <a:xfrm>
            <a:off x="7023653" y="3326296"/>
            <a:ext cx="4368504" cy="2046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4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</a:rPr>
              <a:t>BUKAN</a:t>
            </a:r>
          </a:p>
          <a:p>
            <a:r>
              <a:rPr lang="en-US" sz="44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REINKARNASI</a:t>
            </a:r>
          </a:p>
        </p:txBody>
      </p:sp>
    </p:spTree>
    <p:extLst>
      <p:ext uri="{BB962C8B-B14F-4D97-AF65-F5344CB8AC3E}">
        <p14:creationId xmlns:p14="http://schemas.microsoft.com/office/powerpoint/2010/main" val="137752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1C878F-1794-4E81-84CC-463680E094B8}"/>
              </a:ext>
            </a:extLst>
          </p:cNvPr>
          <p:cNvSpPr/>
          <p:nvPr/>
        </p:nvSpPr>
        <p:spPr>
          <a:xfrm>
            <a:off x="5824330" y="0"/>
            <a:ext cx="626165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F060F-6646-48DD-82F0-C3F4A842C064}"/>
              </a:ext>
            </a:extLst>
          </p:cNvPr>
          <p:cNvSpPr txBox="1"/>
          <p:nvPr/>
        </p:nvSpPr>
        <p:spPr>
          <a:xfrm>
            <a:off x="6096001" y="3532691"/>
            <a:ext cx="59899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Karya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Roh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Kudus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diri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seseorang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mengalahkan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kecenderungan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naturnya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berdosa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melalui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Injil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dimampukan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menyesali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dosa-dosanya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memercayakan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diri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kepada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Kristus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Juruselamat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Tuhan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secara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pribadi</a:t>
            </a:r>
            <a:r>
              <a:rPr lang="en-US" sz="2400" dirty="0">
                <a:effectLst/>
                <a:latin typeface="Montserrat" panose="000005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.”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pic>
        <p:nvPicPr>
          <p:cNvPr id="1026" name="Picture 2" descr="The Importance of Definitions">
            <a:extLst>
              <a:ext uri="{FF2B5EF4-FFF2-40B4-BE49-F238E27FC236}">
                <a16:creationId xmlns:a16="http://schemas.microsoft.com/office/drawing/2014/main" id="{C826EEB6-D65B-4B90-9830-DF0A4C2E8A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8" r="28792"/>
          <a:stretch/>
        </p:blipFill>
        <p:spPr bwMode="auto">
          <a:xfrm>
            <a:off x="0" y="-2"/>
            <a:ext cx="6042993" cy="686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B4071D-6BEB-4C48-A902-B6627BDE6EE8}"/>
              </a:ext>
            </a:extLst>
          </p:cNvPr>
          <p:cNvSpPr txBox="1"/>
          <p:nvPr/>
        </p:nvSpPr>
        <p:spPr>
          <a:xfrm>
            <a:off x="6713881" y="1493532"/>
            <a:ext cx="4439478" cy="1444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8000" dirty="0" err="1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defi</a:t>
            </a:r>
            <a:r>
              <a:rPr lang="en-US" sz="8800" dirty="0" err="1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nisi</a:t>
            </a:r>
            <a:endParaRPr lang="en-US" sz="88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E697A-681B-47F6-A341-08D317CB0C24}"/>
              </a:ext>
            </a:extLst>
          </p:cNvPr>
          <p:cNvSpPr/>
          <p:nvPr/>
        </p:nvSpPr>
        <p:spPr>
          <a:xfrm>
            <a:off x="6823213" y="2937775"/>
            <a:ext cx="4109830" cy="1234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4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3151743" y="3141846"/>
            <a:ext cx="97581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KARAKTERISTIK</a:t>
            </a:r>
          </a:p>
          <a:p>
            <a:pPr algn="ctr"/>
            <a:r>
              <a:rPr lang="en-US" sz="3600" dirty="0"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KELAHIRAN KEMBALI</a:t>
            </a:r>
            <a:endParaRPr lang="en-US" sz="36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Nine characteristics of great teamwork">
            <a:extLst>
              <a:ext uri="{FF2B5EF4-FFF2-40B4-BE49-F238E27FC236}">
                <a16:creationId xmlns:a16="http://schemas.microsoft.com/office/drawing/2014/main" id="{545CD2CF-C8D5-4BD6-9413-76BEF7F737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5" r="26576"/>
          <a:stretch/>
        </p:blipFill>
        <p:spPr bwMode="auto">
          <a:xfrm>
            <a:off x="225288" y="755372"/>
            <a:ext cx="4608300" cy="554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95C551-4FCD-40BF-9431-41DA3B516497}"/>
              </a:ext>
            </a:extLst>
          </p:cNvPr>
          <p:cNvSpPr/>
          <p:nvPr/>
        </p:nvSpPr>
        <p:spPr>
          <a:xfrm>
            <a:off x="3684104" y="46925"/>
            <a:ext cx="63610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445F78-63E9-4ACA-992B-FD9E5721CE2A}"/>
              </a:ext>
            </a:extLst>
          </p:cNvPr>
          <p:cNvSpPr/>
          <p:nvPr/>
        </p:nvSpPr>
        <p:spPr>
          <a:xfrm>
            <a:off x="602973" y="5784574"/>
            <a:ext cx="63610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05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5994400" y="223251"/>
            <a:ext cx="6014720" cy="632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endParaRPr lang="en-US" sz="2200" b="0" i="0" u="none" strike="noStrike" baseline="30000" dirty="0">
              <a:latin typeface="Montserrat" panose="00000500000000000000" pitchFamily="50" charset="0"/>
            </a:endParaRPr>
          </a:p>
          <a:p>
            <a:pPr algn="l" rtl="0"/>
            <a:endParaRPr lang="en-US" sz="2200" baseline="30000" dirty="0">
              <a:latin typeface="Montserrat" panose="00000500000000000000" pitchFamily="50" charset="0"/>
            </a:endParaRPr>
          </a:p>
          <a:p>
            <a:pPr algn="l" rtl="0"/>
            <a:endParaRPr lang="en-US" sz="2200" b="0" i="0" u="none" strike="noStrike" baseline="30000" dirty="0">
              <a:latin typeface="Montserrat" panose="00000500000000000000" pitchFamily="50" charset="0"/>
            </a:endParaRPr>
          </a:p>
          <a:p>
            <a:pPr algn="l" rtl="0"/>
            <a:endParaRPr lang="en-US" sz="2200" b="0" i="0" u="none" strike="noStrike" baseline="30000" dirty="0">
              <a:latin typeface="Montserrat" panose="00000500000000000000" pitchFamily="50" charset="0"/>
            </a:endParaRPr>
          </a:p>
          <a:p>
            <a:pPr algn="l" rtl="0"/>
            <a:r>
              <a:rPr lang="en-US" sz="2200" b="0" i="0" u="none" strike="noStrike" baseline="30000" dirty="0">
                <a:latin typeface="Montserrat" panose="00000500000000000000" pitchFamily="50" charset="0"/>
              </a:rPr>
              <a:t>3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menjawab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, kata-Nya: "Aku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kepadamu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sesungguhnya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jika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seorang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1" i="0" u="sng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dilahirkan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kembali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dapat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melihat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Kerajaan Allah“…</a:t>
            </a:r>
            <a:r>
              <a:rPr lang="en-US" sz="2200" b="0" i="0" u="none" strike="noStrike" baseline="30000" dirty="0">
                <a:latin typeface="Montserrat" panose="00000500000000000000" pitchFamily="50" charset="0"/>
              </a:rPr>
              <a:t>5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Jawab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: "Aku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kepadamu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sesungguhnya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jika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seorang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1" i="0" u="sng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dilahirkan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air dan Roh,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dapat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masuk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ke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Kerajaan Allah (Yoh. 3:3, 5).</a:t>
            </a:r>
          </a:p>
          <a:p>
            <a:r>
              <a:rPr lang="en-US" sz="2200" b="1" i="0" u="sng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Atas </a:t>
            </a:r>
            <a:r>
              <a:rPr lang="en-US" sz="2200" b="1" i="0" u="sng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kehendak</a:t>
            </a:r>
            <a:r>
              <a:rPr lang="en-US" sz="2200" b="1" i="0" u="sng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-Nya </a:t>
            </a:r>
            <a:r>
              <a:rPr lang="en-US" sz="2200" b="1" i="0" u="sng" strike="noStrike" baseline="0" dirty="0" err="1">
                <a:solidFill>
                  <a:srgbClr val="C00000"/>
                </a:solidFill>
                <a:latin typeface="Montserrat" panose="00000500000000000000" pitchFamily="50" charset="0"/>
              </a:rPr>
              <a:t>sendiri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menjadikan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(</a:t>
            </a:r>
            <a:r>
              <a:rPr lang="en-US" sz="2200" b="0" i="1" u="none" strike="noStrike" baseline="0" dirty="0">
                <a:latin typeface="Montserrat" panose="00000500000000000000" pitchFamily="50" charset="0"/>
              </a:rPr>
              <a:t>lit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. “</a:t>
            </a:r>
            <a:r>
              <a:rPr lang="en-US" sz="2200" dirty="0" err="1">
                <a:latin typeface="Montserrat" panose="00000500000000000000" pitchFamily="50" charset="0"/>
              </a:rPr>
              <a:t>melahirkan</a:t>
            </a:r>
            <a:r>
              <a:rPr lang="en-US" sz="2200" dirty="0">
                <a:latin typeface="Montserrat" panose="00000500000000000000" pitchFamily="50" charset="0"/>
              </a:rPr>
              <a:t>”; KJV/NIV/NLT)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firman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kebenaran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(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baca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: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Injil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),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supaya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pada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tingkat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tertentu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menjadi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anak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sulung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di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antara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semua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200" b="0" i="0" u="none" strike="noStrike" baseline="0" dirty="0" err="1">
                <a:latin typeface="Montserrat" panose="00000500000000000000" pitchFamily="50" charset="0"/>
              </a:rPr>
              <a:t>ciptaan</a:t>
            </a:r>
            <a:r>
              <a:rPr lang="en-US" sz="2200" b="0" i="0" u="none" strike="noStrike" baseline="0" dirty="0">
                <a:latin typeface="Montserrat" panose="00000500000000000000" pitchFamily="50" charset="0"/>
              </a:rPr>
              <a:t>-Nya (Yak. 1:18).</a:t>
            </a:r>
            <a:endParaRPr lang="en-US" sz="2200" dirty="0">
              <a:latin typeface="Montserrat" panose="00000500000000000000" pitchFamily="50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85750" algn="l"/>
              </a:tabLst>
            </a:pPr>
            <a:endParaRPr lang="en-US" sz="16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937A5-E18B-4499-BE66-0525F5693721}"/>
              </a:ext>
            </a:extLst>
          </p:cNvPr>
          <p:cNvSpPr/>
          <p:nvPr/>
        </p:nvSpPr>
        <p:spPr>
          <a:xfrm>
            <a:off x="6450494" y="223250"/>
            <a:ext cx="88789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9977B-4D5B-4841-9C0B-B9CEEE10173A}"/>
              </a:ext>
            </a:extLst>
          </p:cNvPr>
          <p:cNvSpPr txBox="1"/>
          <p:nvPr/>
        </p:nvSpPr>
        <p:spPr>
          <a:xfrm>
            <a:off x="7702823" y="2533"/>
            <a:ext cx="6096000" cy="119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72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PASIF</a:t>
            </a:r>
            <a:endParaRPr lang="en-US" sz="72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Edmund Burke, When Good Men Do Nothing, The Triumph Of Evil">
            <a:extLst>
              <a:ext uri="{FF2B5EF4-FFF2-40B4-BE49-F238E27FC236}">
                <a16:creationId xmlns:a16="http://schemas.microsoft.com/office/drawing/2014/main" id="{BD2F03F2-CA83-4D07-8124-7085B7BDBB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905" b="97143" l="833" r="90000">
                        <a14:foregroundMark x1="8500" y1="5079" x2="4083" y2="34603"/>
                        <a14:foregroundMark x1="4083" y1="34603" x2="4417" y2="43810"/>
                        <a14:foregroundMark x1="4417" y1="43810" x2="3417" y2="49683"/>
                        <a14:foregroundMark x1="5250" y1="12222" x2="3167" y2="25397"/>
                        <a14:foregroundMark x1="6833" y1="1746" x2="5167" y2="9683"/>
                        <a14:foregroundMark x1="7917" y1="1270" x2="28417" y2="3175"/>
                        <a14:foregroundMark x1="28417" y1="3175" x2="41833" y2="1905"/>
                        <a14:foregroundMark x1="41833" y1="1905" x2="42500" y2="1905"/>
                        <a14:foregroundMark x1="4605" y1="13893" x2="5750" y2="17302"/>
                        <a14:foregroundMark x1="4167" y1="97302" x2="8833" y2="97778"/>
                        <a14:foregroundMark x1="8833" y1="97778" x2="29583" y2="94603"/>
                        <a14:foregroundMark x1="29583" y1="94603" x2="49917" y2="97143"/>
                        <a14:foregroundMark x1="37333" y1="82063" x2="34667" y2="88730"/>
                        <a14:foregroundMark x1="34667" y1="88730" x2="34500" y2="90476"/>
                        <a14:foregroundMark x1="17333" y1="83333" x2="20750" y2="88413"/>
                        <a14:foregroundMark x1="20750" y1="88413" x2="20917" y2="88413"/>
                        <a14:foregroundMark x1="4083" y1="17143" x2="5917" y2="15873"/>
                        <a14:foregroundMark x1="4506" y1="14446" x2="4750" y2="16190"/>
                        <a14:foregroundMark x1="4750" y1="13082" x2="4750" y2="15238"/>
                        <a14:foregroundMark x1="36583" y1="18254" x2="36333" y2="24921"/>
                        <a14:foregroundMark x1="1417" y1="66825" x2="2500" y2="66349"/>
                        <a14:foregroundMark x1="1167" y1="56032" x2="833" y2="49206"/>
                        <a14:foregroundMark x1="43750" y1="4762" x2="46333" y2="11905"/>
                        <a14:foregroundMark x1="46333" y1="11905" x2="48083" y2="54921"/>
                        <a14:foregroundMark x1="48083" y1="54921" x2="46417" y2="59524"/>
                        <a14:foregroundMark x1="22167" y1="65079" x2="24500" y2="69524"/>
                        <a14:foregroundMark x1="1167" y1="34127" x2="2083" y2="30635"/>
                        <a14:foregroundMark x1="4750" y1="12698" x2="5000" y2="9048"/>
                        <a14:foregroundMark x1="4167" y1="14444" x2="5750" y2="12698"/>
                        <a14:foregroundMark x1="5833" y1="4286" x2="8167" y2="6508"/>
                        <a14:foregroundMark x1="5583" y1="6032" x2="5167" y2="8730"/>
                        <a14:backgroundMark x1="2000" y1="61270" x2="0" y2="64603"/>
                        <a14:backgroundMark x1="0" y1="57778" x2="2500" y2="60635"/>
                        <a14:backgroundMark x1="583" y1="66349" x2="167" y2="67460"/>
                        <a14:backgroundMark x1="4132" y1="8167" x2="0" y2="31270"/>
                        <a14:backgroundMark x1="5167" y1="2381" x2="4609" y2="5500"/>
                        <a14:backgroundMark x1="250" y1="34444" x2="0" y2="31270"/>
                        <a14:backgroundMark x1="417" y1="90952" x2="417" y2="94921"/>
                        <a14:backgroundMark x1="250" y1="88095" x2="250" y2="92063"/>
                        <a14:backgroundMark x1="250" y1="86032" x2="417" y2="89365"/>
                        <a14:backgroundMark x1="583" y1="96667" x2="417" y2="99365"/>
                        <a14:backgroundMark x1="250" y1="84921" x2="250" y2="849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67" r="46667"/>
          <a:stretch/>
        </p:blipFill>
        <p:spPr bwMode="auto">
          <a:xfrm>
            <a:off x="-9940" y="2"/>
            <a:ext cx="6096000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72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838200" y="3881030"/>
            <a:ext cx="5403574" cy="2835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85750" algn="l"/>
              </a:tabLst>
            </a:pP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6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dilahirkan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daging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daging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dilahirkan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7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Janganlah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heran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karena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Aku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Kamu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harus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dilahirkan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kembali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(Yoh. 3:6-7)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937A5-E18B-4499-BE66-0525F5693721}"/>
              </a:ext>
            </a:extLst>
          </p:cNvPr>
          <p:cNvSpPr/>
          <p:nvPr/>
        </p:nvSpPr>
        <p:spPr>
          <a:xfrm>
            <a:off x="931792" y="2189172"/>
            <a:ext cx="88789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2</a:t>
            </a:r>
          </a:p>
        </p:txBody>
      </p:sp>
      <p:pic>
        <p:nvPicPr>
          <p:cNvPr id="4098" name="Picture 2" descr="Membunyikan &quot;Spiritual Calling&quot; dan Semangat BerAKHLAK Bagi ASN">
            <a:extLst>
              <a:ext uri="{FF2B5EF4-FFF2-40B4-BE49-F238E27FC236}">
                <a16:creationId xmlns:a16="http://schemas.microsoft.com/office/drawing/2014/main" id="{8651ABF2-F1E0-40BF-9676-D9CB9F1819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2" r="18938"/>
          <a:stretch/>
        </p:blipFill>
        <p:spPr bwMode="auto">
          <a:xfrm>
            <a:off x="6967331" y="12426"/>
            <a:ext cx="5234608" cy="6845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F9977B-4D5B-4841-9C0B-B9CEEE10173A}"/>
              </a:ext>
            </a:extLst>
          </p:cNvPr>
          <p:cNvSpPr txBox="1"/>
          <p:nvPr/>
        </p:nvSpPr>
        <p:spPr>
          <a:xfrm>
            <a:off x="2118690" y="2218240"/>
            <a:ext cx="4567032" cy="101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60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SPIRITUAL</a:t>
            </a:r>
            <a:endParaRPr lang="en-US" sz="60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71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5397667" y="2981620"/>
            <a:ext cx="6686586" cy="3231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85750" algn="l"/>
              </a:tabLst>
            </a:pP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8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Angin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bertiup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mana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mendengar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bunyinya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tetapi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tahu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mana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atau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mana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pergi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Demikianlah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halnya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tiap-tiap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lahir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."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9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Nikodemus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menjawab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katanya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Bagaimanakah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mungkin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terjadi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?“ (Yoh. </a:t>
            </a:r>
            <a:r>
              <a:rPr lang="en-US" sz="2400" dirty="0">
                <a:latin typeface="Montserrat" panose="00000500000000000000" pitchFamily="50" charset="0"/>
              </a:rPr>
              <a:t>3:8-9).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937A5-E18B-4499-BE66-0525F5693721}"/>
              </a:ext>
            </a:extLst>
          </p:cNvPr>
          <p:cNvSpPr/>
          <p:nvPr/>
        </p:nvSpPr>
        <p:spPr>
          <a:xfrm>
            <a:off x="5944115" y="683647"/>
            <a:ext cx="88789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9977B-4D5B-4841-9C0B-B9CEEE10173A}"/>
              </a:ext>
            </a:extLst>
          </p:cNvPr>
          <p:cNvSpPr txBox="1"/>
          <p:nvPr/>
        </p:nvSpPr>
        <p:spPr>
          <a:xfrm>
            <a:off x="5692960" y="1770012"/>
            <a:ext cx="6096000" cy="119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72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MISTERIUS</a:t>
            </a:r>
            <a:endParaRPr lang="en-US" sz="72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Global Wind Day 2022 - Iberdrola">
            <a:extLst>
              <a:ext uri="{FF2B5EF4-FFF2-40B4-BE49-F238E27FC236}">
                <a16:creationId xmlns:a16="http://schemas.microsoft.com/office/drawing/2014/main" id="{1DFEF57D-97D9-4480-A93C-4337FA08F2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6" r="12057"/>
          <a:stretch/>
        </p:blipFill>
        <p:spPr bwMode="auto">
          <a:xfrm>
            <a:off x="107747" y="1309493"/>
            <a:ext cx="5289920" cy="450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65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6537434" y="1"/>
            <a:ext cx="5654566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5F5265-5860-4389-BB42-04BBEA43200B}"/>
              </a:ext>
            </a:extLst>
          </p:cNvPr>
          <p:cNvSpPr txBox="1"/>
          <p:nvPr/>
        </p:nvSpPr>
        <p:spPr>
          <a:xfrm>
            <a:off x="5675586" y="934201"/>
            <a:ext cx="6417023" cy="5602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85750" algn="l"/>
              </a:tabLst>
            </a:pP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12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percaya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waktu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Aku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-kata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tentang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hal-hal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duniawi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bagaimana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percaya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kalau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Aku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-kata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tentang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hal-hal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sorgawi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?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13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seorangpun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naik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sorga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selain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pada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turun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sorga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yaitu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Anak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</a:t>
            </a:r>
            <a:r>
              <a:rPr lang="sv-SE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sv-SE" sz="2400" b="0" i="0" u="none" strike="noStrike" baseline="30000" dirty="0">
                <a:latin typeface="Montserrat" panose="00000500000000000000" pitchFamily="50" charset="0"/>
              </a:rPr>
              <a:t>14</a:t>
            </a:r>
            <a:r>
              <a:rPr lang="sv-SE" sz="2400" b="0" i="0" u="none" strike="noStrike" baseline="0" dirty="0">
                <a:latin typeface="Montserrat" panose="00000500000000000000" pitchFamily="50" charset="0"/>
              </a:rPr>
              <a:t> Dan sama seperti Musa meninggikan ular di padang gurun, demikian juga Anak Manusia harus ditinggikan,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15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supaya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setiap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percaya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beroleh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hidup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kekal</a:t>
            </a:r>
            <a:r>
              <a:rPr lang="en-US" sz="2400" dirty="0">
                <a:latin typeface="Montserrat" panose="00000500000000000000" pitchFamily="50" charset="0"/>
              </a:rPr>
              <a:t> (Yoh. 3:12-15).</a:t>
            </a:r>
            <a:endParaRPr lang="en-US" sz="2400" dirty="0">
              <a:effectLst/>
              <a:latin typeface="Montserrat" panose="000005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937A5-E18B-4499-BE66-0525F5693721}"/>
              </a:ext>
            </a:extLst>
          </p:cNvPr>
          <p:cNvSpPr/>
          <p:nvPr/>
        </p:nvSpPr>
        <p:spPr>
          <a:xfrm>
            <a:off x="4583155" y="131856"/>
            <a:ext cx="887895" cy="9806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9977B-4D5B-4841-9C0B-B9CEEE10173A}"/>
              </a:ext>
            </a:extLst>
          </p:cNvPr>
          <p:cNvSpPr txBox="1"/>
          <p:nvPr/>
        </p:nvSpPr>
        <p:spPr>
          <a:xfrm>
            <a:off x="5471050" y="110476"/>
            <a:ext cx="7967198" cy="1023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85750" algn="l"/>
              </a:tabLst>
            </a:pPr>
            <a:r>
              <a:rPr lang="en-US" sz="60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KRISTOSENTRIS</a:t>
            </a:r>
            <a:endParaRPr lang="en-US" sz="60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8" name="Picture 4" descr="Were the Church Fathers More “Christ-centered” Than Us? | by Cody Glen  Barnhart | Between Eden and Glory | Medium">
            <a:extLst>
              <a:ext uri="{FF2B5EF4-FFF2-40B4-BE49-F238E27FC236}">
                <a16:creationId xmlns:a16="http://schemas.microsoft.com/office/drawing/2014/main" id="{2BFCF05C-8E59-461B-80C8-D4AD224358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86" b="97964" l="10000" r="90000">
                        <a14:foregroundMark x1="36000" y1="1393" x2="31214" y2="10504"/>
                        <a14:foregroundMark x1="25786" y1="97535" x2="69643" y2="93355"/>
                        <a14:foregroundMark x1="69643" y1="93355" x2="75786" y2="97964"/>
                        <a14:backgroundMark x1="24714" y1="25295" x2="20071" y2="25295"/>
                        <a14:backgroundMark x1="23643" y1="24116" x2="23500" y2="26045"/>
                        <a14:backgroundMark x1="78286" y1="44159" x2="79071" y2="62915"/>
                        <a14:backgroundMark x1="24571" y1="25509" x2="25429" y2="23687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143" r="21184"/>
          <a:stretch/>
        </p:blipFill>
        <p:spPr bwMode="auto">
          <a:xfrm>
            <a:off x="99390" y="-1"/>
            <a:ext cx="57287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089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4A1D1-B7E4-4D15-A759-91775B3F04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A3D9F9-AEC7-4B8D-AAA6-BBCE7FF2A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571"/>
          <a:stretch/>
        </p:blipFill>
        <p:spPr>
          <a:xfrm>
            <a:off x="0" y="0"/>
            <a:ext cx="5824330" cy="6871251"/>
          </a:xfrm>
          <a:prstGeom prst="rect">
            <a:avLst/>
          </a:prstGeom>
        </p:spPr>
      </p:pic>
      <p:pic>
        <p:nvPicPr>
          <p:cNvPr id="2" name="Picture 4" descr="Premium Vector | Tired business man low battery with charger cable on blue  background">
            <a:extLst>
              <a:ext uri="{FF2B5EF4-FFF2-40B4-BE49-F238E27FC236}">
                <a16:creationId xmlns:a16="http://schemas.microsoft.com/office/drawing/2014/main" id="{0836EFF7-6718-4AD8-86F7-FE352C7BA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2" y="1172862"/>
            <a:ext cx="4688006" cy="468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3BD465-AD14-43E8-9A08-99CB8E026CD2}"/>
              </a:ext>
            </a:extLst>
          </p:cNvPr>
          <p:cNvSpPr txBox="1"/>
          <p:nvPr/>
        </p:nvSpPr>
        <p:spPr>
          <a:xfrm>
            <a:off x="404908" y="3115318"/>
            <a:ext cx="50145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MANUSIA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TIDAK MAMPU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F4F6B-7456-4AB7-8292-5BA23ECA0F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97C598-188E-43BD-B124-84A4322CF861}"/>
              </a:ext>
            </a:extLst>
          </p:cNvPr>
          <p:cNvSpPr txBox="1"/>
          <p:nvPr/>
        </p:nvSpPr>
        <p:spPr>
          <a:xfrm>
            <a:off x="5824330" y="2562758"/>
            <a:ext cx="5479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Walaupun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dengan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u="sng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jabatan</a:t>
            </a:r>
            <a:r>
              <a:rPr lang="en-US" sz="2800" u="sng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u="sng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rohani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tinggi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473B8-9568-4069-B49B-DE91FEE740DB}"/>
              </a:ext>
            </a:extLst>
          </p:cNvPr>
          <p:cNvSpPr txBox="1"/>
          <p:nvPr/>
        </p:nvSpPr>
        <p:spPr>
          <a:xfrm>
            <a:off x="5824330" y="4084814"/>
            <a:ext cx="53074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aseline="30000" dirty="0">
                <a:latin typeface="Montserrat" panose="00000500000000000000" pitchFamily="50" charset="0"/>
              </a:rPr>
              <a:t>1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seorang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Farisi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bernama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Nikodemus,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seorang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pemimpin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agama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Yahudi</a:t>
            </a:r>
            <a:r>
              <a:rPr lang="en-US" sz="2400" dirty="0">
                <a:latin typeface="Montserrat" panose="00000500000000000000" pitchFamily="50" charset="0"/>
              </a:rPr>
              <a:t> (Yoh. 3:1)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65696-FFFB-42D9-A662-1DDE81B4B1FA}"/>
              </a:ext>
            </a:extLst>
          </p:cNvPr>
          <p:cNvSpPr/>
          <p:nvPr/>
        </p:nvSpPr>
        <p:spPr>
          <a:xfrm>
            <a:off x="0" y="755071"/>
            <a:ext cx="1537252" cy="80907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8522BE-8BC4-4582-B292-A6A081E0D984}"/>
              </a:ext>
            </a:extLst>
          </p:cNvPr>
          <p:cNvSpPr/>
          <p:nvPr/>
        </p:nvSpPr>
        <p:spPr>
          <a:xfrm>
            <a:off x="3964286" y="5602496"/>
            <a:ext cx="940904" cy="12555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0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4A1D1-B7E4-4D15-A759-91775B3F04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A3D9F9-AEC7-4B8D-AAA6-BBCE7FF2A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571"/>
          <a:stretch/>
        </p:blipFill>
        <p:spPr>
          <a:xfrm>
            <a:off x="0" y="0"/>
            <a:ext cx="5824330" cy="6871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5F4F6B-7456-4AB7-8292-5BA23ECA0F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97C598-188E-43BD-B124-84A4322CF861}"/>
              </a:ext>
            </a:extLst>
          </p:cNvPr>
          <p:cNvSpPr txBox="1"/>
          <p:nvPr/>
        </p:nvSpPr>
        <p:spPr>
          <a:xfrm>
            <a:off x="5661076" y="755071"/>
            <a:ext cx="54797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Walaupun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dengan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u="sng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pengakuan</a:t>
            </a:r>
            <a:r>
              <a:rPr lang="en-US" sz="2800" u="sng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u="sng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positif</a:t>
            </a:r>
            <a:r>
              <a:rPr lang="en-US" sz="2800" u="sng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terhadap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Yesus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473B8-9568-4069-B49B-DE91FEE740DB}"/>
              </a:ext>
            </a:extLst>
          </p:cNvPr>
          <p:cNvSpPr txBox="1"/>
          <p:nvPr/>
        </p:nvSpPr>
        <p:spPr>
          <a:xfrm>
            <a:off x="5378089" y="2376654"/>
            <a:ext cx="68139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2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pada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waktu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Rabi,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tahu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sebagai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guru 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yang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diutus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Allah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;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sebab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seorangpun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dapat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mengadakan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tanda-tanda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jika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Allah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menyertainya</a:t>
            </a:r>
            <a:r>
              <a:rPr lang="en-US" sz="2400" dirty="0">
                <a:latin typeface="Montserrat" panose="00000500000000000000" pitchFamily="50" charset="0"/>
              </a:rPr>
              <a:t>” (Yoh. 3:2).</a:t>
            </a:r>
            <a:endParaRPr lang="en-US" sz="2400" dirty="0"/>
          </a:p>
        </p:txBody>
      </p:sp>
      <p:pic>
        <p:nvPicPr>
          <p:cNvPr id="10" name="Picture 4" descr="Premium Vector | Tired business man low battery with charger cable on blue  background">
            <a:extLst>
              <a:ext uri="{FF2B5EF4-FFF2-40B4-BE49-F238E27FC236}">
                <a16:creationId xmlns:a16="http://schemas.microsoft.com/office/drawing/2014/main" id="{CCC50853-AD3B-4600-8363-52E511F38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2" y="1172862"/>
            <a:ext cx="4688006" cy="468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2A9E49-CFB6-44FD-B6AF-174C0BB0597C}"/>
              </a:ext>
            </a:extLst>
          </p:cNvPr>
          <p:cNvSpPr txBox="1"/>
          <p:nvPr/>
        </p:nvSpPr>
        <p:spPr>
          <a:xfrm>
            <a:off x="404908" y="3115318"/>
            <a:ext cx="50145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MANUSIA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TIDAK MAMPU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7AA3C3-6530-421F-8A1D-0B00E8C147EF}"/>
              </a:ext>
            </a:extLst>
          </p:cNvPr>
          <p:cNvSpPr/>
          <p:nvPr/>
        </p:nvSpPr>
        <p:spPr>
          <a:xfrm>
            <a:off x="0" y="755071"/>
            <a:ext cx="1537252" cy="80907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4D5786-254C-45C9-9F3B-4D81CAFEC0FC}"/>
              </a:ext>
            </a:extLst>
          </p:cNvPr>
          <p:cNvSpPr/>
          <p:nvPr/>
        </p:nvSpPr>
        <p:spPr>
          <a:xfrm>
            <a:off x="3964286" y="5602496"/>
            <a:ext cx="940904" cy="12555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87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4A1D1-B7E4-4D15-A759-91775B3F04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A3D9F9-AEC7-4B8D-AAA6-BBCE7FF2A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571"/>
          <a:stretch/>
        </p:blipFill>
        <p:spPr>
          <a:xfrm>
            <a:off x="0" y="0"/>
            <a:ext cx="5824330" cy="6871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5F4F6B-7456-4AB7-8292-5BA23ECA0F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97C598-188E-43BD-B124-84A4322CF861}"/>
              </a:ext>
            </a:extLst>
          </p:cNvPr>
          <p:cNvSpPr txBox="1"/>
          <p:nvPr/>
        </p:nvSpPr>
        <p:spPr>
          <a:xfrm>
            <a:off x="5831797" y="1172862"/>
            <a:ext cx="54797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Walaupun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dengan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u="sng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pengalaman</a:t>
            </a:r>
            <a:r>
              <a:rPr lang="en-US" sz="2800" u="sng" dirty="0">
                <a:solidFill>
                  <a:srgbClr val="C00000"/>
                </a:solidFill>
                <a:latin typeface="Montserrat ExtraBold" panose="00000900000000000000" pitchFamily="50" charset="0"/>
              </a:rPr>
              <a:t> spiritual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tertentu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hebat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473B8-9568-4069-B49B-DE91FEE740DB}"/>
              </a:ext>
            </a:extLst>
          </p:cNvPr>
          <p:cNvSpPr txBox="1"/>
          <p:nvPr/>
        </p:nvSpPr>
        <p:spPr>
          <a:xfrm>
            <a:off x="5419422" y="2745986"/>
            <a:ext cx="66583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2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pada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waktu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"Rabi,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tahu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sebagai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guru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diutus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Allah;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sebab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ada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seorangpun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dapat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mengadakan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tanda-tanda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adakan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jika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Allah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menyertainya</a:t>
            </a:r>
            <a:r>
              <a:rPr lang="en-US" sz="2400" dirty="0">
                <a:latin typeface="Montserrat" panose="00000500000000000000" pitchFamily="50" charset="0"/>
              </a:rPr>
              <a:t>” (Yoh. 3:2).</a:t>
            </a:r>
            <a:endParaRPr lang="en-US" sz="2400" dirty="0"/>
          </a:p>
        </p:txBody>
      </p:sp>
      <p:pic>
        <p:nvPicPr>
          <p:cNvPr id="10" name="Picture 4" descr="Premium Vector | Tired business man low battery with charger cable on blue  background">
            <a:extLst>
              <a:ext uri="{FF2B5EF4-FFF2-40B4-BE49-F238E27FC236}">
                <a16:creationId xmlns:a16="http://schemas.microsoft.com/office/drawing/2014/main" id="{B25DA4A1-3617-456D-A9D9-03B3A5817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2" y="1172862"/>
            <a:ext cx="4688006" cy="468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C95F91-0DC6-4D40-855D-DE46A2CFBA96}"/>
              </a:ext>
            </a:extLst>
          </p:cNvPr>
          <p:cNvSpPr txBox="1"/>
          <p:nvPr/>
        </p:nvSpPr>
        <p:spPr>
          <a:xfrm>
            <a:off x="404908" y="3115318"/>
            <a:ext cx="50145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MANUSIA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TIDAK MAMPU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FBB61-8B4D-4185-A5FD-4697B2094FA6}"/>
              </a:ext>
            </a:extLst>
          </p:cNvPr>
          <p:cNvSpPr/>
          <p:nvPr/>
        </p:nvSpPr>
        <p:spPr>
          <a:xfrm>
            <a:off x="0" y="755071"/>
            <a:ext cx="1537252" cy="80907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B01F97-ED86-4EC2-A748-3883B060458F}"/>
              </a:ext>
            </a:extLst>
          </p:cNvPr>
          <p:cNvSpPr/>
          <p:nvPr/>
        </p:nvSpPr>
        <p:spPr>
          <a:xfrm>
            <a:off x="3964286" y="5602496"/>
            <a:ext cx="940904" cy="12555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3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4A1D1-B7E4-4D15-A759-91775B3F04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A3D9F9-AEC7-4B8D-AAA6-BBCE7FF2A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571"/>
          <a:stretch/>
        </p:blipFill>
        <p:spPr>
          <a:xfrm>
            <a:off x="0" y="0"/>
            <a:ext cx="5824330" cy="6871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5F4F6B-7456-4AB7-8292-5BA23ECA0F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97C598-188E-43BD-B124-84A4322CF861}"/>
              </a:ext>
            </a:extLst>
          </p:cNvPr>
          <p:cNvSpPr txBox="1"/>
          <p:nvPr/>
        </p:nvSpPr>
        <p:spPr>
          <a:xfrm>
            <a:off x="5877338" y="1172862"/>
            <a:ext cx="5203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Walaupun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dengan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u="sng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karakter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baik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473B8-9568-4069-B49B-DE91FEE740DB}"/>
              </a:ext>
            </a:extLst>
          </p:cNvPr>
          <p:cNvSpPr txBox="1"/>
          <p:nvPr/>
        </p:nvSpPr>
        <p:spPr>
          <a:xfrm>
            <a:off x="5877338" y="2547369"/>
            <a:ext cx="56918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Kedatangan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Nikodemus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menyiratkan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kerendahhatiannya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lebih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tua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lebih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terpelajar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sangat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berbeda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orang-orang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Farisi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lainnya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endParaRPr lang="en-US" sz="2400" dirty="0"/>
          </a:p>
        </p:txBody>
      </p:sp>
      <p:pic>
        <p:nvPicPr>
          <p:cNvPr id="15" name="Picture 4" descr="Premium Vector | Tired business man low battery with charger cable on blue  background">
            <a:extLst>
              <a:ext uri="{FF2B5EF4-FFF2-40B4-BE49-F238E27FC236}">
                <a16:creationId xmlns:a16="http://schemas.microsoft.com/office/drawing/2014/main" id="{553F6BA5-DD9F-4207-BD24-44C9F1D60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2" y="1172862"/>
            <a:ext cx="4688006" cy="468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72EBC5-4D83-4CFD-AAAD-82F5F58CFFF1}"/>
              </a:ext>
            </a:extLst>
          </p:cNvPr>
          <p:cNvSpPr txBox="1"/>
          <p:nvPr/>
        </p:nvSpPr>
        <p:spPr>
          <a:xfrm>
            <a:off x="404908" y="3115318"/>
            <a:ext cx="50145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MANUSIA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TIDAK MAMPU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416943-8471-48E3-B1FA-5D5E731EC556}"/>
              </a:ext>
            </a:extLst>
          </p:cNvPr>
          <p:cNvSpPr/>
          <p:nvPr/>
        </p:nvSpPr>
        <p:spPr>
          <a:xfrm>
            <a:off x="0" y="755071"/>
            <a:ext cx="1537252" cy="80907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064610-A683-4FD3-95F0-16D6B26F2D32}"/>
              </a:ext>
            </a:extLst>
          </p:cNvPr>
          <p:cNvSpPr/>
          <p:nvPr/>
        </p:nvSpPr>
        <p:spPr>
          <a:xfrm>
            <a:off x="3964286" y="5602496"/>
            <a:ext cx="940904" cy="12555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2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4A1D1-B7E4-4D15-A759-91775B3F04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A3D9F9-AEC7-4B8D-AAA6-BBCE7FF2A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571"/>
          <a:stretch/>
        </p:blipFill>
        <p:spPr>
          <a:xfrm>
            <a:off x="0" y="0"/>
            <a:ext cx="5824330" cy="6871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5F4F6B-7456-4AB7-8292-5BA23ECA0F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97C598-188E-43BD-B124-84A4322CF861}"/>
              </a:ext>
            </a:extLst>
          </p:cNvPr>
          <p:cNvSpPr txBox="1"/>
          <p:nvPr/>
        </p:nvSpPr>
        <p:spPr>
          <a:xfrm>
            <a:off x="5824330" y="1172862"/>
            <a:ext cx="52031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Walaupun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dengan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u="sng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pengetahuan</a:t>
            </a:r>
            <a:r>
              <a:rPr lang="en-US" sz="2800" u="sng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u="sng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teologis</a:t>
            </a:r>
            <a:r>
              <a:rPr lang="en-US" sz="2800" u="sng" dirty="0">
                <a:solidFill>
                  <a:srgbClr val="C00000"/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tinggi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473B8-9568-4069-B49B-DE91FEE740DB}"/>
              </a:ext>
            </a:extLst>
          </p:cNvPr>
          <p:cNvSpPr txBox="1"/>
          <p:nvPr/>
        </p:nvSpPr>
        <p:spPr>
          <a:xfrm>
            <a:off x="5310098" y="2776650"/>
            <a:ext cx="66787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10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Jawab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: "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pengajar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Israel,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engkau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mengerti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hal-hal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?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11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Aku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sesungguhnya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berkata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-kata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tentang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ketahui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bersaksi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tentang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apa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kami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lihat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tetapi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kamu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menerima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kesaksian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kami (Yoh. 3:10-11).</a:t>
            </a:r>
            <a:endParaRPr lang="en-US" sz="2400" dirty="0"/>
          </a:p>
        </p:txBody>
      </p:sp>
      <p:pic>
        <p:nvPicPr>
          <p:cNvPr id="15" name="Picture 4" descr="Premium Vector | Tired business man low battery with charger cable on blue  background">
            <a:extLst>
              <a:ext uri="{FF2B5EF4-FFF2-40B4-BE49-F238E27FC236}">
                <a16:creationId xmlns:a16="http://schemas.microsoft.com/office/drawing/2014/main" id="{6E3CFE20-D517-4B0D-A4E5-57CDB4640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2" y="1172862"/>
            <a:ext cx="4688006" cy="468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6FD942-AAA3-4877-9CA3-3D29B856788E}"/>
              </a:ext>
            </a:extLst>
          </p:cNvPr>
          <p:cNvSpPr txBox="1"/>
          <p:nvPr/>
        </p:nvSpPr>
        <p:spPr>
          <a:xfrm>
            <a:off x="404908" y="3115318"/>
            <a:ext cx="50145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MANUSIA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TIDAK MAMPU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3CBCB1-72E2-4F8D-AD03-DFC3B400EF54}"/>
              </a:ext>
            </a:extLst>
          </p:cNvPr>
          <p:cNvSpPr/>
          <p:nvPr/>
        </p:nvSpPr>
        <p:spPr>
          <a:xfrm>
            <a:off x="0" y="755071"/>
            <a:ext cx="1537252" cy="80907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6AB50-74AD-433C-B626-6246CBCDB3C0}"/>
              </a:ext>
            </a:extLst>
          </p:cNvPr>
          <p:cNvSpPr/>
          <p:nvPr/>
        </p:nvSpPr>
        <p:spPr>
          <a:xfrm>
            <a:off x="3964286" y="5602496"/>
            <a:ext cx="940904" cy="12555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24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leep Studies and How Doctors Diagnose Sleep Apnea | Everyday Health">
            <a:extLst>
              <a:ext uri="{FF2B5EF4-FFF2-40B4-BE49-F238E27FC236}">
                <a16:creationId xmlns:a16="http://schemas.microsoft.com/office/drawing/2014/main" id="{E0FF41BF-9248-422E-8683-839B484AF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338C05-06CC-4A70-A2CC-9E6BFE73524B}"/>
              </a:ext>
            </a:extLst>
          </p:cNvPr>
          <p:cNvSpPr/>
          <p:nvPr/>
        </p:nvSpPr>
        <p:spPr>
          <a:xfrm>
            <a:off x="0" y="2120348"/>
            <a:ext cx="6493565" cy="22926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B2541-FA9B-490E-AE84-75B80C02592E}"/>
              </a:ext>
            </a:extLst>
          </p:cNvPr>
          <p:cNvSpPr txBox="1"/>
          <p:nvPr/>
        </p:nvSpPr>
        <p:spPr>
          <a:xfrm>
            <a:off x="980661" y="2200749"/>
            <a:ext cx="60960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100" dirty="0">
                <a:latin typeface="Montserrat ExtraBold" panose="00000900000000000000" pitchFamily="50" charset="0"/>
              </a:rPr>
              <a:t>AKAR MASALAH TERLETAK PADA </a:t>
            </a:r>
            <a:r>
              <a:rPr lang="en-US" sz="4100" u="sng" dirty="0">
                <a:solidFill>
                  <a:schemeClr val="bg1"/>
                </a:solidFill>
                <a:latin typeface="Montserrat ExtraBold" panose="00000900000000000000" pitchFamily="50" charset="0"/>
              </a:rPr>
              <a:t>HATI</a:t>
            </a:r>
            <a:r>
              <a:rPr lang="en-US" sz="4100" dirty="0">
                <a:solidFill>
                  <a:schemeClr val="bg1"/>
                </a:solidFill>
                <a:latin typeface="Montserrat ExtraBold" panose="00000900000000000000" pitchFamily="50" charset="0"/>
              </a:rPr>
              <a:t> MANUSIA</a:t>
            </a:r>
            <a:endParaRPr lang="en-US" sz="44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E1592-A37C-4C51-9486-DA4749C3CFD9}"/>
              </a:ext>
            </a:extLst>
          </p:cNvPr>
          <p:cNvSpPr txBox="1"/>
          <p:nvPr/>
        </p:nvSpPr>
        <p:spPr>
          <a:xfrm>
            <a:off x="7076661" y="746504"/>
            <a:ext cx="4795519" cy="489364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0" i="0" u="none" strike="noStrike" baseline="30000" dirty="0">
                <a:solidFill>
                  <a:schemeClr val="bg1"/>
                </a:solidFill>
                <a:latin typeface="Montserrat" panose="00000500000000000000" pitchFamily="50" charset="0"/>
              </a:rPr>
              <a:t>19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inilah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hukuman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: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Terang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datang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ke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dunia,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tetapi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manusia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lebih</a:t>
            </a:r>
            <a:r>
              <a:rPr lang="en-US" sz="2400" b="1" i="0" u="sng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menyukai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kegelapan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pada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terang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, </a:t>
            </a:r>
            <a:r>
              <a:rPr lang="en-US" sz="2400" b="1" i="0" u="sng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sebab</a:t>
            </a:r>
            <a:r>
              <a:rPr lang="en-US" sz="2400" b="1" i="0" u="sng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perbuatan-perbuatan</a:t>
            </a:r>
            <a:r>
              <a:rPr lang="en-US" sz="2400" b="1" i="0" u="sng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mereka</a:t>
            </a:r>
            <a:r>
              <a:rPr lang="en-US" sz="2400" b="1" i="0" u="sng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jahat</a:t>
            </a:r>
            <a:r>
              <a:rPr lang="en-US" sz="2400" b="1" i="0" u="sng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.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30000" dirty="0">
                <a:solidFill>
                  <a:schemeClr val="bg1"/>
                </a:solidFill>
                <a:latin typeface="Montserrat" panose="00000500000000000000" pitchFamily="50" charset="0"/>
              </a:rPr>
              <a:t>20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Sebab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barangsiapa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berbuat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jahat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membenci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terang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datang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terang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supaya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perbuatan-perbuatannya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jahat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solidFill>
                  <a:schemeClr val="bg1"/>
                </a:solidFill>
                <a:latin typeface="Montserrat" panose="00000500000000000000" pitchFamily="50" charset="0"/>
              </a:rPr>
              <a:t>nampak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094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529F0A-F4D3-4998-9073-41C136A959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2" name="Picture 2" descr="3+ Free Quotation Marks &amp; Quotation Vectors - Pixabay">
            <a:extLst>
              <a:ext uri="{FF2B5EF4-FFF2-40B4-BE49-F238E27FC236}">
                <a16:creationId xmlns:a16="http://schemas.microsoft.com/office/drawing/2014/main" id="{94F95ED9-4F65-4ACD-AFC1-6CE9DF3F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402" y="1757390"/>
            <a:ext cx="1449042" cy="104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89E6AC-09B7-42B5-8377-8DB30A8A9F03}"/>
              </a:ext>
            </a:extLst>
          </p:cNvPr>
          <p:cNvSpPr/>
          <p:nvPr/>
        </p:nvSpPr>
        <p:spPr>
          <a:xfrm>
            <a:off x="10787269" y="742122"/>
            <a:ext cx="1404731" cy="12337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12A8E-4393-4508-A50F-D20DC8ABC221}"/>
              </a:ext>
            </a:extLst>
          </p:cNvPr>
          <p:cNvSpPr txBox="1"/>
          <p:nvPr/>
        </p:nvSpPr>
        <p:spPr>
          <a:xfrm>
            <a:off x="1053547" y="2932872"/>
            <a:ext cx="97337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 ExtraBold" panose="00000900000000000000" pitchFamily="50" charset="0"/>
              </a:rPr>
              <a:t>Dosa-dosa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aktual</a:t>
            </a:r>
            <a:r>
              <a:rPr lang="en-US" sz="2800" dirty="0">
                <a:latin typeface="Montserrat ExtraBold" panose="00000900000000000000" pitchFamily="50" charset="0"/>
              </a:rPr>
              <a:t> yang </a:t>
            </a:r>
            <a:r>
              <a:rPr lang="en-US" sz="2800" dirty="0" err="1">
                <a:latin typeface="Montserrat ExtraBold" panose="00000900000000000000" pitchFamily="50" charset="0"/>
              </a:rPr>
              <a:t>berulang-ulang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hanyalah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gejala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dari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persoalan</a:t>
            </a:r>
            <a:r>
              <a:rPr lang="en-US" sz="2800" dirty="0">
                <a:latin typeface="Montserrat ExtraBold" panose="00000900000000000000" pitchFamily="50" charset="0"/>
              </a:rPr>
              <a:t> internal yang </a:t>
            </a:r>
            <a:r>
              <a:rPr lang="en-US" sz="2800" dirty="0" err="1">
                <a:latin typeface="Montserrat ExtraBold" panose="00000900000000000000" pitchFamily="50" charset="0"/>
              </a:rPr>
              <a:t>lebih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fundamental.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</a:p>
          <a:p>
            <a:r>
              <a:rPr lang="en-US" sz="2800" dirty="0" err="1">
                <a:latin typeface="Montserrat ExtraBold" panose="00000900000000000000" pitchFamily="50" charset="0"/>
              </a:rPr>
              <a:t>Natur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berdosa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menyebabkan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manusia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berdosa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sekaligus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mencintai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dosa-dosanya</a:t>
            </a:r>
            <a:r>
              <a:rPr lang="en-US" sz="2800" dirty="0">
                <a:latin typeface="Montserrat ExtraBold" panose="00000900000000000000" pitchFamily="50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05087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529F0A-F4D3-4998-9073-41C136A959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2" name="Picture 2" descr="3+ Free Quotation Marks &amp; Quotation Vectors - Pixabay">
            <a:extLst>
              <a:ext uri="{FF2B5EF4-FFF2-40B4-BE49-F238E27FC236}">
                <a16:creationId xmlns:a16="http://schemas.microsoft.com/office/drawing/2014/main" id="{94F95ED9-4F65-4ACD-AFC1-6CE9DF3F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443" y="1989110"/>
            <a:ext cx="1449042" cy="104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7267DF-233B-4C8A-841B-8A5557BF49E4}"/>
              </a:ext>
            </a:extLst>
          </p:cNvPr>
          <p:cNvSpPr/>
          <p:nvPr/>
        </p:nvSpPr>
        <p:spPr>
          <a:xfrm>
            <a:off x="10787269" y="755374"/>
            <a:ext cx="1404731" cy="12337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12A8E-4393-4508-A50F-D20DC8ABC221}"/>
              </a:ext>
            </a:extLst>
          </p:cNvPr>
          <p:cNvSpPr txBox="1"/>
          <p:nvPr/>
        </p:nvSpPr>
        <p:spPr>
          <a:xfrm>
            <a:off x="1051262" y="3206692"/>
            <a:ext cx="102505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 ExtraBold" panose="00000900000000000000" pitchFamily="50" charset="0"/>
              </a:rPr>
              <a:t>Jika </a:t>
            </a:r>
            <a:r>
              <a:rPr lang="en-US" sz="2800" dirty="0" err="1">
                <a:latin typeface="Montserrat ExtraBold" panose="00000900000000000000" pitchFamily="50" charset="0"/>
              </a:rPr>
              <a:t>akar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persoalan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adalah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hati</a:t>
            </a:r>
            <a:r>
              <a:rPr lang="en-US" sz="2800" dirty="0">
                <a:latin typeface="Montserrat ExtraBold" panose="00000900000000000000" pitchFamily="50" charset="0"/>
              </a:rPr>
              <a:t>, </a:t>
            </a:r>
            <a:r>
              <a:rPr lang="en-US" sz="2800" dirty="0" err="1">
                <a:latin typeface="Montserrat ExtraBold" panose="00000900000000000000" pitchFamily="50" charset="0"/>
              </a:rPr>
              <a:t>kelahiran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kembali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adalah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satu-satunya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solusi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.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Roh</a:t>
            </a:r>
            <a:r>
              <a:rPr lang="en-US" sz="2800" dirty="0">
                <a:latin typeface="Montserrat ExtraBold" panose="00000900000000000000" pitchFamily="50" charset="0"/>
              </a:rPr>
              <a:t> Kudus </a:t>
            </a:r>
            <a:r>
              <a:rPr lang="en-US" sz="2800" dirty="0" err="1">
                <a:latin typeface="Montserrat ExtraBold" panose="00000900000000000000" pitchFamily="50" charset="0"/>
              </a:rPr>
              <a:t>mengubah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objek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kasih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kita</a:t>
            </a:r>
            <a:r>
              <a:rPr lang="en-US" sz="2800" dirty="0">
                <a:latin typeface="Montserrat ExtraBold" panose="00000900000000000000" pitchFamily="50" charset="0"/>
              </a:rPr>
              <a:t>: </a:t>
            </a:r>
            <a:r>
              <a:rPr lang="en-US" sz="2800" dirty="0" err="1">
                <a:latin typeface="Montserrat ExtraBold" panose="00000900000000000000" pitchFamily="50" charset="0"/>
              </a:rPr>
              <a:t>dari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dosa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kepada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Kristus</a:t>
            </a:r>
            <a:r>
              <a:rPr lang="en-US" sz="2800" dirty="0">
                <a:latin typeface="Montserrat ExtraBold" panose="00000900000000000000" pitchFamily="50" charset="0"/>
              </a:rPr>
              <a:t> yang </a:t>
            </a:r>
            <a:r>
              <a:rPr lang="en-US" sz="2800" dirty="0" err="1">
                <a:latin typeface="Montserrat ExtraBold" panose="00000900000000000000" pitchFamily="50" charset="0"/>
              </a:rPr>
              <a:t>tersalib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karena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dosa-dosa</a:t>
            </a:r>
            <a:r>
              <a:rPr lang="en-US" sz="2800" dirty="0"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latin typeface="Montserrat ExtraBold" panose="00000900000000000000" pitchFamily="50" charset="0"/>
              </a:rPr>
              <a:t>kita</a:t>
            </a:r>
            <a:r>
              <a:rPr lang="en-US" sz="2800" dirty="0">
                <a:latin typeface="Montserrat ExtraBold" panose="000009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9027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676</Words>
  <Application>Microsoft Office PowerPoint</Application>
  <PresentationFormat>Widescreen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NATANAEL WIJAYA TIONO</cp:lastModifiedBy>
  <cp:revision>18</cp:revision>
  <dcterms:created xsi:type="dcterms:W3CDTF">2023-02-27T07:30:44Z</dcterms:created>
  <dcterms:modified xsi:type="dcterms:W3CDTF">2026-02-24T05:21:26Z</dcterms:modified>
</cp:coreProperties>
</file>